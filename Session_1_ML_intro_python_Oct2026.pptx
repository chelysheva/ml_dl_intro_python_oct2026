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6858000" type="screen4x3"/>
  <p:notesSz cx="6858000" cy="9144000"/>
  <p:defaultTextStyle>
    <a:defPPr>
      <a:buNone/>
    </a:defPPr>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8"/>
  </p:normalViewPr>
  <p:slideViewPr>
    <p:cSldViewPr snapToGrid="0" snapToObjects="1">
      <p:cViewPr varScale="1">
        <p:scale>
          <a:sx n="114" d="100"/>
          <a:sy n="114" d="100"/>
        </p:scale>
        <p:origin x="17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ML-only Day 1. Day 2 deep learning is taught separately.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https://archive.ics.uci.edu/dataset/15/breast+cancer+wisconsin+original . CC BY 4.0, William Wolberg. Local CSV preserves the previous script’s mirror and its 0/1 class encoding. Original UCI encoding is 2/4. This is the Original dataset, not the 30-feature Diagnostic dataset.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synthetic observations and polynomial fits, generated for this course. The test set remains untouched during model choice.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classification, use StratifiedGroupKFold because sample IDs repeat. In regression, use shuffled KFold. The same folds are reused across candidate models. Five-fold CV balances training time and useful validation in a short course. Source: https://scikit-learn.org/stable/modules/cross_validation.html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Pipeline([("imputer", SimpleImputer()), ("scaler", StandardScaler()), ("selection", SelectKBest()), ("model", estimator)]). The outer train/test split comes first. Save the complete pipeline so new data receive the same transformations. Source: https://scikit-learn.org/stable/common_pitfalls.html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Binary logistic regression. The relationship is linear in the log odds, not necessarily in the raw probability. Default prediction threshold is 0.5 for the binary case. Source: https://scikit-learn.org/stable/modules/linear_model.html#logistic-regression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illustration retained from original deck: https://medium.com/swlh/k-nearest-neighbor-ca2593d7a3c4 . Method: https://scikit-learn.org/stable/modules/neighbors.html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scikit-learn decision trees require categorical predictors to be encoded numerically. Source: https://scikit-learn.org/stable/modules/tree.html . Original illustration: https://doi.org/10.1016/j.wnsx.2019.100012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illustration shows a linear SVM with support vectors circled. The practical uses RBF SVC with scaled features. gamma is not a probability-estimation parameter. Source: https://scikit-learn.org/stable/modules/svm.html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Illustration retained from original course deck. scikit-learn RandomForestClassifier averages tree class probabilities, rather than taking a hard majority vote. Source: https://scikit-learn.org/stable/modules/ensemble.html#forest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Positive class is malignant (1). Sensitivity=TP/(TP+FN), specificity=TN/(TN+FP). Balanced accuracy is their mean for this binary task. Accuracy and sensitivity depend on the prediction threshold; ROC AUC evaluates ranking over thresholds. Source: https://scikit-learn.org/stable/modules/model_evaluation.html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approximately 55–60 minutes. Optional feature-selection exercise can be done at home.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Illustration retained from original deck. Predictive coefficients do not establish causality. Source: https://scikit-learn.org/stable/modules/linear_model.html#ordinary-least-squares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Dataset documentation: https://scikit-learn.org/stable/datasets/toy_dataset.html#diabetes-dataset and https://scikit-learn.org/stable/modules/generated/sklearn.datasets.load_diabetes.html . Source: https://www4.stat.ncsu.edu/~boos/var.select/diabetes.html . Efron et al. (2004), Least Angle Regression. Historical benchmark for teaching, not clinical deployment.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https://scikit-learn.org/stable/modules/generated/sklearn.datasets.load_diabetes.html . The documentation cautions that feature meanings, especially s5 (ltg), are not fully explicit in the original source. s5 is often described as log serum triglycerides. sex retains numeric source codes without inferring coding semantics. scaled=False returns source-scale predictors.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RMSE=sqrt(mean((y-yhat)^2)). MAE=mean(abs(y-yhat)). R²=1-SSE/SST; zero corresponds to the constant mean of the evaluated targets. A deployable dummy model predicts the training mean, which may differ from the test mean, so its test R² need not equal zero. Source: https://scikit-learn.org/stable/modules/model_evaluation.html#regression-metrics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approximately 40–45 minutes. Optional exercises: vary alpha or select five predictors using training CV.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Final discussion: how would the validation design change for repeated samples, multiple hospitals or future time points? Repeated tuning after viewing the test results makes those results exploratory.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Optional reference only. Retained illustration from original deck: https://machinelearningmastery.com . Do not attempt to teach every algorithm here.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Updated for 20 October 2026. Reference: https://scikit-learn.org/stable/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59B67-BBA2-4129-822D-C91278AD3D34}"/>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E1E0C01D-3636-4008-B462-CE8DE2BA52B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F2271557-D60E-491B-8B24-06B20DC092DB}"/>
              </a:ext>
            </a:extLst>
          </p:cNvPr>
          <p:cNvSpPr>
            <a:spLocks noGrp="1"/>
          </p:cNvSpPr>
          <p:nvPr>
            <p:ph type="dt" idx="10"/>
          </p:nvPr>
        </p:nvSpPr>
        <p:spPr/>
        <p:txBody>
          <a:bodyPr/>
          <a:lstStyle/>
          <a:p>
            <a:r>
              <a:t>28/07/20</a:t>
            </a:r>
          </a:p>
        </p:txBody>
      </p:sp>
      <p:sp>
        <p:nvSpPr>
          <p:cNvPr id="5" name="Footer Placeholder 4">
            <a:extLst>
              <a:ext uri="{FF2B5EF4-FFF2-40B4-BE49-F238E27FC236}">
                <a16:creationId xmlns:a16="http://schemas.microsoft.com/office/drawing/2014/main" id="{D33CAEC1-994C-4722-BC1B-A4A0F4795FBE}"/>
              </a:ext>
            </a:extLst>
          </p:cNvPr>
          <p:cNvSpPr>
            <a:spLocks noGrp="1"/>
          </p:cNvSpPr>
          <p:nvPr>
            <p:ph type="ftr" idx="11"/>
          </p:nvPr>
        </p:nvSpPr>
        <p:spPr/>
        <p:txBody>
          <a:bodyPr/>
          <a:lstStyle/>
          <a:p>
            <a:r>
              <a:t>Irina Chelysheva</a:t>
            </a:r>
          </a:p>
        </p:txBody>
      </p:sp>
      <p:sp>
        <p:nvSpPr>
          <p:cNvPr id="6" name="Slide Number Placeholder 5">
            <a:extLst>
              <a:ext uri="{FF2B5EF4-FFF2-40B4-BE49-F238E27FC236}">
                <a16:creationId xmlns:a16="http://schemas.microsoft.com/office/drawing/2014/main" id="{6EA51589-7840-4005-98DD-F587E1718891}"/>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A87CC8-36A3-426C-B255-5950196C6613}"/>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5969712-99DC-47F8-9FA1-05D18B9165F8}"/>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8D7A18C8-4109-4997-82FB-5E023CE28A6F}"/>
              </a:ext>
            </a:extLst>
          </p:cNvPr>
          <p:cNvSpPr>
            <a:spLocks noGrp="1"/>
          </p:cNvSpPr>
          <p:nvPr>
            <p:ph type="dt" idx="10"/>
          </p:nvPr>
        </p:nvSpPr>
        <p:spPr/>
        <p:txBody>
          <a:bodyPr/>
          <a:lstStyle/>
          <a:p>
            <a:r>
              <a:t>28/07/20</a:t>
            </a:r>
          </a:p>
        </p:txBody>
      </p:sp>
      <p:sp>
        <p:nvSpPr>
          <p:cNvPr id="5" name="Footer Placeholder 4">
            <a:extLst>
              <a:ext uri="{FF2B5EF4-FFF2-40B4-BE49-F238E27FC236}">
                <a16:creationId xmlns:a16="http://schemas.microsoft.com/office/drawing/2014/main" id="{74E09BAC-D88C-4AFD-91AF-3C747C6AE454}"/>
              </a:ext>
            </a:extLst>
          </p:cNvPr>
          <p:cNvSpPr>
            <a:spLocks noGrp="1"/>
          </p:cNvSpPr>
          <p:nvPr>
            <p:ph type="ftr" idx="11"/>
          </p:nvPr>
        </p:nvSpPr>
        <p:spPr/>
        <p:txBody>
          <a:bodyPr/>
          <a:lstStyle/>
          <a:p>
            <a:r>
              <a:t>Irina Chelysheva</a:t>
            </a:r>
          </a:p>
        </p:txBody>
      </p:sp>
      <p:sp>
        <p:nvSpPr>
          <p:cNvPr id="6" name="Slide Number Placeholder 5">
            <a:extLst>
              <a:ext uri="{FF2B5EF4-FFF2-40B4-BE49-F238E27FC236}">
                <a16:creationId xmlns:a16="http://schemas.microsoft.com/office/drawing/2014/main" id="{F803FD89-C88C-4369-81B1-6A6523ABDF7C}"/>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48E5A-7EFD-4EAF-9FE1-28BA4FDED23D}"/>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E4CE2F06-84E3-4D2C-928E-EFFCCC151047}"/>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409D58EF-6352-442F-BC2A-0A58BD4248AF}"/>
              </a:ext>
            </a:extLst>
          </p:cNvPr>
          <p:cNvSpPr>
            <a:spLocks noGrp="1"/>
          </p:cNvSpPr>
          <p:nvPr>
            <p:ph type="dt" idx="10"/>
          </p:nvPr>
        </p:nvSpPr>
        <p:spPr/>
        <p:txBody>
          <a:bodyPr/>
          <a:lstStyle/>
          <a:p>
            <a:r>
              <a:t>28/07/20</a:t>
            </a:r>
          </a:p>
        </p:txBody>
      </p:sp>
      <p:sp>
        <p:nvSpPr>
          <p:cNvPr id="5" name="Footer Placeholder 4">
            <a:extLst>
              <a:ext uri="{FF2B5EF4-FFF2-40B4-BE49-F238E27FC236}">
                <a16:creationId xmlns:a16="http://schemas.microsoft.com/office/drawing/2014/main" id="{26B2A6F6-E286-490B-9349-AABFC3501783}"/>
              </a:ext>
            </a:extLst>
          </p:cNvPr>
          <p:cNvSpPr>
            <a:spLocks noGrp="1"/>
          </p:cNvSpPr>
          <p:nvPr>
            <p:ph type="ftr" idx="11"/>
          </p:nvPr>
        </p:nvSpPr>
        <p:spPr/>
        <p:txBody>
          <a:bodyPr/>
          <a:lstStyle/>
          <a:p>
            <a:r>
              <a:t>Irina Chelysheva</a:t>
            </a:r>
          </a:p>
        </p:txBody>
      </p:sp>
      <p:sp>
        <p:nvSpPr>
          <p:cNvPr id="6" name="Slide Number Placeholder 5">
            <a:extLst>
              <a:ext uri="{FF2B5EF4-FFF2-40B4-BE49-F238E27FC236}">
                <a16:creationId xmlns:a16="http://schemas.microsoft.com/office/drawing/2014/main" id="{7F3D5C6F-0944-4A12-B662-5E2F563479D6}"/>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D979D-078E-45D9-8A29-B92897D3E30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CDD53FFD-D7C9-4A91-BD2E-C2AF512CCE89}"/>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4602C91C-6039-495B-BCB4-70500DFB1B3F}"/>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2BDD852-504F-4D4E-A4FA-0651F5FFC493}"/>
              </a:ext>
            </a:extLst>
          </p:cNvPr>
          <p:cNvSpPr>
            <a:spLocks noGrp="1"/>
          </p:cNvSpPr>
          <p:nvPr>
            <p:ph type="dt" idx="10"/>
          </p:nvPr>
        </p:nvSpPr>
        <p:spPr/>
        <p:txBody>
          <a:bodyPr/>
          <a:lstStyle/>
          <a:p>
            <a:r>
              <a:t>28/07/20</a:t>
            </a:r>
          </a:p>
        </p:txBody>
      </p:sp>
      <p:sp>
        <p:nvSpPr>
          <p:cNvPr id="6" name="Footer Placeholder 5">
            <a:extLst>
              <a:ext uri="{FF2B5EF4-FFF2-40B4-BE49-F238E27FC236}">
                <a16:creationId xmlns:a16="http://schemas.microsoft.com/office/drawing/2014/main" id="{47890D3A-6A1E-41C9-B164-F5ED3830E213}"/>
              </a:ext>
            </a:extLst>
          </p:cNvPr>
          <p:cNvSpPr>
            <a:spLocks noGrp="1"/>
          </p:cNvSpPr>
          <p:nvPr>
            <p:ph type="ftr" idx="11"/>
          </p:nvPr>
        </p:nvSpPr>
        <p:spPr/>
        <p:txBody>
          <a:bodyPr/>
          <a:lstStyle/>
          <a:p>
            <a:r>
              <a:t>Irina Chelysheva</a:t>
            </a:r>
          </a:p>
        </p:txBody>
      </p:sp>
      <p:sp>
        <p:nvSpPr>
          <p:cNvPr id="7" name="Slide Number Placeholder 6">
            <a:extLst>
              <a:ext uri="{FF2B5EF4-FFF2-40B4-BE49-F238E27FC236}">
                <a16:creationId xmlns:a16="http://schemas.microsoft.com/office/drawing/2014/main" id="{BF61F451-821C-4826-8C94-276EC457B663}"/>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08473-DBA2-4088-B1F9-E1400B772C03}"/>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D284ED36-9C14-4211-9B9F-444F4E550BF6}"/>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05424B69-DE34-4DAA-B5AF-9DBA23E6FE00}"/>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D0754A2C-01A9-41F2-BE9F-3E9519B2EB18}"/>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258761FA-AB1E-4DE5-8C33-8E5C3F05A44D}"/>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5841F137-F21E-4E2D-A407-B51401EF1F49}"/>
              </a:ext>
            </a:extLst>
          </p:cNvPr>
          <p:cNvSpPr>
            <a:spLocks noGrp="1"/>
          </p:cNvSpPr>
          <p:nvPr>
            <p:ph type="dt" idx="10"/>
          </p:nvPr>
        </p:nvSpPr>
        <p:spPr/>
        <p:txBody>
          <a:bodyPr/>
          <a:lstStyle/>
          <a:p>
            <a:r>
              <a:t>28/07/20</a:t>
            </a:r>
          </a:p>
        </p:txBody>
      </p:sp>
      <p:sp>
        <p:nvSpPr>
          <p:cNvPr id="8" name="Footer Placeholder 7">
            <a:extLst>
              <a:ext uri="{FF2B5EF4-FFF2-40B4-BE49-F238E27FC236}">
                <a16:creationId xmlns:a16="http://schemas.microsoft.com/office/drawing/2014/main" id="{82FD6D10-807E-45DE-B229-156341E64511}"/>
              </a:ext>
            </a:extLst>
          </p:cNvPr>
          <p:cNvSpPr>
            <a:spLocks noGrp="1"/>
          </p:cNvSpPr>
          <p:nvPr>
            <p:ph type="ftr" idx="11"/>
          </p:nvPr>
        </p:nvSpPr>
        <p:spPr/>
        <p:txBody>
          <a:bodyPr/>
          <a:lstStyle/>
          <a:p>
            <a:r>
              <a:t>Irina Chelysheva</a:t>
            </a:r>
          </a:p>
        </p:txBody>
      </p:sp>
      <p:sp>
        <p:nvSpPr>
          <p:cNvPr id="9" name="Slide Number Placeholder 8">
            <a:extLst>
              <a:ext uri="{FF2B5EF4-FFF2-40B4-BE49-F238E27FC236}">
                <a16:creationId xmlns:a16="http://schemas.microsoft.com/office/drawing/2014/main" id="{C4CE4B8F-4AD7-4AB2-BD07-77C3CCB946B2}"/>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F2415-6815-484B-A45D-8F82A2349A10}"/>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57DEC5FD-9D12-4C6C-8250-DC7E9802EF31}"/>
              </a:ext>
            </a:extLst>
          </p:cNvPr>
          <p:cNvSpPr>
            <a:spLocks noGrp="1"/>
          </p:cNvSpPr>
          <p:nvPr>
            <p:ph type="dt" idx="10"/>
          </p:nvPr>
        </p:nvSpPr>
        <p:spPr/>
        <p:txBody>
          <a:bodyPr/>
          <a:lstStyle/>
          <a:p>
            <a:r>
              <a:t>28/07/20</a:t>
            </a:r>
          </a:p>
        </p:txBody>
      </p:sp>
      <p:sp>
        <p:nvSpPr>
          <p:cNvPr id="4" name="Footer Placeholder 3">
            <a:extLst>
              <a:ext uri="{FF2B5EF4-FFF2-40B4-BE49-F238E27FC236}">
                <a16:creationId xmlns:a16="http://schemas.microsoft.com/office/drawing/2014/main" id="{472A9BF7-8F89-4A68-8AD8-36DE7D451858}"/>
              </a:ext>
            </a:extLst>
          </p:cNvPr>
          <p:cNvSpPr>
            <a:spLocks noGrp="1"/>
          </p:cNvSpPr>
          <p:nvPr>
            <p:ph type="ftr" idx="11"/>
          </p:nvPr>
        </p:nvSpPr>
        <p:spPr/>
        <p:txBody>
          <a:bodyPr/>
          <a:lstStyle/>
          <a:p>
            <a:r>
              <a:t>Irina Chelysheva</a:t>
            </a:r>
          </a:p>
        </p:txBody>
      </p:sp>
      <p:sp>
        <p:nvSpPr>
          <p:cNvPr id="5" name="Slide Number Placeholder 4">
            <a:extLst>
              <a:ext uri="{FF2B5EF4-FFF2-40B4-BE49-F238E27FC236}">
                <a16:creationId xmlns:a16="http://schemas.microsoft.com/office/drawing/2014/main" id="{C16CF27B-E376-4E18-88C7-00BAEA025450}"/>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B457B6-E654-4303-BBE5-174C22BE5BA4}"/>
              </a:ext>
            </a:extLst>
          </p:cNvPr>
          <p:cNvSpPr>
            <a:spLocks noGrp="1"/>
          </p:cNvSpPr>
          <p:nvPr>
            <p:ph type="dt" idx="10"/>
          </p:nvPr>
        </p:nvSpPr>
        <p:spPr/>
        <p:txBody>
          <a:bodyPr/>
          <a:lstStyle/>
          <a:p>
            <a:r>
              <a:t>28/07/20</a:t>
            </a:r>
          </a:p>
        </p:txBody>
      </p:sp>
      <p:sp>
        <p:nvSpPr>
          <p:cNvPr id="3" name="Footer Placeholder 2">
            <a:extLst>
              <a:ext uri="{FF2B5EF4-FFF2-40B4-BE49-F238E27FC236}">
                <a16:creationId xmlns:a16="http://schemas.microsoft.com/office/drawing/2014/main" id="{EA2C5AA0-B0F4-476A-AEBA-4C49DB86A97F}"/>
              </a:ext>
            </a:extLst>
          </p:cNvPr>
          <p:cNvSpPr>
            <a:spLocks noGrp="1"/>
          </p:cNvSpPr>
          <p:nvPr>
            <p:ph type="ftr" idx="11"/>
          </p:nvPr>
        </p:nvSpPr>
        <p:spPr/>
        <p:txBody>
          <a:bodyPr/>
          <a:lstStyle/>
          <a:p>
            <a:r>
              <a:t>Irina Chelysheva</a:t>
            </a:r>
          </a:p>
        </p:txBody>
      </p:sp>
      <p:sp>
        <p:nvSpPr>
          <p:cNvPr id="4" name="Slide Number Placeholder 3">
            <a:extLst>
              <a:ext uri="{FF2B5EF4-FFF2-40B4-BE49-F238E27FC236}">
                <a16:creationId xmlns:a16="http://schemas.microsoft.com/office/drawing/2014/main" id="{1F232228-B22A-46E2-B82A-482A8E121C11}"/>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FBF1-8EC0-4702-9474-4E5C0A1B1381}"/>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5BC015EF-01EE-48E1-B326-D12DBF388F43}"/>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08F0D50F-7526-44DD-9166-130E680854B0}"/>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3A1DC571-1284-49FC-B0D9-2850BD7C6655}"/>
              </a:ext>
            </a:extLst>
          </p:cNvPr>
          <p:cNvSpPr>
            <a:spLocks noGrp="1"/>
          </p:cNvSpPr>
          <p:nvPr>
            <p:ph type="dt" idx="10"/>
          </p:nvPr>
        </p:nvSpPr>
        <p:spPr/>
        <p:txBody>
          <a:bodyPr/>
          <a:lstStyle/>
          <a:p>
            <a:r>
              <a:t>28/07/20</a:t>
            </a:r>
          </a:p>
        </p:txBody>
      </p:sp>
      <p:sp>
        <p:nvSpPr>
          <p:cNvPr id="6" name="Footer Placeholder 5">
            <a:extLst>
              <a:ext uri="{FF2B5EF4-FFF2-40B4-BE49-F238E27FC236}">
                <a16:creationId xmlns:a16="http://schemas.microsoft.com/office/drawing/2014/main" id="{93BFB608-7FD3-4E57-9F27-B2CBE0A1A010}"/>
              </a:ext>
            </a:extLst>
          </p:cNvPr>
          <p:cNvSpPr>
            <a:spLocks noGrp="1"/>
          </p:cNvSpPr>
          <p:nvPr>
            <p:ph type="ftr" idx="11"/>
          </p:nvPr>
        </p:nvSpPr>
        <p:spPr/>
        <p:txBody>
          <a:bodyPr/>
          <a:lstStyle/>
          <a:p>
            <a:r>
              <a:t>Irina Chelysheva</a:t>
            </a:r>
          </a:p>
        </p:txBody>
      </p:sp>
      <p:sp>
        <p:nvSpPr>
          <p:cNvPr id="7" name="Slide Number Placeholder 6">
            <a:extLst>
              <a:ext uri="{FF2B5EF4-FFF2-40B4-BE49-F238E27FC236}">
                <a16:creationId xmlns:a16="http://schemas.microsoft.com/office/drawing/2014/main" id="{FD9E1490-0A9E-4DC9-9F10-876A62CCFA24}"/>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EB0EC-3095-48B2-BACD-87A96D572217}"/>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30F90748-E0DF-4980-9069-B760AF35E8B4}"/>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12C946D3-4525-43F1-A9DB-2321B96AC678}"/>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EAF2484B-8E71-40A5-81C8-CB167A643ADC}"/>
              </a:ext>
            </a:extLst>
          </p:cNvPr>
          <p:cNvSpPr>
            <a:spLocks noGrp="1"/>
          </p:cNvSpPr>
          <p:nvPr>
            <p:ph type="dt" idx="10"/>
          </p:nvPr>
        </p:nvSpPr>
        <p:spPr/>
        <p:txBody>
          <a:bodyPr/>
          <a:lstStyle/>
          <a:p>
            <a:r>
              <a:t>28/07/20</a:t>
            </a:r>
          </a:p>
        </p:txBody>
      </p:sp>
      <p:sp>
        <p:nvSpPr>
          <p:cNvPr id="6" name="Footer Placeholder 5">
            <a:extLst>
              <a:ext uri="{FF2B5EF4-FFF2-40B4-BE49-F238E27FC236}">
                <a16:creationId xmlns:a16="http://schemas.microsoft.com/office/drawing/2014/main" id="{21849C62-FADA-4309-8761-E7E642E459EF}"/>
              </a:ext>
            </a:extLst>
          </p:cNvPr>
          <p:cNvSpPr>
            <a:spLocks noGrp="1"/>
          </p:cNvSpPr>
          <p:nvPr>
            <p:ph type="ftr" idx="11"/>
          </p:nvPr>
        </p:nvSpPr>
        <p:spPr/>
        <p:txBody>
          <a:bodyPr/>
          <a:lstStyle/>
          <a:p>
            <a:r>
              <a:t>Irina Chelysheva</a:t>
            </a:r>
          </a:p>
        </p:txBody>
      </p:sp>
      <p:sp>
        <p:nvSpPr>
          <p:cNvPr id="7" name="Slide Number Placeholder 6">
            <a:extLst>
              <a:ext uri="{FF2B5EF4-FFF2-40B4-BE49-F238E27FC236}">
                <a16:creationId xmlns:a16="http://schemas.microsoft.com/office/drawing/2014/main" id="{492B7592-9337-490B-A638-17205923248E}"/>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B83D-31BD-4E01-B52D-81421125753A}"/>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5A606D0-E280-43F3-97E4-D752B34BF0E6}"/>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9C03574-77BD-4956-A908-7D25AE742172}"/>
              </a:ext>
            </a:extLst>
          </p:cNvPr>
          <p:cNvSpPr>
            <a:spLocks noGrp="1"/>
          </p:cNvSpPr>
          <p:nvPr>
            <p:ph type="dt" idx="10"/>
          </p:nvPr>
        </p:nvSpPr>
        <p:spPr/>
        <p:txBody>
          <a:bodyPr/>
          <a:lstStyle/>
          <a:p>
            <a:r>
              <a:t>28/07/20</a:t>
            </a:r>
          </a:p>
        </p:txBody>
      </p:sp>
      <p:sp>
        <p:nvSpPr>
          <p:cNvPr id="5" name="Footer Placeholder 4">
            <a:extLst>
              <a:ext uri="{FF2B5EF4-FFF2-40B4-BE49-F238E27FC236}">
                <a16:creationId xmlns:a16="http://schemas.microsoft.com/office/drawing/2014/main" id="{5EC5B5ED-E3EC-45C6-B045-37421829D64E}"/>
              </a:ext>
            </a:extLst>
          </p:cNvPr>
          <p:cNvSpPr>
            <a:spLocks noGrp="1"/>
          </p:cNvSpPr>
          <p:nvPr>
            <p:ph type="ftr" idx="11"/>
          </p:nvPr>
        </p:nvSpPr>
        <p:spPr/>
        <p:txBody>
          <a:bodyPr/>
          <a:lstStyle/>
          <a:p>
            <a:r>
              <a:t>Irina Chelysheva</a:t>
            </a:r>
          </a:p>
        </p:txBody>
      </p:sp>
      <p:sp>
        <p:nvSpPr>
          <p:cNvPr id="6" name="Slide Number Placeholder 5">
            <a:extLst>
              <a:ext uri="{FF2B5EF4-FFF2-40B4-BE49-F238E27FC236}">
                <a16:creationId xmlns:a16="http://schemas.microsoft.com/office/drawing/2014/main" id="{87D119EF-3195-4538-9DA5-A757041E4CDA}"/>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4E80005-731C-46DC-8137-004FEEBE10A0}"/>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0E5D9D07-19BF-41F1-89CB-58D2EA7F08AE}"/>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F643002-2821-412E-95A9-50731A12A8F4}"/>
              </a:ext>
            </a:extLst>
          </p:cNvPr>
          <p:cNvSpPr>
            <a:spLocks noGrp="1"/>
          </p:cNvSpPr>
          <p:nvPr>
            <p:ph type="dt" idx="10"/>
          </p:nvPr>
        </p:nvSpPr>
        <p:spPr/>
        <p:txBody>
          <a:bodyPr/>
          <a:lstStyle/>
          <a:p>
            <a:r>
              <a:t>28/07/20</a:t>
            </a:r>
          </a:p>
        </p:txBody>
      </p:sp>
      <p:sp>
        <p:nvSpPr>
          <p:cNvPr id="5" name="Footer Placeholder 4">
            <a:extLst>
              <a:ext uri="{FF2B5EF4-FFF2-40B4-BE49-F238E27FC236}">
                <a16:creationId xmlns:a16="http://schemas.microsoft.com/office/drawing/2014/main" id="{936AA1A6-161B-44F4-B100-D0AF0A24CA33}"/>
              </a:ext>
            </a:extLst>
          </p:cNvPr>
          <p:cNvSpPr>
            <a:spLocks noGrp="1"/>
          </p:cNvSpPr>
          <p:nvPr>
            <p:ph type="ftr" idx="11"/>
          </p:nvPr>
        </p:nvSpPr>
        <p:spPr/>
        <p:txBody>
          <a:bodyPr/>
          <a:lstStyle/>
          <a:p>
            <a:r>
              <a:t>Irina Chelysheva</a:t>
            </a:r>
          </a:p>
        </p:txBody>
      </p:sp>
      <p:sp>
        <p:nvSpPr>
          <p:cNvPr id="6" name="Slide Number Placeholder 5">
            <a:extLst>
              <a:ext uri="{FF2B5EF4-FFF2-40B4-BE49-F238E27FC236}">
                <a16:creationId xmlns:a16="http://schemas.microsoft.com/office/drawing/2014/main" id="{E0D9558B-61C8-4C13-8171-C98686297B25}"/>
              </a:ext>
            </a:extLst>
          </p:cNvPr>
          <p:cNvSpPr>
            <a:spLocks noGrp="1"/>
          </p:cNvSpPr>
          <p:nvPr>
            <p:ph type="sldNum" idx="12"/>
          </p:nvPr>
        </p:nvSpPr>
        <p:spPr/>
        <p:txBody>
          <a:bodyPr/>
          <a:lstStyle/>
          <a:p>
            <a:fld id="{F46C3A57-C658-E646-B422-00D8BCC0D6E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276C5F-DE24-4B91-9F0A-9D57014951E0}"/>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68BED0CF-3509-44AB-9FAA-CD9149DFF0C8}"/>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6D4426C-B03B-41F8-B431-3DDAAD0E00CF}"/>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r>
              <a:t>28/07/20</a:t>
            </a:r>
          </a:p>
        </p:txBody>
      </p:sp>
      <p:sp>
        <p:nvSpPr>
          <p:cNvPr id="5" name="Footer Placeholder 4">
            <a:extLst>
              <a:ext uri="{FF2B5EF4-FFF2-40B4-BE49-F238E27FC236}">
                <a16:creationId xmlns:a16="http://schemas.microsoft.com/office/drawing/2014/main" id="{C4EA83A9-A555-48F4-B726-20D3E66C9B05}"/>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r>
              <a:t>Irina Chelysheva</a:t>
            </a:r>
          </a:p>
        </p:txBody>
      </p:sp>
      <p:sp>
        <p:nvSpPr>
          <p:cNvPr id="6" name="Slide Number Placeholder 5">
            <a:extLst>
              <a:ext uri="{FF2B5EF4-FFF2-40B4-BE49-F238E27FC236}">
                <a16:creationId xmlns:a16="http://schemas.microsoft.com/office/drawing/2014/main" id="{30270A03-7B6F-41E5-942C-4C6D485CD80C}"/>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F46C3A57-C658-E646-B422-00D8BCC0D6E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5DAB6BA8-190D-46E5-B9CF-83B7F0523A4E}"/>
              </a:ext>
            </a:extLst>
          </p:cNvPr>
          <p:cNvSpPr>
            <a:spLocks noGrp="1"/>
          </p:cNvSpPr>
          <p:nvPr/>
        </p:nvSpPr>
        <p:spPr>
          <a:xfrm>
            <a:off x="714375" y="1809750"/>
            <a:ext cx="7715250" cy="1428750"/>
          </a:xfrm>
          <a:prstGeom prst="rect">
            <a:avLst/>
          </a:prstGeom>
          <a:noFill/>
          <a:ln w="0">
            <a:noFill/>
            <a:prstDash val="solid"/>
          </a:ln>
        </p:spPr>
        <p:txBody>
          <a:bodyPr lIns="0" tIns="0" rIns="0" bIns="0" anchor="t">
            <a:noAutofit/>
          </a:bodyPr>
          <a:lstStyle>
            <a:defPPr algn="ctr">
              <a:defRPr sz="3225" b="1">
                <a:solidFill>
                  <a:srgbClr val="111111"/>
                </a:solidFill>
                <a:latin typeface="Calibri"/>
                <a:ea typeface="Calibri"/>
                <a:cs typeface="Calibri"/>
              </a:defRPr>
            </a:defPPr>
            <a:lvl1pPr algn="ctr">
              <a:defRPr sz="3225" b="1">
                <a:solidFill>
                  <a:srgbClr val="111111"/>
                </a:solidFill>
                <a:latin typeface="Calibri"/>
                <a:ea typeface="Calibri"/>
                <a:cs typeface="Calibri"/>
              </a:defRPr>
            </a:lvl1pPr>
            <a:lvl2pPr algn="ctr">
              <a:defRPr sz="3225" b="1">
                <a:solidFill>
                  <a:srgbClr val="111111"/>
                </a:solidFill>
                <a:latin typeface="Calibri"/>
                <a:ea typeface="Calibri"/>
                <a:cs typeface="Calibri"/>
              </a:defRPr>
            </a:lvl2pPr>
            <a:lvl3pPr algn="ctr">
              <a:defRPr sz="3225" b="1">
                <a:solidFill>
                  <a:srgbClr val="111111"/>
                </a:solidFill>
                <a:latin typeface="Calibri"/>
                <a:ea typeface="Calibri"/>
                <a:cs typeface="Calibri"/>
              </a:defRPr>
            </a:lvl3pPr>
            <a:lvl4pPr algn="ctr">
              <a:defRPr sz="3225" b="1">
                <a:solidFill>
                  <a:srgbClr val="111111"/>
                </a:solidFill>
                <a:latin typeface="Calibri"/>
                <a:ea typeface="Calibri"/>
                <a:cs typeface="Calibri"/>
              </a:defRPr>
            </a:lvl4pPr>
            <a:lvl5pPr algn="ctr">
              <a:defRPr sz="3225" b="1">
                <a:solidFill>
                  <a:srgbClr val="111111"/>
                </a:solidFill>
                <a:latin typeface="Calibri"/>
                <a:ea typeface="Calibri"/>
                <a:cs typeface="Calibri"/>
              </a:defRPr>
            </a:lvl5pPr>
            <a:lvl6pPr algn="ctr">
              <a:defRPr sz="3225" b="1">
                <a:solidFill>
                  <a:srgbClr val="111111"/>
                </a:solidFill>
                <a:latin typeface="Calibri"/>
                <a:ea typeface="Calibri"/>
                <a:cs typeface="Calibri"/>
              </a:defRPr>
            </a:lvl6pPr>
            <a:lvl7pPr algn="ctr">
              <a:defRPr sz="3225" b="1">
                <a:solidFill>
                  <a:srgbClr val="111111"/>
                </a:solidFill>
                <a:latin typeface="Calibri"/>
                <a:ea typeface="Calibri"/>
                <a:cs typeface="Calibri"/>
              </a:defRPr>
            </a:lvl7pPr>
            <a:lvl8pPr algn="ctr">
              <a:defRPr sz="3225" b="1">
                <a:solidFill>
                  <a:srgbClr val="111111"/>
                </a:solidFill>
                <a:latin typeface="Calibri"/>
                <a:ea typeface="Calibri"/>
                <a:cs typeface="Calibri"/>
              </a:defRPr>
            </a:lvl8pPr>
            <a:lvl9pPr algn="ctr">
              <a:defRPr sz="3225" b="1">
                <a:solidFill>
                  <a:srgbClr val="111111"/>
                </a:solidFill>
                <a:latin typeface="Calibri"/>
                <a:ea typeface="Calibri"/>
                <a:cs typeface="Calibri"/>
              </a:defRPr>
            </a:lvl9pPr>
          </a:lstStyle>
          <a:p>
            <a:pPr algn="ctr">
              <a:defRPr sz="3225" b="1">
                <a:solidFill>
                  <a:srgbClr val="111111"/>
                </a:solidFill>
                <a:latin typeface="Calibri"/>
                <a:ea typeface="Calibri"/>
                <a:cs typeface="Calibri"/>
              </a:defRPr>
            </a:pPr>
            <a:r>
              <a:rPr sz="3225" b="1">
                <a:solidFill>
                  <a:srgbClr val="111111"/>
                </a:solidFill>
                <a:latin typeface="Calibri"/>
                <a:ea typeface="Calibri"/>
                <a:cs typeface="Calibri"/>
              </a:rPr>
              <a:t>Introduction to machine learning</a:t>
            </a:r>
          </a:p>
          <a:p>
            <a:pPr algn="ctr">
              <a:defRPr sz="3225" b="1">
                <a:solidFill>
                  <a:srgbClr val="111111"/>
                </a:solidFill>
                <a:latin typeface="Calibri"/>
                <a:ea typeface="Calibri"/>
                <a:cs typeface="Calibri"/>
              </a:defRPr>
            </a:pPr>
            <a:r>
              <a:rPr sz="3225" b="1">
                <a:solidFill>
                  <a:srgbClr val="111111"/>
                </a:solidFill>
                <a:latin typeface="Calibri"/>
                <a:ea typeface="Calibri"/>
                <a:cs typeface="Calibri"/>
              </a:rPr>
              <a:t>in Python</a:t>
            </a:r>
          </a:p>
        </p:txBody>
      </p:sp>
      <p:sp>
        <p:nvSpPr>
          <p:cNvPr id="2" name="subtitle">
            <a:extLst>
              <a:ext uri="{FF2B5EF4-FFF2-40B4-BE49-F238E27FC236}">
                <a16:creationId xmlns:a16="http://schemas.microsoft.com/office/drawing/2014/main" id="{042EE854-19A9-4585-AB1D-44EB46618E2F}"/>
              </a:ext>
            </a:extLst>
          </p:cNvPr>
          <p:cNvSpPr>
            <a:spLocks noGrp="1"/>
          </p:cNvSpPr>
          <p:nvPr/>
        </p:nvSpPr>
        <p:spPr>
          <a:xfrm>
            <a:off x="857250" y="3714750"/>
            <a:ext cx="7429500" cy="523875"/>
          </a:xfrm>
          <a:prstGeom prst="rect">
            <a:avLst/>
          </a:prstGeom>
          <a:noFill/>
          <a:ln w="0">
            <a:noFill/>
            <a:prstDash val="solid"/>
          </a:ln>
        </p:spPr>
        <p:txBody>
          <a:bodyPr lIns="0" tIns="0" rIns="0" bIns="0" anchor="t">
            <a:noAutofit/>
          </a:bodyPr>
          <a:lstStyle>
            <a:defPPr algn="ctr">
              <a:defRPr sz="2100" b="0">
                <a:solidFill>
                  <a:srgbClr val="111111"/>
                </a:solidFill>
                <a:latin typeface="Calibri"/>
                <a:ea typeface="Calibri"/>
                <a:cs typeface="Calibri"/>
              </a:defRPr>
            </a:defPPr>
            <a:lvl1pPr algn="ctr">
              <a:defRPr sz="2100" b="0">
                <a:solidFill>
                  <a:srgbClr val="111111"/>
                </a:solidFill>
                <a:latin typeface="Calibri"/>
                <a:ea typeface="Calibri"/>
                <a:cs typeface="Calibri"/>
              </a:defRPr>
            </a:lvl1pPr>
            <a:lvl2pPr algn="ctr">
              <a:defRPr sz="2100" b="0">
                <a:solidFill>
                  <a:srgbClr val="111111"/>
                </a:solidFill>
                <a:latin typeface="Calibri"/>
                <a:ea typeface="Calibri"/>
                <a:cs typeface="Calibri"/>
              </a:defRPr>
            </a:lvl2pPr>
            <a:lvl3pPr algn="ctr">
              <a:defRPr sz="2100" b="0">
                <a:solidFill>
                  <a:srgbClr val="111111"/>
                </a:solidFill>
                <a:latin typeface="Calibri"/>
                <a:ea typeface="Calibri"/>
                <a:cs typeface="Calibri"/>
              </a:defRPr>
            </a:lvl3pPr>
            <a:lvl4pPr algn="ctr">
              <a:defRPr sz="2100" b="0">
                <a:solidFill>
                  <a:srgbClr val="111111"/>
                </a:solidFill>
                <a:latin typeface="Calibri"/>
                <a:ea typeface="Calibri"/>
                <a:cs typeface="Calibri"/>
              </a:defRPr>
            </a:lvl4pPr>
            <a:lvl5pPr algn="ctr">
              <a:defRPr sz="2100" b="0">
                <a:solidFill>
                  <a:srgbClr val="111111"/>
                </a:solidFill>
                <a:latin typeface="Calibri"/>
                <a:ea typeface="Calibri"/>
                <a:cs typeface="Calibri"/>
              </a:defRPr>
            </a:lvl5pPr>
            <a:lvl6pPr algn="ctr">
              <a:defRPr sz="2100" b="0">
                <a:solidFill>
                  <a:srgbClr val="111111"/>
                </a:solidFill>
                <a:latin typeface="Calibri"/>
                <a:ea typeface="Calibri"/>
                <a:cs typeface="Calibri"/>
              </a:defRPr>
            </a:lvl6pPr>
            <a:lvl7pPr algn="ctr">
              <a:defRPr sz="2100" b="0">
                <a:solidFill>
                  <a:srgbClr val="111111"/>
                </a:solidFill>
                <a:latin typeface="Calibri"/>
                <a:ea typeface="Calibri"/>
                <a:cs typeface="Calibri"/>
              </a:defRPr>
            </a:lvl7pPr>
            <a:lvl8pPr algn="ctr">
              <a:defRPr sz="2100" b="0">
                <a:solidFill>
                  <a:srgbClr val="111111"/>
                </a:solidFill>
                <a:latin typeface="Calibri"/>
                <a:ea typeface="Calibri"/>
                <a:cs typeface="Calibri"/>
              </a:defRPr>
            </a:lvl8pPr>
            <a:lvl9pPr algn="ctr">
              <a:defRPr sz="2100" b="0">
                <a:solidFill>
                  <a:srgbClr val="111111"/>
                </a:solidFill>
                <a:latin typeface="Calibri"/>
                <a:ea typeface="Calibri"/>
                <a:cs typeface="Calibri"/>
              </a:defRPr>
            </a:lvl9pPr>
          </a:lstStyle>
          <a:p>
            <a:pPr algn="ctr">
              <a:defRPr sz="2100" b="0">
                <a:solidFill>
                  <a:srgbClr val="111111"/>
                </a:solidFill>
                <a:latin typeface="Calibri"/>
                <a:ea typeface="Calibri"/>
                <a:cs typeface="Calibri"/>
              </a:defRPr>
            </a:pPr>
            <a:r>
              <a:rPr sz="2100" b="0">
                <a:solidFill>
                  <a:srgbClr val="111111"/>
                </a:solidFill>
                <a:latin typeface="Calibri"/>
                <a:ea typeface="Calibri"/>
                <a:cs typeface="Calibri"/>
              </a:rPr>
              <a:t>Session 1 · Classification and regression</a:t>
            </a:r>
          </a:p>
        </p:txBody>
      </p:sp>
      <p:sp>
        <p:nvSpPr>
          <p:cNvPr id="3" name="author">
            <a:extLst>
              <a:ext uri="{FF2B5EF4-FFF2-40B4-BE49-F238E27FC236}">
                <a16:creationId xmlns:a16="http://schemas.microsoft.com/office/drawing/2014/main" id="{CE215619-81A5-4326-9137-9836F8221907}"/>
              </a:ext>
            </a:extLst>
          </p:cNvPr>
          <p:cNvSpPr>
            <a:spLocks noGrp="1"/>
          </p:cNvSpPr>
          <p:nvPr/>
        </p:nvSpPr>
        <p:spPr>
          <a:xfrm>
            <a:off x="857250" y="4667250"/>
            <a:ext cx="7429500" cy="476250"/>
          </a:xfrm>
          <a:prstGeom prst="rect">
            <a:avLst/>
          </a:prstGeom>
          <a:noFill/>
          <a:ln w="0">
            <a:noFill/>
            <a:prstDash val="solid"/>
          </a:ln>
        </p:spPr>
        <p:txBody>
          <a:bodyPr lIns="0" tIns="0" rIns="0" bIns="0" anchor="t">
            <a:noAutofit/>
          </a:bodyPr>
          <a:lstStyle>
            <a:defPPr algn="ctr">
              <a:defRPr sz="2100" b="0">
                <a:solidFill>
                  <a:srgbClr val="111111"/>
                </a:solidFill>
                <a:latin typeface="Calibri"/>
                <a:ea typeface="Calibri"/>
                <a:cs typeface="Calibri"/>
              </a:defRPr>
            </a:defPPr>
            <a:lvl1pPr algn="ctr">
              <a:defRPr sz="2100" b="0">
                <a:solidFill>
                  <a:srgbClr val="111111"/>
                </a:solidFill>
                <a:latin typeface="Calibri"/>
                <a:ea typeface="Calibri"/>
                <a:cs typeface="Calibri"/>
              </a:defRPr>
            </a:lvl1pPr>
            <a:lvl2pPr algn="ctr">
              <a:defRPr sz="2100" b="0">
                <a:solidFill>
                  <a:srgbClr val="111111"/>
                </a:solidFill>
                <a:latin typeface="Calibri"/>
                <a:ea typeface="Calibri"/>
                <a:cs typeface="Calibri"/>
              </a:defRPr>
            </a:lvl2pPr>
            <a:lvl3pPr algn="ctr">
              <a:defRPr sz="2100" b="0">
                <a:solidFill>
                  <a:srgbClr val="111111"/>
                </a:solidFill>
                <a:latin typeface="Calibri"/>
                <a:ea typeface="Calibri"/>
                <a:cs typeface="Calibri"/>
              </a:defRPr>
            </a:lvl3pPr>
            <a:lvl4pPr algn="ctr">
              <a:defRPr sz="2100" b="0">
                <a:solidFill>
                  <a:srgbClr val="111111"/>
                </a:solidFill>
                <a:latin typeface="Calibri"/>
                <a:ea typeface="Calibri"/>
                <a:cs typeface="Calibri"/>
              </a:defRPr>
            </a:lvl4pPr>
            <a:lvl5pPr algn="ctr">
              <a:defRPr sz="2100" b="0">
                <a:solidFill>
                  <a:srgbClr val="111111"/>
                </a:solidFill>
                <a:latin typeface="Calibri"/>
                <a:ea typeface="Calibri"/>
                <a:cs typeface="Calibri"/>
              </a:defRPr>
            </a:lvl5pPr>
            <a:lvl6pPr algn="ctr">
              <a:defRPr sz="2100" b="0">
                <a:solidFill>
                  <a:srgbClr val="111111"/>
                </a:solidFill>
                <a:latin typeface="Calibri"/>
                <a:ea typeface="Calibri"/>
                <a:cs typeface="Calibri"/>
              </a:defRPr>
            </a:lvl6pPr>
            <a:lvl7pPr algn="ctr">
              <a:defRPr sz="2100" b="0">
                <a:solidFill>
                  <a:srgbClr val="111111"/>
                </a:solidFill>
                <a:latin typeface="Calibri"/>
                <a:ea typeface="Calibri"/>
                <a:cs typeface="Calibri"/>
              </a:defRPr>
            </a:lvl7pPr>
            <a:lvl8pPr algn="ctr">
              <a:defRPr sz="2100" b="0">
                <a:solidFill>
                  <a:srgbClr val="111111"/>
                </a:solidFill>
                <a:latin typeface="Calibri"/>
                <a:ea typeface="Calibri"/>
                <a:cs typeface="Calibri"/>
              </a:defRPr>
            </a:lvl8pPr>
            <a:lvl9pPr algn="ctr">
              <a:defRPr sz="2100" b="0">
                <a:solidFill>
                  <a:srgbClr val="111111"/>
                </a:solidFill>
                <a:latin typeface="Calibri"/>
                <a:ea typeface="Calibri"/>
                <a:cs typeface="Calibri"/>
              </a:defRPr>
            </a:lvl9pPr>
          </a:lstStyle>
          <a:p>
            <a:pPr algn="ctr">
              <a:defRPr sz="2100" b="0">
                <a:solidFill>
                  <a:srgbClr val="111111"/>
                </a:solidFill>
                <a:latin typeface="Calibri"/>
                <a:ea typeface="Calibri"/>
                <a:cs typeface="Calibri"/>
              </a:defRPr>
            </a:pPr>
            <a:r>
              <a:rPr sz="2100" b="0">
                <a:solidFill>
                  <a:srgbClr val="111111"/>
                </a:solidFill>
                <a:latin typeface="Calibri"/>
                <a:ea typeface="Calibri"/>
                <a:cs typeface="Calibri"/>
              </a:rPr>
              <a:t>Irina Chelysheva</a:t>
            </a:r>
          </a:p>
        </p:txBody>
      </p:sp>
      <p:sp>
        <p:nvSpPr>
          <p:cNvPr id="4" name="date">
            <a:extLst>
              <a:ext uri="{FF2B5EF4-FFF2-40B4-BE49-F238E27FC236}">
                <a16:creationId xmlns:a16="http://schemas.microsoft.com/office/drawing/2014/main" id="{63F08613-2A0C-4F89-A17E-C31D14CE2592}"/>
              </a:ext>
            </a:extLst>
          </p:cNvPr>
          <p:cNvSpPr>
            <a:spLocks noGrp="1"/>
          </p:cNvSpPr>
          <p:nvPr/>
        </p:nvSpPr>
        <p:spPr>
          <a:xfrm>
            <a:off x="857250" y="5257800"/>
            <a:ext cx="7429500" cy="381000"/>
          </a:xfrm>
          <a:prstGeom prst="rect">
            <a:avLst/>
          </a:prstGeom>
          <a:noFill/>
          <a:ln w="0">
            <a:noFill/>
            <a:prstDash val="solid"/>
          </a:ln>
        </p:spPr>
        <p:txBody>
          <a:bodyPr lIns="0" tIns="0" rIns="0" bIns="0" anchor="t">
            <a:noAutofit/>
          </a:bodyPr>
          <a:lstStyle>
            <a:defPPr algn="ctr">
              <a:defRPr sz="1875" b="0">
                <a:solidFill>
                  <a:srgbClr val="111111"/>
                </a:solidFill>
                <a:latin typeface="Calibri"/>
                <a:ea typeface="Calibri"/>
                <a:cs typeface="Calibri"/>
              </a:defRPr>
            </a:defPPr>
            <a:lvl1pPr algn="ctr">
              <a:defRPr sz="1875" b="0">
                <a:solidFill>
                  <a:srgbClr val="111111"/>
                </a:solidFill>
                <a:latin typeface="Calibri"/>
                <a:ea typeface="Calibri"/>
                <a:cs typeface="Calibri"/>
              </a:defRPr>
            </a:lvl1pPr>
            <a:lvl2pPr algn="ctr">
              <a:defRPr sz="1875" b="0">
                <a:solidFill>
                  <a:srgbClr val="111111"/>
                </a:solidFill>
                <a:latin typeface="Calibri"/>
                <a:ea typeface="Calibri"/>
                <a:cs typeface="Calibri"/>
              </a:defRPr>
            </a:lvl2pPr>
            <a:lvl3pPr algn="ctr">
              <a:defRPr sz="1875" b="0">
                <a:solidFill>
                  <a:srgbClr val="111111"/>
                </a:solidFill>
                <a:latin typeface="Calibri"/>
                <a:ea typeface="Calibri"/>
                <a:cs typeface="Calibri"/>
              </a:defRPr>
            </a:lvl3pPr>
            <a:lvl4pPr algn="ctr">
              <a:defRPr sz="1875" b="0">
                <a:solidFill>
                  <a:srgbClr val="111111"/>
                </a:solidFill>
                <a:latin typeface="Calibri"/>
                <a:ea typeface="Calibri"/>
                <a:cs typeface="Calibri"/>
              </a:defRPr>
            </a:lvl4pPr>
            <a:lvl5pPr algn="ctr">
              <a:defRPr sz="1875" b="0">
                <a:solidFill>
                  <a:srgbClr val="111111"/>
                </a:solidFill>
                <a:latin typeface="Calibri"/>
                <a:ea typeface="Calibri"/>
                <a:cs typeface="Calibri"/>
              </a:defRPr>
            </a:lvl5pPr>
            <a:lvl6pPr algn="ctr">
              <a:defRPr sz="1875" b="0">
                <a:solidFill>
                  <a:srgbClr val="111111"/>
                </a:solidFill>
                <a:latin typeface="Calibri"/>
                <a:ea typeface="Calibri"/>
                <a:cs typeface="Calibri"/>
              </a:defRPr>
            </a:lvl6pPr>
            <a:lvl7pPr algn="ctr">
              <a:defRPr sz="1875" b="0">
                <a:solidFill>
                  <a:srgbClr val="111111"/>
                </a:solidFill>
                <a:latin typeface="Calibri"/>
                <a:ea typeface="Calibri"/>
                <a:cs typeface="Calibri"/>
              </a:defRPr>
            </a:lvl7pPr>
            <a:lvl8pPr algn="ctr">
              <a:defRPr sz="1875" b="0">
                <a:solidFill>
                  <a:srgbClr val="111111"/>
                </a:solidFill>
                <a:latin typeface="Calibri"/>
                <a:ea typeface="Calibri"/>
                <a:cs typeface="Calibri"/>
              </a:defRPr>
            </a:lvl8pPr>
            <a:lvl9pPr algn="ctr">
              <a:defRPr sz="1875" b="0">
                <a:solidFill>
                  <a:srgbClr val="111111"/>
                </a:solidFill>
                <a:latin typeface="Calibri"/>
                <a:ea typeface="Calibri"/>
                <a:cs typeface="Calibri"/>
              </a:defRPr>
            </a:lvl9pPr>
          </a:lstStyle>
          <a:p>
            <a:pPr algn="ctr">
              <a:defRPr sz="1875" b="0">
                <a:solidFill>
                  <a:srgbClr val="111111"/>
                </a:solidFill>
                <a:latin typeface="Calibri"/>
                <a:ea typeface="Calibri"/>
                <a:cs typeface="Calibri"/>
              </a:defRPr>
            </a:pPr>
            <a:r>
              <a:rPr sz="1875" b="0">
                <a:solidFill>
                  <a:srgbClr val="111111"/>
                </a:solidFill>
                <a:latin typeface="Calibri"/>
                <a:ea typeface="Calibri"/>
                <a:cs typeface="Calibri"/>
              </a:rPr>
              <a:t>20 October 2026</a:t>
            </a:r>
          </a:p>
        </p:txBody>
      </p:sp>
    </p:spTree>
    <p:extLst>
      <p:ext uri="{BB962C8B-B14F-4D97-AF65-F5344CB8AC3E}">
        <p14:creationId xmlns:p14="http://schemas.microsoft.com/office/powerpoint/2010/main" val="15481779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09D507D7-125D-453B-B899-206509F00924}"/>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Before we start</a:t>
            </a:r>
          </a:p>
        </p:txBody>
      </p:sp>
      <p:sp>
        <p:nvSpPr>
          <p:cNvPr id="2" name="body-0">
            <a:extLst>
              <a:ext uri="{FF2B5EF4-FFF2-40B4-BE49-F238E27FC236}">
                <a16:creationId xmlns:a16="http://schemas.microsoft.com/office/drawing/2014/main" id="{C17F5F19-093D-4D0A-AC0B-ED16F51DCC55}"/>
              </a:ext>
            </a:extLst>
          </p:cNvPr>
          <p:cNvSpPr>
            <a:spLocks noGrp="1"/>
          </p:cNvSpPr>
          <p:nvPr/>
        </p:nvSpPr>
        <p:spPr>
          <a:xfrm>
            <a:off x="619125" y="15430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Python packages: numpy, pandas, scipy, scikit-learn, matplotlib, seaborn and joblib</a:t>
            </a:r>
          </a:p>
        </p:txBody>
      </p:sp>
      <p:sp>
        <p:nvSpPr>
          <p:cNvPr id="3" name="body-1">
            <a:extLst>
              <a:ext uri="{FF2B5EF4-FFF2-40B4-BE49-F238E27FC236}">
                <a16:creationId xmlns:a16="http://schemas.microsoft.com/office/drawing/2014/main" id="{1C47062B-D7D5-497F-A1E2-7289D823FAD1}"/>
              </a:ext>
            </a:extLst>
          </p:cNvPr>
          <p:cNvSpPr>
            <a:spLocks noGrp="1"/>
          </p:cNvSpPr>
          <p:nvPr/>
        </p:nvSpPr>
        <p:spPr>
          <a:xfrm>
            <a:off x="619125" y="26098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dirty="0">
                <a:solidFill>
                  <a:srgbClr val="111111"/>
                </a:solidFill>
                <a:latin typeface="Calibri"/>
                <a:ea typeface="Calibri"/>
                <a:cs typeface="Calibri"/>
              </a:rPr>
              <a:t>Install: python -m pip install -r requirements_day1.txt</a:t>
            </a:r>
          </a:p>
        </p:txBody>
      </p:sp>
      <p:sp>
        <p:nvSpPr>
          <p:cNvPr id="4" name="body-2">
            <a:extLst>
              <a:ext uri="{FF2B5EF4-FFF2-40B4-BE49-F238E27FC236}">
                <a16:creationId xmlns:a16="http://schemas.microsoft.com/office/drawing/2014/main" id="{85E1508B-A9CD-4F70-AD6D-BB96141C71A5}"/>
              </a:ext>
            </a:extLst>
          </p:cNvPr>
          <p:cNvSpPr>
            <a:spLocks noGrp="1"/>
          </p:cNvSpPr>
          <p:nvPr/>
        </p:nvSpPr>
        <p:spPr>
          <a:xfrm>
            <a:off x="619125" y="36766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Use Spyder, Jupyter or your preferred editor.</a:t>
            </a:r>
          </a:p>
          <a:p>
            <a:pPr algn="l">
              <a:defRPr sz="1950" b="0">
                <a:solidFill>
                  <a:srgbClr val="111111"/>
                </a:solidFill>
                <a:latin typeface="Calibri"/>
                <a:ea typeface="Calibri"/>
                <a:cs typeface="Calibri"/>
              </a:defRPr>
            </a:pPr>
            <a:r>
              <a:rPr sz="1950" b="0">
                <a:solidFill>
                  <a:srgbClr val="111111"/>
                </a:solidFill>
                <a:latin typeface="Calibri"/>
                <a:ea typeface="Calibri"/>
                <a:cs typeface="Calibri"/>
              </a:rPr>
              <a:t>Keep the scripts and CSV datasets in the same folder.</a:t>
            </a:r>
          </a:p>
        </p:txBody>
      </p:sp>
      <p:sp>
        <p:nvSpPr>
          <p:cNvPr id="5" name="body-3">
            <a:extLst>
              <a:ext uri="{FF2B5EF4-FFF2-40B4-BE49-F238E27FC236}">
                <a16:creationId xmlns:a16="http://schemas.microsoft.com/office/drawing/2014/main" id="{B9D67DC5-C795-4CDD-9D52-143238BEC2FC}"/>
              </a:ext>
            </a:extLst>
          </p:cNvPr>
          <p:cNvSpPr>
            <a:spLocks noGrp="1"/>
          </p:cNvSpPr>
          <p:nvPr/>
        </p:nvSpPr>
        <p:spPr>
          <a:xfrm>
            <a:off x="619125" y="47434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Course materials: github.com/Chelysheva/</a:t>
            </a:r>
          </a:p>
          <a:p>
            <a:pPr algn="l">
              <a:defRPr sz="1950" b="0">
                <a:solidFill>
                  <a:srgbClr val="111111"/>
                </a:solidFill>
                <a:latin typeface="Calibri"/>
                <a:ea typeface="Calibri"/>
                <a:cs typeface="Calibri"/>
              </a:defRPr>
            </a:pPr>
            <a:r>
              <a:rPr sz="1950" b="0">
                <a:solidFill>
                  <a:srgbClr val="111111"/>
                </a:solidFill>
                <a:latin typeface="Calibri"/>
                <a:ea typeface="Calibri"/>
                <a:cs typeface="Calibri"/>
              </a:rPr>
              <a:t>ML_DL_Intro_Python_Oct2026</a:t>
            </a:r>
          </a:p>
        </p:txBody>
      </p:sp>
    </p:spTree>
    <p:extLst>
      <p:ext uri="{BB962C8B-B14F-4D97-AF65-F5344CB8AC3E}">
        <p14:creationId xmlns:p14="http://schemas.microsoft.com/office/powerpoint/2010/main" val="283832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E20CB52B-CD6D-416A-A449-0AEC0E87D886}"/>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Introduction to machine learning</a:t>
            </a:r>
          </a:p>
        </p:txBody>
      </p:sp>
      <p:sp>
        <p:nvSpPr>
          <p:cNvPr id="2" name="body-0">
            <a:extLst>
              <a:ext uri="{FF2B5EF4-FFF2-40B4-BE49-F238E27FC236}">
                <a16:creationId xmlns:a16="http://schemas.microsoft.com/office/drawing/2014/main" id="{F8B9AFFE-5951-4684-B230-0BFB2753684F}"/>
              </a:ext>
            </a:extLst>
          </p:cNvPr>
          <p:cNvSpPr>
            <a:spLocks noGrp="1"/>
          </p:cNvSpPr>
          <p:nvPr/>
        </p:nvSpPr>
        <p:spPr>
          <a:xfrm>
            <a:off x="619125" y="15430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 model learns patterns from example data to predict an outcome for new observations.</a:t>
            </a:r>
          </a:p>
        </p:txBody>
      </p:sp>
      <p:sp>
        <p:nvSpPr>
          <p:cNvPr id="3" name="body-1">
            <a:extLst>
              <a:ext uri="{FF2B5EF4-FFF2-40B4-BE49-F238E27FC236}">
                <a16:creationId xmlns:a16="http://schemas.microsoft.com/office/drawing/2014/main" id="{89752812-473A-4AE9-8D5D-DE2380E93253}"/>
              </a:ext>
            </a:extLst>
          </p:cNvPr>
          <p:cNvSpPr>
            <a:spLocks noGrp="1"/>
          </p:cNvSpPr>
          <p:nvPr/>
        </p:nvSpPr>
        <p:spPr>
          <a:xfrm>
            <a:off x="619125" y="26098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Predictors (X) describe the observations.</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The target (y) is the outcome we want to predict.</a:t>
            </a:r>
          </a:p>
        </p:txBody>
      </p:sp>
      <p:sp>
        <p:nvSpPr>
          <p:cNvPr id="4" name="body-2">
            <a:extLst>
              <a:ext uri="{FF2B5EF4-FFF2-40B4-BE49-F238E27FC236}">
                <a16:creationId xmlns:a16="http://schemas.microsoft.com/office/drawing/2014/main" id="{1DAAAEDC-EFC9-4495-A82D-C04086AA85BD}"/>
              </a:ext>
            </a:extLst>
          </p:cNvPr>
          <p:cNvSpPr>
            <a:spLocks noGrp="1"/>
          </p:cNvSpPr>
          <p:nvPr/>
        </p:nvSpPr>
        <p:spPr>
          <a:xfrm>
            <a:off x="619125" y="36766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Our aim: useful predictions for unseen observations, with an honest estimate of error.</a:t>
            </a:r>
          </a:p>
        </p:txBody>
      </p:sp>
      <p:sp>
        <p:nvSpPr>
          <p:cNvPr id="5" name="body-3">
            <a:extLst>
              <a:ext uri="{FF2B5EF4-FFF2-40B4-BE49-F238E27FC236}">
                <a16:creationId xmlns:a16="http://schemas.microsoft.com/office/drawing/2014/main" id="{45767DD5-7D9D-4C3A-9024-197AB898099A}"/>
              </a:ext>
            </a:extLst>
          </p:cNvPr>
          <p:cNvSpPr>
            <a:spLocks noGrp="1"/>
          </p:cNvSpPr>
          <p:nvPr/>
        </p:nvSpPr>
        <p:spPr>
          <a:xfrm>
            <a:off x="619125" y="47434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Today: classification and regression with scikit-learn.</a:t>
            </a:r>
          </a:p>
        </p:txBody>
      </p:sp>
    </p:spTree>
    <p:extLst>
      <p:ext uri="{BB962C8B-B14F-4D97-AF65-F5344CB8AC3E}">
        <p14:creationId xmlns:p14="http://schemas.microsoft.com/office/powerpoint/2010/main" val="3543623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957B175C-55F5-4021-A221-E24F3FEADD40}"/>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Types of machine learning</a:t>
            </a:r>
          </a:p>
        </p:txBody>
      </p:sp>
      <p:sp>
        <p:nvSpPr>
          <p:cNvPr id="2" name="body-0">
            <a:extLst>
              <a:ext uri="{FF2B5EF4-FFF2-40B4-BE49-F238E27FC236}">
                <a16:creationId xmlns:a16="http://schemas.microsoft.com/office/drawing/2014/main" id="{CBA52036-2FC8-4254-AC6F-D02681744331}"/>
              </a:ext>
            </a:extLst>
          </p:cNvPr>
          <p:cNvSpPr>
            <a:spLocks noGrp="1"/>
          </p:cNvSpPr>
          <p:nvPr/>
        </p:nvSpPr>
        <p:spPr>
          <a:xfrm>
            <a:off x="619125" y="1543050"/>
            <a:ext cx="7905750" cy="14287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Supervised learning</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Labelled examples: predictors X and target y.</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Classification predicts a category. Regression predicts a number.</a:t>
            </a:r>
          </a:p>
        </p:txBody>
      </p:sp>
      <p:sp>
        <p:nvSpPr>
          <p:cNvPr id="3" name="body-1">
            <a:extLst>
              <a:ext uri="{FF2B5EF4-FFF2-40B4-BE49-F238E27FC236}">
                <a16:creationId xmlns:a16="http://schemas.microsoft.com/office/drawing/2014/main" id="{A18E4D98-3EF4-441A-929B-9AAC9817AD84}"/>
              </a:ext>
            </a:extLst>
          </p:cNvPr>
          <p:cNvSpPr>
            <a:spLocks noGrp="1"/>
          </p:cNvSpPr>
          <p:nvPr/>
        </p:nvSpPr>
        <p:spPr>
          <a:xfrm>
            <a:off x="619125" y="3067050"/>
            <a:ext cx="7905750" cy="14287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Unsupervised learning</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No target labels. Methods explore structure, such as clusters.</a:t>
            </a:r>
          </a:p>
        </p:txBody>
      </p:sp>
      <p:sp>
        <p:nvSpPr>
          <p:cNvPr id="4" name="body-2">
            <a:extLst>
              <a:ext uri="{FF2B5EF4-FFF2-40B4-BE49-F238E27FC236}">
                <a16:creationId xmlns:a16="http://schemas.microsoft.com/office/drawing/2014/main" id="{69291D11-C3C5-470E-8064-F1F5E105C60A}"/>
              </a:ext>
            </a:extLst>
          </p:cNvPr>
          <p:cNvSpPr>
            <a:spLocks noGrp="1"/>
          </p:cNvSpPr>
          <p:nvPr/>
        </p:nvSpPr>
        <p:spPr>
          <a:xfrm>
            <a:off x="619125" y="4591050"/>
            <a:ext cx="7905750" cy="14287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Semi-supervised learning</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 mixture of labelled and unlabelled examples.</a:t>
            </a:r>
          </a:p>
        </p:txBody>
      </p:sp>
    </p:spTree>
    <p:extLst>
      <p:ext uri="{BB962C8B-B14F-4D97-AF65-F5344CB8AC3E}">
        <p14:creationId xmlns:p14="http://schemas.microsoft.com/office/powerpoint/2010/main" val="31844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781BA43D-256D-4459-A19B-5480AA683423}"/>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Supervised learning: classification</a:t>
            </a:r>
          </a:p>
        </p:txBody>
      </p:sp>
      <p:sp>
        <p:nvSpPr>
          <p:cNvPr id="2" name="body-0">
            <a:extLst>
              <a:ext uri="{FF2B5EF4-FFF2-40B4-BE49-F238E27FC236}">
                <a16:creationId xmlns:a16="http://schemas.microsoft.com/office/drawing/2014/main" id="{4D131E3E-118A-4E94-8994-242CF3CA37BF}"/>
              </a:ext>
            </a:extLst>
          </p:cNvPr>
          <p:cNvSpPr>
            <a:spLocks noGrp="1"/>
          </p:cNvSpPr>
          <p:nvPr/>
        </p:nvSpPr>
        <p:spPr>
          <a:xfrm>
            <a:off x="619125" y="1543050"/>
            <a:ext cx="7905750" cy="13335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Question: which category does this observation belong to?</a:t>
            </a:r>
          </a:p>
        </p:txBody>
      </p:sp>
      <p:sp>
        <p:nvSpPr>
          <p:cNvPr id="3" name="body-1">
            <a:extLst>
              <a:ext uri="{FF2B5EF4-FFF2-40B4-BE49-F238E27FC236}">
                <a16:creationId xmlns:a16="http://schemas.microsoft.com/office/drawing/2014/main" id="{1A466EBD-D3A4-4284-8332-4752E94E66D0}"/>
              </a:ext>
            </a:extLst>
          </p:cNvPr>
          <p:cNvSpPr>
            <a:spLocks noGrp="1"/>
          </p:cNvSpPr>
          <p:nvPr/>
        </p:nvSpPr>
        <p:spPr>
          <a:xfrm>
            <a:off x="619125" y="2971800"/>
            <a:ext cx="7905750" cy="13335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Example: benign or malignant breast sample.</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 numerical class code still represents a category.</a:t>
            </a:r>
          </a:p>
        </p:txBody>
      </p:sp>
      <p:sp>
        <p:nvSpPr>
          <p:cNvPr id="4" name="body-2">
            <a:extLst>
              <a:ext uri="{FF2B5EF4-FFF2-40B4-BE49-F238E27FC236}">
                <a16:creationId xmlns:a16="http://schemas.microsoft.com/office/drawing/2014/main" id="{7B6F8147-726C-4DD4-AE3F-EFE10B2801C6}"/>
              </a:ext>
            </a:extLst>
          </p:cNvPr>
          <p:cNvSpPr>
            <a:spLocks noGrp="1"/>
          </p:cNvSpPr>
          <p:nvPr/>
        </p:nvSpPr>
        <p:spPr>
          <a:xfrm>
            <a:off x="619125" y="4400550"/>
            <a:ext cx="7905750" cy="13335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Today’s models</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Logistic regression, K-nearest neighbours, decision tree, support vector machine and random forest.</a:t>
            </a:r>
          </a:p>
        </p:txBody>
      </p:sp>
    </p:spTree>
    <p:extLst>
      <p:ext uri="{BB962C8B-B14F-4D97-AF65-F5344CB8AC3E}">
        <p14:creationId xmlns:p14="http://schemas.microsoft.com/office/powerpoint/2010/main" val="34787413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0C23DDE-F42D-47BB-8ED4-710C6E8F0916}"/>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Breast cancer classification dataset</a:t>
            </a:r>
          </a:p>
        </p:txBody>
      </p:sp>
      <p:sp>
        <p:nvSpPr>
          <p:cNvPr id="2" name="body-0">
            <a:extLst>
              <a:ext uri="{FF2B5EF4-FFF2-40B4-BE49-F238E27FC236}">
                <a16:creationId xmlns:a16="http://schemas.microsoft.com/office/drawing/2014/main" id="{DEBCDB28-95B6-4F57-BB4D-7E7B5C2F6A4D}"/>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Wisconsin Breast Cancer (Original)</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699 observations, nine cell-characteristic predictors.</a:t>
            </a:r>
          </a:p>
        </p:txBody>
      </p:sp>
      <p:sp>
        <p:nvSpPr>
          <p:cNvPr id="3" name="body-1">
            <a:extLst>
              <a:ext uri="{FF2B5EF4-FFF2-40B4-BE49-F238E27FC236}">
                <a16:creationId xmlns:a16="http://schemas.microsoft.com/office/drawing/2014/main" id="{6352B48F-79DD-495C-B1AA-DD0319DBB3EB}"/>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Predictors include clump thickness, cell size and shape, bare nuclei and mitoses. Sample ID is excluded from X.</a:t>
            </a:r>
          </a:p>
        </p:txBody>
      </p:sp>
      <p:sp>
        <p:nvSpPr>
          <p:cNvPr id="4" name="body-2">
            <a:extLst>
              <a:ext uri="{FF2B5EF4-FFF2-40B4-BE49-F238E27FC236}">
                <a16:creationId xmlns:a16="http://schemas.microsoft.com/office/drawing/2014/main" id="{21C23265-1BC3-4D72-8E50-4A07C869CD76}"/>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Class in our CSV: 0 = benign, 1 = malignant.</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16 observations have a missing bare-nuclei value.</a:t>
            </a:r>
          </a:p>
        </p:txBody>
      </p:sp>
      <p:sp>
        <p:nvSpPr>
          <p:cNvPr id="5" name="body-3">
            <a:extLst>
              <a:ext uri="{FF2B5EF4-FFF2-40B4-BE49-F238E27FC236}">
                <a16:creationId xmlns:a16="http://schemas.microsoft.com/office/drawing/2014/main" id="{3B5FCADA-A447-46B8-A1EF-554FC0837E14}"/>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645 distinct sample IDs: repeated IDs stay together in both the train/test split and cross-validation.</a:t>
            </a:r>
          </a:p>
        </p:txBody>
      </p:sp>
    </p:spTree>
    <p:extLst>
      <p:ext uri="{BB962C8B-B14F-4D97-AF65-F5344CB8AC3E}">
        <p14:creationId xmlns:p14="http://schemas.microsoft.com/office/powerpoint/2010/main" val="2888762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5D9784E-23EF-4DE9-B64C-E76E00B0A1A0}"/>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Overfitting and generalisation</a:t>
            </a:r>
          </a:p>
        </p:txBody>
      </p:sp>
      <p:sp>
        <p:nvSpPr>
          <p:cNvPr id="2" name="definition">
            <a:extLst>
              <a:ext uri="{FF2B5EF4-FFF2-40B4-BE49-F238E27FC236}">
                <a16:creationId xmlns:a16="http://schemas.microsoft.com/office/drawing/2014/main" id="{31F0AB14-C3F3-4A6A-872E-420108E889CC}"/>
              </a:ext>
            </a:extLst>
          </p:cNvPr>
          <p:cNvSpPr>
            <a:spLocks noGrp="1"/>
          </p:cNvSpPr>
          <p:nvPr/>
        </p:nvSpPr>
        <p:spPr>
          <a:xfrm>
            <a:off x="619125" y="1476375"/>
            <a:ext cx="7905750" cy="952500"/>
          </a:xfrm>
          <a:prstGeom prst="rect">
            <a:avLst/>
          </a:prstGeom>
          <a:noFill/>
          <a:ln w="0">
            <a:noFill/>
            <a:prstDash val="solid"/>
          </a:ln>
        </p:spPr>
        <p:txBody>
          <a:bodyPr lIns="0" tIns="0" rIns="0" bIns="0" anchor="t">
            <a:noAutofit/>
          </a:bodyPr>
          <a:lstStyle>
            <a:defPPr algn="l">
              <a:defRPr sz="2175" b="0">
                <a:solidFill>
                  <a:srgbClr val="111111"/>
                </a:solidFill>
                <a:latin typeface="Calibri"/>
                <a:ea typeface="Calibri"/>
                <a:cs typeface="Calibri"/>
              </a:defRPr>
            </a:defPPr>
            <a:lvl1pPr algn="l">
              <a:defRPr sz="2175" b="0">
                <a:solidFill>
                  <a:srgbClr val="111111"/>
                </a:solidFill>
                <a:latin typeface="Calibri"/>
                <a:ea typeface="Calibri"/>
                <a:cs typeface="Calibri"/>
              </a:defRPr>
            </a:lvl1pPr>
            <a:lvl2pPr algn="l">
              <a:defRPr sz="2175" b="0">
                <a:solidFill>
                  <a:srgbClr val="111111"/>
                </a:solidFill>
                <a:latin typeface="Calibri"/>
                <a:ea typeface="Calibri"/>
                <a:cs typeface="Calibri"/>
              </a:defRPr>
            </a:lvl2pPr>
            <a:lvl3pPr algn="l">
              <a:defRPr sz="2175" b="0">
                <a:solidFill>
                  <a:srgbClr val="111111"/>
                </a:solidFill>
                <a:latin typeface="Calibri"/>
                <a:ea typeface="Calibri"/>
                <a:cs typeface="Calibri"/>
              </a:defRPr>
            </a:lvl3pPr>
            <a:lvl4pPr algn="l">
              <a:defRPr sz="2175" b="0">
                <a:solidFill>
                  <a:srgbClr val="111111"/>
                </a:solidFill>
                <a:latin typeface="Calibri"/>
                <a:ea typeface="Calibri"/>
                <a:cs typeface="Calibri"/>
              </a:defRPr>
            </a:lvl4pPr>
            <a:lvl5pPr algn="l">
              <a:defRPr sz="2175" b="0">
                <a:solidFill>
                  <a:srgbClr val="111111"/>
                </a:solidFill>
                <a:latin typeface="Calibri"/>
                <a:ea typeface="Calibri"/>
                <a:cs typeface="Calibri"/>
              </a:defRPr>
            </a:lvl5pPr>
            <a:lvl6pPr algn="l">
              <a:defRPr sz="2175" b="0">
                <a:solidFill>
                  <a:srgbClr val="111111"/>
                </a:solidFill>
                <a:latin typeface="Calibri"/>
                <a:ea typeface="Calibri"/>
                <a:cs typeface="Calibri"/>
              </a:defRPr>
            </a:lvl6pPr>
            <a:lvl7pPr algn="l">
              <a:defRPr sz="2175" b="0">
                <a:solidFill>
                  <a:srgbClr val="111111"/>
                </a:solidFill>
                <a:latin typeface="Calibri"/>
                <a:ea typeface="Calibri"/>
                <a:cs typeface="Calibri"/>
              </a:defRPr>
            </a:lvl7pPr>
            <a:lvl8pPr algn="l">
              <a:defRPr sz="2175" b="0">
                <a:solidFill>
                  <a:srgbClr val="111111"/>
                </a:solidFill>
                <a:latin typeface="Calibri"/>
                <a:ea typeface="Calibri"/>
                <a:cs typeface="Calibri"/>
              </a:defRPr>
            </a:lvl8pPr>
            <a:lvl9pPr algn="l">
              <a:defRPr sz="2175" b="0">
                <a:solidFill>
                  <a:srgbClr val="111111"/>
                </a:solidFill>
                <a:latin typeface="Calibri"/>
                <a:ea typeface="Calibri"/>
                <a:cs typeface="Calibri"/>
              </a:defRPr>
            </a:lvl9pPr>
          </a:lstStyle>
          <a:p>
            <a:pPr algn="l">
              <a:defRPr sz="2175" b="0">
                <a:solidFill>
                  <a:srgbClr val="111111"/>
                </a:solidFill>
                <a:latin typeface="Calibri"/>
                <a:ea typeface="Calibri"/>
                <a:cs typeface="Calibri"/>
              </a:defRPr>
            </a:pPr>
            <a:r>
              <a:rPr sz="2175" b="0">
                <a:solidFill>
                  <a:srgbClr val="111111"/>
                </a:solidFill>
                <a:latin typeface="Calibri"/>
                <a:ea typeface="Calibri"/>
                <a:cs typeface="Calibri"/>
              </a:rPr>
              <a:t>An overly flexible model can fit training noise.</a:t>
            </a:r>
          </a:p>
          <a:p>
            <a:pPr algn="l">
              <a:defRPr sz="2175" b="0">
                <a:solidFill>
                  <a:srgbClr val="111111"/>
                </a:solidFill>
                <a:latin typeface="Calibri"/>
                <a:ea typeface="Calibri"/>
                <a:cs typeface="Calibri"/>
              </a:defRPr>
            </a:pPr>
            <a:r>
              <a:rPr sz="2175" b="0">
                <a:solidFill>
                  <a:srgbClr val="111111"/>
                </a:solidFill>
                <a:latin typeface="Calibri"/>
                <a:ea typeface="Calibri"/>
                <a:cs typeface="Calibri"/>
              </a:rPr>
              <a:t>Its performance may worsen on unseen observations.</a:t>
            </a:r>
          </a:p>
        </p:txBody>
      </p:sp>
      <p:pic>
        <p:nvPicPr>
          <p:cNvPr id="3" name="Picture 2">
            <a:extLst>
              <a:ext uri="{FF2B5EF4-FFF2-40B4-BE49-F238E27FC236}">
                <a16:creationId xmlns:a16="http://schemas.microsoft.com/office/drawing/2014/main" id="{C7F58D31-80B6-4380-97A0-2DC553B65E92}"/>
              </a:ext>
            </a:extLst>
          </p:cNvPr>
          <p:cNvPicPr>
            <a:picLocks noChangeAspect="1"/>
          </p:cNvPicPr>
          <p:nvPr/>
        </p:nvPicPr>
        <p:blipFill>
          <a:blip r:embed="rId3"/>
          <a:stretch/>
        </p:blipFill>
        <p:spPr>
          <a:xfrm>
            <a:off x="619125" y="2791301"/>
            <a:ext cx="7905750" cy="2608898"/>
          </a:xfrm>
          <a:prstGeom prst="rect">
            <a:avLst/>
          </a:prstGeom>
        </p:spPr>
      </p:pic>
      <p:sp>
        <p:nvSpPr>
          <p:cNvPr id="4" name="takeaway">
            <a:extLst>
              <a:ext uri="{FF2B5EF4-FFF2-40B4-BE49-F238E27FC236}">
                <a16:creationId xmlns:a16="http://schemas.microsoft.com/office/drawing/2014/main" id="{47A5A23D-5B19-4CD2-9ABD-15A8D649AC9F}"/>
              </a:ext>
            </a:extLst>
          </p:cNvPr>
          <p:cNvSpPr>
            <a:spLocks noGrp="1"/>
          </p:cNvSpPr>
          <p:nvPr/>
        </p:nvSpPr>
        <p:spPr>
          <a:xfrm>
            <a:off x="619125" y="5572125"/>
            <a:ext cx="7905750" cy="90487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Cross-validation helps compare generalisation.</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Regularisation and simpler models can reduce overfitting.</a:t>
            </a:r>
          </a:p>
        </p:txBody>
      </p:sp>
    </p:spTree>
    <p:extLst>
      <p:ext uri="{BB962C8B-B14F-4D97-AF65-F5344CB8AC3E}">
        <p14:creationId xmlns:p14="http://schemas.microsoft.com/office/powerpoint/2010/main" val="3552271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62EC3A74-82F0-45B5-AB5B-0D03E7DC9658}"/>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Training and test data</a:t>
            </a:r>
          </a:p>
        </p:txBody>
      </p:sp>
      <p:sp>
        <p:nvSpPr>
          <p:cNvPr id="2" name="body-0">
            <a:extLst>
              <a:ext uri="{FF2B5EF4-FFF2-40B4-BE49-F238E27FC236}">
                <a16:creationId xmlns:a16="http://schemas.microsoft.com/office/drawing/2014/main" id="{ED29C040-FE65-40B3-A0FB-71D8C42C3AF8}"/>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Training set: approximately 70%</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Use this for fitting, feature selection and model comparison.</a:t>
            </a:r>
          </a:p>
        </p:txBody>
      </p:sp>
      <p:sp>
        <p:nvSpPr>
          <p:cNvPr id="3" name="body-1">
            <a:extLst>
              <a:ext uri="{FF2B5EF4-FFF2-40B4-BE49-F238E27FC236}">
                <a16:creationId xmlns:a16="http://schemas.microsoft.com/office/drawing/2014/main" id="{C7CE476E-6728-4A91-A8FD-11F62C6BF35F}"/>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Test set: approximately 30%</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Keep this aside until the final model has been selected.</a:t>
            </a:r>
          </a:p>
        </p:txBody>
      </p:sp>
      <p:sp>
        <p:nvSpPr>
          <p:cNvPr id="4" name="body-2">
            <a:extLst>
              <a:ext uri="{FF2B5EF4-FFF2-40B4-BE49-F238E27FC236}">
                <a16:creationId xmlns:a16="http://schemas.microsoft.com/office/drawing/2014/main" id="{213CD171-350E-410B-B9D2-E0097863FF76}"/>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Fit preprocessing on training data only.</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Apply the fitted transformations to validation and test data.</a:t>
            </a:r>
          </a:p>
        </p:txBody>
      </p:sp>
      <p:sp>
        <p:nvSpPr>
          <p:cNvPr id="5" name="body-3">
            <a:extLst>
              <a:ext uri="{FF2B5EF4-FFF2-40B4-BE49-F238E27FC236}">
                <a16:creationId xmlns:a16="http://schemas.microsoft.com/office/drawing/2014/main" id="{B292B1D9-BED0-4C7A-B4F3-E89D86FC5177}"/>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For repeated patients or sample IDs, keep related observations in the same partition.</a:t>
            </a:r>
          </a:p>
        </p:txBody>
      </p:sp>
    </p:spTree>
    <p:extLst>
      <p:ext uri="{BB962C8B-B14F-4D97-AF65-F5344CB8AC3E}">
        <p14:creationId xmlns:p14="http://schemas.microsoft.com/office/powerpoint/2010/main" val="3976582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title">
            <a:extLst>
              <a:ext uri="{FF2B5EF4-FFF2-40B4-BE49-F238E27FC236}">
                <a16:creationId xmlns:a16="http://schemas.microsoft.com/office/drawing/2014/main" id="{BF02AB82-A3DF-4133-AD08-0D35BA5FACF9}"/>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Cross-validation within the training set</a:t>
            </a:r>
          </a:p>
        </p:txBody>
      </p:sp>
      <p:sp>
        <p:nvSpPr>
          <p:cNvPr id="2" name="setup">
            <a:extLst>
              <a:ext uri="{FF2B5EF4-FFF2-40B4-BE49-F238E27FC236}">
                <a16:creationId xmlns:a16="http://schemas.microsoft.com/office/drawing/2014/main" id="{31842F1D-420C-43D5-8F94-E77FFE7752CB}"/>
              </a:ext>
            </a:extLst>
          </p:cNvPr>
          <p:cNvSpPr>
            <a:spLocks noGrp="1"/>
          </p:cNvSpPr>
          <p:nvPr/>
        </p:nvSpPr>
        <p:spPr>
          <a:xfrm>
            <a:off x="619125" y="1381125"/>
            <a:ext cx="7905750" cy="7620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Keep the test set separate. Rotate the validation fold across the training set.</a:t>
            </a:r>
          </a:p>
        </p:txBody>
      </p:sp>
      <p:sp>
        <p:nvSpPr>
          <p:cNvPr id="3" name="fold-label-0">
            <a:extLst>
              <a:ext uri="{FF2B5EF4-FFF2-40B4-BE49-F238E27FC236}">
                <a16:creationId xmlns:a16="http://schemas.microsoft.com/office/drawing/2014/main" id="{2986B537-52FF-4CDB-9101-CB39ED1E37FF}"/>
              </a:ext>
            </a:extLst>
          </p:cNvPr>
          <p:cNvSpPr>
            <a:spLocks noGrp="1"/>
          </p:cNvSpPr>
          <p:nvPr/>
        </p:nvSpPr>
        <p:spPr>
          <a:xfrm>
            <a:off x="619125" y="2476500"/>
            <a:ext cx="1238250" cy="381000"/>
          </a:xfrm>
          <a:prstGeom prst="rect">
            <a:avLst/>
          </a:prstGeom>
          <a:noFill/>
          <a:ln w="0">
            <a:noFill/>
            <a:prstDash val="solid"/>
          </a:ln>
        </p:spPr>
        <p:txBody>
          <a:bodyPr lIns="0" tIns="0" rIns="0" bIns="0" anchor="t">
            <a:noAutofit/>
          </a:bodyPr>
          <a:lstStyle>
            <a:defPPr algn="l">
              <a:defRPr sz="1725" b="0">
                <a:solidFill>
                  <a:srgbClr val="111111"/>
                </a:solidFill>
                <a:latin typeface="Calibri"/>
                <a:ea typeface="Calibri"/>
                <a:cs typeface="Calibri"/>
              </a:defRPr>
            </a:defPPr>
            <a:lvl1pPr algn="l">
              <a:defRPr sz="1725" b="0">
                <a:solidFill>
                  <a:srgbClr val="111111"/>
                </a:solidFill>
                <a:latin typeface="Calibri"/>
                <a:ea typeface="Calibri"/>
                <a:cs typeface="Calibri"/>
              </a:defRPr>
            </a:lvl1pPr>
            <a:lvl2pPr algn="l">
              <a:defRPr sz="1725" b="0">
                <a:solidFill>
                  <a:srgbClr val="111111"/>
                </a:solidFill>
                <a:latin typeface="Calibri"/>
                <a:ea typeface="Calibri"/>
                <a:cs typeface="Calibri"/>
              </a:defRPr>
            </a:lvl2pPr>
            <a:lvl3pPr algn="l">
              <a:defRPr sz="1725" b="0">
                <a:solidFill>
                  <a:srgbClr val="111111"/>
                </a:solidFill>
                <a:latin typeface="Calibri"/>
                <a:ea typeface="Calibri"/>
                <a:cs typeface="Calibri"/>
              </a:defRPr>
            </a:lvl3pPr>
            <a:lvl4pPr algn="l">
              <a:defRPr sz="1725" b="0">
                <a:solidFill>
                  <a:srgbClr val="111111"/>
                </a:solidFill>
                <a:latin typeface="Calibri"/>
                <a:ea typeface="Calibri"/>
                <a:cs typeface="Calibri"/>
              </a:defRPr>
            </a:lvl4pPr>
            <a:lvl5pPr algn="l">
              <a:defRPr sz="1725" b="0">
                <a:solidFill>
                  <a:srgbClr val="111111"/>
                </a:solidFill>
                <a:latin typeface="Calibri"/>
                <a:ea typeface="Calibri"/>
                <a:cs typeface="Calibri"/>
              </a:defRPr>
            </a:lvl5pPr>
            <a:lvl6pPr algn="l">
              <a:defRPr sz="1725" b="0">
                <a:solidFill>
                  <a:srgbClr val="111111"/>
                </a:solidFill>
                <a:latin typeface="Calibri"/>
                <a:ea typeface="Calibri"/>
                <a:cs typeface="Calibri"/>
              </a:defRPr>
            </a:lvl6pPr>
            <a:lvl7pPr algn="l">
              <a:defRPr sz="1725" b="0">
                <a:solidFill>
                  <a:srgbClr val="111111"/>
                </a:solidFill>
                <a:latin typeface="Calibri"/>
                <a:ea typeface="Calibri"/>
                <a:cs typeface="Calibri"/>
              </a:defRPr>
            </a:lvl7pPr>
            <a:lvl8pPr algn="l">
              <a:defRPr sz="1725" b="0">
                <a:solidFill>
                  <a:srgbClr val="111111"/>
                </a:solidFill>
                <a:latin typeface="Calibri"/>
                <a:ea typeface="Calibri"/>
                <a:cs typeface="Calibri"/>
              </a:defRPr>
            </a:lvl8pPr>
            <a:lvl9pPr algn="l">
              <a:defRPr sz="1725" b="0">
                <a:solidFill>
                  <a:srgbClr val="111111"/>
                </a:solidFill>
                <a:latin typeface="Calibri"/>
                <a:ea typeface="Calibri"/>
                <a:cs typeface="Calibri"/>
              </a:defRPr>
            </a:lvl9pPr>
          </a:lstStyle>
          <a:p>
            <a:pPr algn="l">
              <a:defRPr sz="1725" b="0">
                <a:solidFill>
                  <a:srgbClr val="111111"/>
                </a:solidFill>
                <a:latin typeface="Calibri"/>
                <a:ea typeface="Calibri"/>
                <a:cs typeface="Calibri"/>
              </a:defRPr>
            </a:pPr>
            <a:r>
              <a:rPr sz="1725" b="0">
                <a:solidFill>
                  <a:srgbClr val="111111"/>
                </a:solidFill>
                <a:latin typeface="Calibri"/>
                <a:ea typeface="Calibri"/>
                <a:cs typeface="Calibri"/>
              </a:rPr>
              <a:t>Round 1</a:t>
            </a:r>
          </a:p>
        </p:txBody>
      </p:sp>
      <p:sp>
        <p:nvSpPr>
          <p:cNvPr id="4" name="Rectangle 3">
            <a:extLst>
              <a:ext uri="{FF2B5EF4-FFF2-40B4-BE49-F238E27FC236}">
                <a16:creationId xmlns:a16="http://schemas.microsoft.com/office/drawing/2014/main" id="{484B5E4F-AD50-4271-88E6-A23378DCF29C}"/>
              </a:ext>
            </a:extLst>
          </p:cNvPr>
          <p:cNvSpPr>
            <a:spLocks noGrp="1"/>
          </p:cNvSpPr>
          <p:nvPr/>
        </p:nvSpPr>
        <p:spPr>
          <a:xfrm>
            <a:off x="2000250" y="2400300"/>
            <a:ext cx="914400" cy="419100"/>
          </a:xfrm>
          <a:prstGeom prst="rect">
            <a:avLst/>
          </a:prstGeom>
          <a:solidFill>
            <a:srgbClr val="337AA5"/>
          </a:solidFill>
          <a:ln w="0">
            <a:noFill/>
            <a:prstDash val="solid"/>
          </a:ln>
        </p:spPr>
        <p:txBody>
          <a:bodyPr/>
          <a:lstStyle/>
          <a:p>
            <a:endParaRPr lang="en-US"/>
          </a:p>
        </p:txBody>
      </p:sp>
      <p:sp>
        <p:nvSpPr>
          <p:cNvPr id="5" name="fold-0-0">
            <a:extLst>
              <a:ext uri="{FF2B5EF4-FFF2-40B4-BE49-F238E27FC236}">
                <a16:creationId xmlns:a16="http://schemas.microsoft.com/office/drawing/2014/main" id="{69434330-536F-4698-8F87-D7BAB9DAF2E5}"/>
              </a:ext>
            </a:extLst>
          </p:cNvPr>
          <p:cNvSpPr>
            <a:spLocks noGrp="1"/>
          </p:cNvSpPr>
          <p:nvPr/>
        </p:nvSpPr>
        <p:spPr>
          <a:xfrm>
            <a:off x="2038350" y="2505075"/>
            <a:ext cx="838200" cy="266700"/>
          </a:xfrm>
          <a:prstGeom prst="rect">
            <a:avLst/>
          </a:prstGeom>
          <a:noFill/>
          <a:ln w="0">
            <a:noFill/>
            <a:prstDash val="solid"/>
          </a:ln>
        </p:spPr>
        <p:txBody>
          <a:bodyPr lIns="0" tIns="0" rIns="0" bIns="0" anchor="t">
            <a:noAutofit/>
          </a:bodyPr>
          <a:lstStyle>
            <a:defPPr algn="ctr">
              <a:defRPr sz="1350" b="0">
                <a:solidFill>
                  <a:srgbClr val="FFFFFF"/>
                </a:solidFill>
                <a:latin typeface="Calibri"/>
                <a:ea typeface="Calibri"/>
                <a:cs typeface="Calibri"/>
              </a:defRPr>
            </a:defPPr>
            <a:lvl1pPr algn="ctr">
              <a:defRPr sz="1350" b="0">
                <a:solidFill>
                  <a:srgbClr val="FFFFFF"/>
                </a:solidFill>
                <a:latin typeface="Calibri"/>
                <a:ea typeface="Calibri"/>
                <a:cs typeface="Calibri"/>
              </a:defRPr>
            </a:lvl1pPr>
            <a:lvl2pPr algn="ctr">
              <a:defRPr sz="1350" b="0">
                <a:solidFill>
                  <a:srgbClr val="FFFFFF"/>
                </a:solidFill>
                <a:latin typeface="Calibri"/>
                <a:ea typeface="Calibri"/>
                <a:cs typeface="Calibri"/>
              </a:defRPr>
            </a:lvl2pPr>
            <a:lvl3pPr algn="ctr">
              <a:defRPr sz="1350" b="0">
                <a:solidFill>
                  <a:srgbClr val="FFFFFF"/>
                </a:solidFill>
                <a:latin typeface="Calibri"/>
                <a:ea typeface="Calibri"/>
                <a:cs typeface="Calibri"/>
              </a:defRPr>
            </a:lvl3pPr>
            <a:lvl4pPr algn="ctr">
              <a:defRPr sz="1350" b="0">
                <a:solidFill>
                  <a:srgbClr val="FFFFFF"/>
                </a:solidFill>
                <a:latin typeface="Calibri"/>
                <a:ea typeface="Calibri"/>
                <a:cs typeface="Calibri"/>
              </a:defRPr>
            </a:lvl4pPr>
            <a:lvl5pPr algn="ctr">
              <a:defRPr sz="1350" b="0">
                <a:solidFill>
                  <a:srgbClr val="FFFFFF"/>
                </a:solidFill>
                <a:latin typeface="Calibri"/>
                <a:ea typeface="Calibri"/>
                <a:cs typeface="Calibri"/>
              </a:defRPr>
            </a:lvl5pPr>
            <a:lvl6pPr algn="ctr">
              <a:defRPr sz="1350" b="0">
                <a:solidFill>
                  <a:srgbClr val="FFFFFF"/>
                </a:solidFill>
                <a:latin typeface="Calibri"/>
                <a:ea typeface="Calibri"/>
                <a:cs typeface="Calibri"/>
              </a:defRPr>
            </a:lvl6pPr>
            <a:lvl7pPr algn="ctr">
              <a:defRPr sz="1350" b="0">
                <a:solidFill>
                  <a:srgbClr val="FFFFFF"/>
                </a:solidFill>
                <a:latin typeface="Calibri"/>
                <a:ea typeface="Calibri"/>
                <a:cs typeface="Calibri"/>
              </a:defRPr>
            </a:lvl7pPr>
            <a:lvl8pPr algn="ctr">
              <a:defRPr sz="1350" b="0">
                <a:solidFill>
                  <a:srgbClr val="FFFFFF"/>
                </a:solidFill>
                <a:latin typeface="Calibri"/>
                <a:ea typeface="Calibri"/>
                <a:cs typeface="Calibri"/>
              </a:defRPr>
            </a:lvl8pPr>
            <a:lvl9pPr algn="ctr">
              <a:defRPr sz="1350" b="0">
                <a:solidFill>
                  <a:srgbClr val="FFFFFF"/>
                </a:solidFill>
                <a:latin typeface="Calibri"/>
                <a:ea typeface="Calibri"/>
                <a:cs typeface="Calibri"/>
              </a:defRPr>
            </a:lvl9pPr>
          </a:lstStyle>
          <a:p>
            <a:pPr algn="ctr">
              <a:defRPr sz="1350" b="0">
                <a:solidFill>
                  <a:srgbClr val="FFFFFF"/>
                </a:solidFill>
                <a:latin typeface="Calibri"/>
                <a:ea typeface="Calibri"/>
                <a:cs typeface="Calibri"/>
              </a:defRPr>
            </a:pPr>
            <a:r>
              <a:rPr sz="1350" b="0">
                <a:solidFill>
                  <a:srgbClr val="FFFFFF"/>
                </a:solidFill>
                <a:latin typeface="Calibri"/>
                <a:ea typeface="Calibri"/>
                <a:cs typeface="Calibri"/>
              </a:rPr>
              <a:t>Validate</a:t>
            </a:r>
          </a:p>
        </p:txBody>
      </p:sp>
      <p:sp>
        <p:nvSpPr>
          <p:cNvPr id="6" name="Rectangle 5">
            <a:extLst>
              <a:ext uri="{FF2B5EF4-FFF2-40B4-BE49-F238E27FC236}">
                <a16:creationId xmlns:a16="http://schemas.microsoft.com/office/drawing/2014/main" id="{4FE94D3A-D535-4E90-814A-F326EB105BC8}"/>
              </a:ext>
            </a:extLst>
          </p:cNvPr>
          <p:cNvSpPr>
            <a:spLocks noGrp="1"/>
          </p:cNvSpPr>
          <p:nvPr/>
        </p:nvSpPr>
        <p:spPr>
          <a:xfrm>
            <a:off x="3000375" y="2400300"/>
            <a:ext cx="914400" cy="419100"/>
          </a:xfrm>
          <a:prstGeom prst="rect">
            <a:avLst/>
          </a:prstGeom>
          <a:solidFill>
            <a:srgbClr val="E3E7EA"/>
          </a:solidFill>
          <a:ln w="0">
            <a:noFill/>
            <a:prstDash val="solid"/>
          </a:ln>
        </p:spPr>
        <p:txBody>
          <a:bodyPr/>
          <a:lstStyle/>
          <a:p>
            <a:endParaRPr lang="en-US"/>
          </a:p>
        </p:txBody>
      </p:sp>
      <p:sp>
        <p:nvSpPr>
          <p:cNvPr id="7" name="fold-0-1">
            <a:extLst>
              <a:ext uri="{FF2B5EF4-FFF2-40B4-BE49-F238E27FC236}">
                <a16:creationId xmlns:a16="http://schemas.microsoft.com/office/drawing/2014/main" id="{0A5F5B3B-70B4-4DE3-92E4-114A70F1C2F0}"/>
              </a:ext>
            </a:extLst>
          </p:cNvPr>
          <p:cNvSpPr>
            <a:spLocks noGrp="1"/>
          </p:cNvSpPr>
          <p:nvPr/>
        </p:nvSpPr>
        <p:spPr>
          <a:xfrm>
            <a:off x="3038475" y="25050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8" name="Rectangle 7">
            <a:extLst>
              <a:ext uri="{FF2B5EF4-FFF2-40B4-BE49-F238E27FC236}">
                <a16:creationId xmlns:a16="http://schemas.microsoft.com/office/drawing/2014/main" id="{058E929B-4C7D-4366-A242-B18823A8A789}"/>
              </a:ext>
            </a:extLst>
          </p:cNvPr>
          <p:cNvSpPr>
            <a:spLocks noGrp="1"/>
          </p:cNvSpPr>
          <p:nvPr/>
        </p:nvSpPr>
        <p:spPr>
          <a:xfrm>
            <a:off x="4000500" y="2400300"/>
            <a:ext cx="914400" cy="419100"/>
          </a:xfrm>
          <a:prstGeom prst="rect">
            <a:avLst/>
          </a:prstGeom>
          <a:solidFill>
            <a:srgbClr val="E3E7EA"/>
          </a:solidFill>
          <a:ln w="0">
            <a:noFill/>
            <a:prstDash val="solid"/>
          </a:ln>
        </p:spPr>
        <p:txBody>
          <a:bodyPr/>
          <a:lstStyle/>
          <a:p>
            <a:endParaRPr lang="en-US"/>
          </a:p>
        </p:txBody>
      </p:sp>
      <p:sp>
        <p:nvSpPr>
          <p:cNvPr id="9" name="fold-0-2">
            <a:extLst>
              <a:ext uri="{FF2B5EF4-FFF2-40B4-BE49-F238E27FC236}">
                <a16:creationId xmlns:a16="http://schemas.microsoft.com/office/drawing/2014/main" id="{0A19325F-1E49-497B-A090-D04C6184D182}"/>
              </a:ext>
            </a:extLst>
          </p:cNvPr>
          <p:cNvSpPr>
            <a:spLocks noGrp="1"/>
          </p:cNvSpPr>
          <p:nvPr/>
        </p:nvSpPr>
        <p:spPr>
          <a:xfrm>
            <a:off x="4038600" y="25050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10" name="Rectangle 9">
            <a:extLst>
              <a:ext uri="{FF2B5EF4-FFF2-40B4-BE49-F238E27FC236}">
                <a16:creationId xmlns:a16="http://schemas.microsoft.com/office/drawing/2014/main" id="{CE802B1C-58D3-49FA-909D-2D33E8500BAB}"/>
              </a:ext>
            </a:extLst>
          </p:cNvPr>
          <p:cNvSpPr>
            <a:spLocks noGrp="1"/>
          </p:cNvSpPr>
          <p:nvPr/>
        </p:nvSpPr>
        <p:spPr>
          <a:xfrm>
            <a:off x="5000625" y="2400300"/>
            <a:ext cx="914400" cy="419100"/>
          </a:xfrm>
          <a:prstGeom prst="rect">
            <a:avLst/>
          </a:prstGeom>
          <a:solidFill>
            <a:srgbClr val="E3E7EA"/>
          </a:solidFill>
          <a:ln w="0">
            <a:noFill/>
            <a:prstDash val="solid"/>
          </a:ln>
        </p:spPr>
        <p:txBody>
          <a:bodyPr/>
          <a:lstStyle/>
          <a:p>
            <a:endParaRPr lang="en-US"/>
          </a:p>
        </p:txBody>
      </p:sp>
      <p:sp>
        <p:nvSpPr>
          <p:cNvPr id="11" name="fold-0-3">
            <a:extLst>
              <a:ext uri="{FF2B5EF4-FFF2-40B4-BE49-F238E27FC236}">
                <a16:creationId xmlns:a16="http://schemas.microsoft.com/office/drawing/2014/main" id="{0496FE6E-4F37-4CB6-A5E2-AB6C1C2D63EF}"/>
              </a:ext>
            </a:extLst>
          </p:cNvPr>
          <p:cNvSpPr>
            <a:spLocks noGrp="1"/>
          </p:cNvSpPr>
          <p:nvPr/>
        </p:nvSpPr>
        <p:spPr>
          <a:xfrm>
            <a:off x="5038725" y="25050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12" name="Rectangle 11">
            <a:extLst>
              <a:ext uri="{FF2B5EF4-FFF2-40B4-BE49-F238E27FC236}">
                <a16:creationId xmlns:a16="http://schemas.microsoft.com/office/drawing/2014/main" id="{42D01982-43DB-4AFA-86F8-D910653DFBC0}"/>
              </a:ext>
            </a:extLst>
          </p:cNvPr>
          <p:cNvSpPr>
            <a:spLocks noGrp="1"/>
          </p:cNvSpPr>
          <p:nvPr/>
        </p:nvSpPr>
        <p:spPr>
          <a:xfrm>
            <a:off x="6000750" y="2400300"/>
            <a:ext cx="914400" cy="419100"/>
          </a:xfrm>
          <a:prstGeom prst="rect">
            <a:avLst/>
          </a:prstGeom>
          <a:solidFill>
            <a:srgbClr val="E3E7EA"/>
          </a:solidFill>
          <a:ln w="0">
            <a:noFill/>
            <a:prstDash val="solid"/>
          </a:ln>
        </p:spPr>
        <p:txBody>
          <a:bodyPr/>
          <a:lstStyle/>
          <a:p>
            <a:endParaRPr lang="en-US"/>
          </a:p>
        </p:txBody>
      </p:sp>
      <p:sp>
        <p:nvSpPr>
          <p:cNvPr id="13" name="fold-0-4">
            <a:extLst>
              <a:ext uri="{FF2B5EF4-FFF2-40B4-BE49-F238E27FC236}">
                <a16:creationId xmlns:a16="http://schemas.microsoft.com/office/drawing/2014/main" id="{61541E8F-B2FE-4CC4-B1BF-4D95E41A3864}"/>
              </a:ext>
            </a:extLst>
          </p:cNvPr>
          <p:cNvSpPr>
            <a:spLocks noGrp="1"/>
          </p:cNvSpPr>
          <p:nvPr/>
        </p:nvSpPr>
        <p:spPr>
          <a:xfrm>
            <a:off x="6038850" y="25050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14" name="fold-label-1">
            <a:extLst>
              <a:ext uri="{FF2B5EF4-FFF2-40B4-BE49-F238E27FC236}">
                <a16:creationId xmlns:a16="http://schemas.microsoft.com/office/drawing/2014/main" id="{EFEB64C4-155F-4EF5-879E-ADF783056080}"/>
              </a:ext>
            </a:extLst>
          </p:cNvPr>
          <p:cNvSpPr>
            <a:spLocks noGrp="1"/>
          </p:cNvSpPr>
          <p:nvPr/>
        </p:nvSpPr>
        <p:spPr>
          <a:xfrm>
            <a:off x="619125" y="3028950"/>
            <a:ext cx="1238250" cy="381000"/>
          </a:xfrm>
          <a:prstGeom prst="rect">
            <a:avLst/>
          </a:prstGeom>
          <a:noFill/>
          <a:ln w="0">
            <a:noFill/>
            <a:prstDash val="solid"/>
          </a:ln>
        </p:spPr>
        <p:txBody>
          <a:bodyPr lIns="0" tIns="0" rIns="0" bIns="0" anchor="t">
            <a:noAutofit/>
          </a:bodyPr>
          <a:lstStyle>
            <a:defPPr algn="l">
              <a:defRPr sz="1725" b="0">
                <a:solidFill>
                  <a:srgbClr val="111111"/>
                </a:solidFill>
                <a:latin typeface="Calibri"/>
                <a:ea typeface="Calibri"/>
                <a:cs typeface="Calibri"/>
              </a:defRPr>
            </a:defPPr>
            <a:lvl1pPr algn="l">
              <a:defRPr sz="1725" b="0">
                <a:solidFill>
                  <a:srgbClr val="111111"/>
                </a:solidFill>
                <a:latin typeface="Calibri"/>
                <a:ea typeface="Calibri"/>
                <a:cs typeface="Calibri"/>
              </a:defRPr>
            </a:lvl1pPr>
            <a:lvl2pPr algn="l">
              <a:defRPr sz="1725" b="0">
                <a:solidFill>
                  <a:srgbClr val="111111"/>
                </a:solidFill>
                <a:latin typeface="Calibri"/>
                <a:ea typeface="Calibri"/>
                <a:cs typeface="Calibri"/>
              </a:defRPr>
            </a:lvl2pPr>
            <a:lvl3pPr algn="l">
              <a:defRPr sz="1725" b="0">
                <a:solidFill>
                  <a:srgbClr val="111111"/>
                </a:solidFill>
                <a:latin typeface="Calibri"/>
                <a:ea typeface="Calibri"/>
                <a:cs typeface="Calibri"/>
              </a:defRPr>
            </a:lvl3pPr>
            <a:lvl4pPr algn="l">
              <a:defRPr sz="1725" b="0">
                <a:solidFill>
                  <a:srgbClr val="111111"/>
                </a:solidFill>
                <a:latin typeface="Calibri"/>
                <a:ea typeface="Calibri"/>
                <a:cs typeface="Calibri"/>
              </a:defRPr>
            </a:lvl4pPr>
            <a:lvl5pPr algn="l">
              <a:defRPr sz="1725" b="0">
                <a:solidFill>
                  <a:srgbClr val="111111"/>
                </a:solidFill>
                <a:latin typeface="Calibri"/>
                <a:ea typeface="Calibri"/>
                <a:cs typeface="Calibri"/>
              </a:defRPr>
            </a:lvl5pPr>
            <a:lvl6pPr algn="l">
              <a:defRPr sz="1725" b="0">
                <a:solidFill>
                  <a:srgbClr val="111111"/>
                </a:solidFill>
                <a:latin typeface="Calibri"/>
                <a:ea typeface="Calibri"/>
                <a:cs typeface="Calibri"/>
              </a:defRPr>
            </a:lvl6pPr>
            <a:lvl7pPr algn="l">
              <a:defRPr sz="1725" b="0">
                <a:solidFill>
                  <a:srgbClr val="111111"/>
                </a:solidFill>
                <a:latin typeface="Calibri"/>
                <a:ea typeface="Calibri"/>
                <a:cs typeface="Calibri"/>
              </a:defRPr>
            </a:lvl7pPr>
            <a:lvl8pPr algn="l">
              <a:defRPr sz="1725" b="0">
                <a:solidFill>
                  <a:srgbClr val="111111"/>
                </a:solidFill>
                <a:latin typeface="Calibri"/>
                <a:ea typeface="Calibri"/>
                <a:cs typeface="Calibri"/>
              </a:defRPr>
            </a:lvl8pPr>
            <a:lvl9pPr algn="l">
              <a:defRPr sz="1725" b="0">
                <a:solidFill>
                  <a:srgbClr val="111111"/>
                </a:solidFill>
                <a:latin typeface="Calibri"/>
                <a:ea typeface="Calibri"/>
                <a:cs typeface="Calibri"/>
              </a:defRPr>
            </a:lvl9pPr>
          </a:lstStyle>
          <a:p>
            <a:pPr algn="l">
              <a:defRPr sz="1725" b="0">
                <a:solidFill>
                  <a:srgbClr val="111111"/>
                </a:solidFill>
                <a:latin typeface="Calibri"/>
                <a:ea typeface="Calibri"/>
                <a:cs typeface="Calibri"/>
              </a:defRPr>
            </a:pPr>
            <a:r>
              <a:rPr sz="1725" b="0">
                <a:solidFill>
                  <a:srgbClr val="111111"/>
                </a:solidFill>
                <a:latin typeface="Calibri"/>
                <a:ea typeface="Calibri"/>
                <a:cs typeface="Calibri"/>
              </a:rPr>
              <a:t>Round 2</a:t>
            </a:r>
          </a:p>
        </p:txBody>
      </p:sp>
      <p:sp>
        <p:nvSpPr>
          <p:cNvPr id="15" name="Rectangle 14">
            <a:extLst>
              <a:ext uri="{FF2B5EF4-FFF2-40B4-BE49-F238E27FC236}">
                <a16:creationId xmlns:a16="http://schemas.microsoft.com/office/drawing/2014/main" id="{F3BADC55-3FFF-4846-9229-93D2100ED3E0}"/>
              </a:ext>
            </a:extLst>
          </p:cNvPr>
          <p:cNvSpPr>
            <a:spLocks noGrp="1"/>
          </p:cNvSpPr>
          <p:nvPr/>
        </p:nvSpPr>
        <p:spPr>
          <a:xfrm>
            <a:off x="2000250" y="2952750"/>
            <a:ext cx="914400" cy="419100"/>
          </a:xfrm>
          <a:prstGeom prst="rect">
            <a:avLst/>
          </a:prstGeom>
          <a:solidFill>
            <a:srgbClr val="E3E7EA"/>
          </a:solidFill>
          <a:ln w="0">
            <a:noFill/>
            <a:prstDash val="solid"/>
          </a:ln>
        </p:spPr>
        <p:txBody>
          <a:bodyPr/>
          <a:lstStyle/>
          <a:p>
            <a:endParaRPr lang="en-US"/>
          </a:p>
        </p:txBody>
      </p:sp>
      <p:sp>
        <p:nvSpPr>
          <p:cNvPr id="16" name="fold-1-0">
            <a:extLst>
              <a:ext uri="{FF2B5EF4-FFF2-40B4-BE49-F238E27FC236}">
                <a16:creationId xmlns:a16="http://schemas.microsoft.com/office/drawing/2014/main" id="{37226AE4-C628-421C-A6E2-25D0A26C3E73}"/>
              </a:ext>
            </a:extLst>
          </p:cNvPr>
          <p:cNvSpPr>
            <a:spLocks noGrp="1"/>
          </p:cNvSpPr>
          <p:nvPr/>
        </p:nvSpPr>
        <p:spPr>
          <a:xfrm>
            <a:off x="2038350" y="30575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17" name="Rectangle 16">
            <a:extLst>
              <a:ext uri="{FF2B5EF4-FFF2-40B4-BE49-F238E27FC236}">
                <a16:creationId xmlns:a16="http://schemas.microsoft.com/office/drawing/2014/main" id="{19953375-7A66-4BC9-873B-1C0553F570F0}"/>
              </a:ext>
            </a:extLst>
          </p:cNvPr>
          <p:cNvSpPr>
            <a:spLocks noGrp="1"/>
          </p:cNvSpPr>
          <p:nvPr/>
        </p:nvSpPr>
        <p:spPr>
          <a:xfrm>
            <a:off x="3000375" y="2952750"/>
            <a:ext cx="914400" cy="419100"/>
          </a:xfrm>
          <a:prstGeom prst="rect">
            <a:avLst/>
          </a:prstGeom>
          <a:solidFill>
            <a:srgbClr val="337AA5"/>
          </a:solidFill>
          <a:ln w="0">
            <a:noFill/>
            <a:prstDash val="solid"/>
          </a:ln>
        </p:spPr>
        <p:txBody>
          <a:bodyPr/>
          <a:lstStyle/>
          <a:p>
            <a:endParaRPr lang="en-US"/>
          </a:p>
        </p:txBody>
      </p:sp>
      <p:sp>
        <p:nvSpPr>
          <p:cNvPr id="18" name="fold-1-1">
            <a:extLst>
              <a:ext uri="{FF2B5EF4-FFF2-40B4-BE49-F238E27FC236}">
                <a16:creationId xmlns:a16="http://schemas.microsoft.com/office/drawing/2014/main" id="{EDC61029-E21B-4645-B1E8-9DB3A82C43A1}"/>
              </a:ext>
            </a:extLst>
          </p:cNvPr>
          <p:cNvSpPr>
            <a:spLocks noGrp="1"/>
          </p:cNvSpPr>
          <p:nvPr/>
        </p:nvSpPr>
        <p:spPr>
          <a:xfrm>
            <a:off x="3038475" y="3057525"/>
            <a:ext cx="838200" cy="266700"/>
          </a:xfrm>
          <a:prstGeom prst="rect">
            <a:avLst/>
          </a:prstGeom>
          <a:noFill/>
          <a:ln w="0">
            <a:noFill/>
            <a:prstDash val="solid"/>
          </a:ln>
        </p:spPr>
        <p:txBody>
          <a:bodyPr lIns="0" tIns="0" rIns="0" bIns="0" anchor="t">
            <a:noAutofit/>
          </a:bodyPr>
          <a:lstStyle>
            <a:defPPr algn="ctr">
              <a:defRPr sz="1350" b="0">
                <a:solidFill>
                  <a:srgbClr val="FFFFFF"/>
                </a:solidFill>
                <a:latin typeface="Calibri"/>
                <a:ea typeface="Calibri"/>
                <a:cs typeface="Calibri"/>
              </a:defRPr>
            </a:defPPr>
            <a:lvl1pPr algn="ctr">
              <a:defRPr sz="1350" b="0">
                <a:solidFill>
                  <a:srgbClr val="FFFFFF"/>
                </a:solidFill>
                <a:latin typeface="Calibri"/>
                <a:ea typeface="Calibri"/>
                <a:cs typeface="Calibri"/>
              </a:defRPr>
            </a:lvl1pPr>
            <a:lvl2pPr algn="ctr">
              <a:defRPr sz="1350" b="0">
                <a:solidFill>
                  <a:srgbClr val="FFFFFF"/>
                </a:solidFill>
                <a:latin typeface="Calibri"/>
                <a:ea typeface="Calibri"/>
                <a:cs typeface="Calibri"/>
              </a:defRPr>
            </a:lvl2pPr>
            <a:lvl3pPr algn="ctr">
              <a:defRPr sz="1350" b="0">
                <a:solidFill>
                  <a:srgbClr val="FFFFFF"/>
                </a:solidFill>
                <a:latin typeface="Calibri"/>
                <a:ea typeface="Calibri"/>
                <a:cs typeface="Calibri"/>
              </a:defRPr>
            </a:lvl3pPr>
            <a:lvl4pPr algn="ctr">
              <a:defRPr sz="1350" b="0">
                <a:solidFill>
                  <a:srgbClr val="FFFFFF"/>
                </a:solidFill>
                <a:latin typeface="Calibri"/>
                <a:ea typeface="Calibri"/>
                <a:cs typeface="Calibri"/>
              </a:defRPr>
            </a:lvl4pPr>
            <a:lvl5pPr algn="ctr">
              <a:defRPr sz="1350" b="0">
                <a:solidFill>
                  <a:srgbClr val="FFFFFF"/>
                </a:solidFill>
                <a:latin typeface="Calibri"/>
                <a:ea typeface="Calibri"/>
                <a:cs typeface="Calibri"/>
              </a:defRPr>
            </a:lvl5pPr>
            <a:lvl6pPr algn="ctr">
              <a:defRPr sz="1350" b="0">
                <a:solidFill>
                  <a:srgbClr val="FFFFFF"/>
                </a:solidFill>
                <a:latin typeface="Calibri"/>
                <a:ea typeface="Calibri"/>
                <a:cs typeface="Calibri"/>
              </a:defRPr>
            </a:lvl6pPr>
            <a:lvl7pPr algn="ctr">
              <a:defRPr sz="1350" b="0">
                <a:solidFill>
                  <a:srgbClr val="FFFFFF"/>
                </a:solidFill>
                <a:latin typeface="Calibri"/>
                <a:ea typeface="Calibri"/>
                <a:cs typeface="Calibri"/>
              </a:defRPr>
            </a:lvl7pPr>
            <a:lvl8pPr algn="ctr">
              <a:defRPr sz="1350" b="0">
                <a:solidFill>
                  <a:srgbClr val="FFFFFF"/>
                </a:solidFill>
                <a:latin typeface="Calibri"/>
                <a:ea typeface="Calibri"/>
                <a:cs typeface="Calibri"/>
              </a:defRPr>
            </a:lvl8pPr>
            <a:lvl9pPr algn="ctr">
              <a:defRPr sz="1350" b="0">
                <a:solidFill>
                  <a:srgbClr val="FFFFFF"/>
                </a:solidFill>
                <a:latin typeface="Calibri"/>
                <a:ea typeface="Calibri"/>
                <a:cs typeface="Calibri"/>
              </a:defRPr>
            </a:lvl9pPr>
          </a:lstStyle>
          <a:p>
            <a:pPr algn="ctr">
              <a:defRPr sz="1350" b="0">
                <a:solidFill>
                  <a:srgbClr val="FFFFFF"/>
                </a:solidFill>
                <a:latin typeface="Calibri"/>
                <a:ea typeface="Calibri"/>
                <a:cs typeface="Calibri"/>
              </a:defRPr>
            </a:pPr>
            <a:r>
              <a:rPr sz="1350" b="0">
                <a:solidFill>
                  <a:srgbClr val="FFFFFF"/>
                </a:solidFill>
                <a:latin typeface="Calibri"/>
                <a:ea typeface="Calibri"/>
                <a:cs typeface="Calibri"/>
              </a:rPr>
              <a:t>Validate</a:t>
            </a:r>
          </a:p>
        </p:txBody>
      </p:sp>
      <p:sp>
        <p:nvSpPr>
          <p:cNvPr id="19" name="Rectangle 18">
            <a:extLst>
              <a:ext uri="{FF2B5EF4-FFF2-40B4-BE49-F238E27FC236}">
                <a16:creationId xmlns:a16="http://schemas.microsoft.com/office/drawing/2014/main" id="{E3092C0F-22B0-4574-ABCE-E92CEA189CE2}"/>
              </a:ext>
            </a:extLst>
          </p:cNvPr>
          <p:cNvSpPr>
            <a:spLocks noGrp="1"/>
          </p:cNvSpPr>
          <p:nvPr/>
        </p:nvSpPr>
        <p:spPr>
          <a:xfrm>
            <a:off x="4000500" y="2952750"/>
            <a:ext cx="914400" cy="419100"/>
          </a:xfrm>
          <a:prstGeom prst="rect">
            <a:avLst/>
          </a:prstGeom>
          <a:solidFill>
            <a:srgbClr val="E3E7EA"/>
          </a:solidFill>
          <a:ln w="0">
            <a:noFill/>
            <a:prstDash val="solid"/>
          </a:ln>
        </p:spPr>
        <p:txBody>
          <a:bodyPr/>
          <a:lstStyle/>
          <a:p>
            <a:endParaRPr lang="en-US"/>
          </a:p>
        </p:txBody>
      </p:sp>
      <p:sp>
        <p:nvSpPr>
          <p:cNvPr id="20" name="fold-1-2">
            <a:extLst>
              <a:ext uri="{FF2B5EF4-FFF2-40B4-BE49-F238E27FC236}">
                <a16:creationId xmlns:a16="http://schemas.microsoft.com/office/drawing/2014/main" id="{D82B7EEE-FCC2-48C3-AF08-388F1DCD0AFA}"/>
              </a:ext>
            </a:extLst>
          </p:cNvPr>
          <p:cNvSpPr>
            <a:spLocks noGrp="1"/>
          </p:cNvSpPr>
          <p:nvPr/>
        </p:nvSpPr>
        <p:spPr>
          <a:xfrm>
            <a:off x="4038600" y="30575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21" name="Rectangle 20">
            <a:extLst>
              <a:ext uri="{FF2B5EF4-FFF2-40B4-BE49-F238E27FC236}">
                <a16:creationId xmlns:a16="http://schemas.microsoft.com/office/drawing/2014/main" id="{C4BA54D0-F140-49AC-A61C-AC46C6BB900F}"/>
              </a:ext>
            </a:extLst>
          </p:cNvPr>
          <p:cNvSpPr>
            <a:spLocks noGrp="1"/>
          </p:cNvSpPr>
          <p:nvPr/>
        </p:nvSpPr>
        <p:spPr>
          <a:xfrm>
            <a:off x="5000625" y="2952750"/>
            <a:ext cx="914400" cy="419100"/>
          </a:xfrm>
          <a:prstGeom prst="rect">
            <a:avLst/>
          </a:prstGeom>
          <a:solidFill>
            <a:srgbClr val="E3E7EA"/>
          </a:solidFill>
          <a:ln w="0">
            <a:noFill/>
            <a:prstDash val="solid"/>
          </a:ln>
        </p:spPr>
        <p:txBody>
          <a:bodyPr/>
          <a:lstStyle/>
          <a:p>
            <a:endParaRPr lang="en-US"/>
          </a:p>
        </p:txBody>
      </p:sp>
      <p:sp>
        <p:nvSpPr>
          <p:cNvPr id="22" name="fold-1-3">
            <a:extLst>
              <a:ext uri="{FF2B5EF4-FFF2-40B4-BE49-F238E27FC236}">
                <a16:creationId xmlns:a16="http://schemas.microsoft.com/office/drawing/2014/main" id="{BE38C5DE-C016-4601-8375-D91F1D411738}"/>
              </a:ext>
            </a:extLst>
          </p:cNvPr>
          <p:cNvSpPr>
            <a:spLocks noGrp="1"/>
          </p:cNvSpPr>
          <p:nvPr/>
        </p:nvSpPr>
        <p:spPr>
          <a:xfrm>
            <a:off x="5038725" y="30575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23" name="Rectangle 22">
            <a:extLst>
              <a:ext uri="{FF2B5EF4-FFF2-40B4-BE49-F238E27FC236}">
                <a16:creationId xmlns:a16="http://schemas.microsoft.com/office/drawing/2014/main" id="{3192FD1E-C330-491F-94CD-6651EDFA5D98}"/>
              </a:ext>
            </a:extLst>
          </p:cNvPr>
          <p:cNvSpPr>
            <a:spLocks noGrp="1"/>
          </p:cNvSpPr>
          <p:nvPr/>
        </p:nvSpPr>
        <p:spPr>
          <a:xfrm>
            <a:off x="6000750" y="2952750"/>
            <a:ext cx="914400" cy="419100"/>
          </a:xfrm>
          <a:prstGeom prst="rect">
            <a:avLst/>
          </a:prstGeom>
          <a:solidFill>
            <a:srgbClr val="E3E7EA"/>
          </a:solidFill>
          <a:ln w="0">
            <a:noFill/>
            <a:prstDash val="solid"/>
          </a:ln>
        </p:spPr>
        <p:txBody>
          <a:bodyPr/>
          <a:lstStyle/>
          <a:p>
            <a:endParaRPr lang="en-US"/>
          </a:p>
        </p:txBody>
      </p:sp>
      <p:sp>
        <p:nvSpPr>
          <p:cNvPr id="24" name="fold-1-4">
            <a:extLst>
              <a:ext uri="{FF2B5EF4-FFF2-40B4-BE49-F238E27FC236}">
                <a16:creationId xmlns:a16="http://schemas.microsoft.com/office/drawing/2014/main" id="{4AAA1AA0-FCDC-4FB6-B46C-378ED8BA4062}"/>
              </a:ext>
            </a:extLst>
          </p:cNvPr>
          <p:cNvSpPr>
            <a:spLocks noGrp="1"/>
          </p:cNvSpPr>
          <p:nvPr/>
        </p:nvSpPr>
        <p:spPr>
          <a:xfrm>
            <a:off x="6038850" y="30575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25" name="fold-label-2">
            <a:extLst>
              <a:ext uri="{FF2B5EF4-FFF2-40B4-BE49-F238E27FC236}">
                <a16:creationId xmlns:a16="http://schemas.microsoft.com/office/drawing/2014/main" id="{1DD65379-E2E7-4DE1-8010-6DDBE9E2FF27}"/>
              </a:ext>
            </a:extLst>
          </p:cNvPr>
          <p:cNvSpPr>
            <a:spLocks noGrp="1"/>
          </p:cNvSpPr>
          <p:nvPr/>
        </p:nvSpPr>
        <p:spPr>
          <a:xfrm>
            <a:off x="619125" y="3581400"/>
            <a:ext cx="1238250" cy="381000"/>
          </a:xfrm>
          <a:prstGeom prst="rect">
            <a:avLst/>
          </a:prstGeom>
          <a:noFill/>
          <a:ln w="0">
            <a:noFill/>
            <a:prstDash val="solid"/>
          </a:ln>
        </p:spPr>
        <p:txBody>
          <a:bodyPr lIns="0" tIns="0" rIns="0" bIns="0" anchor="t">
            <a:noAutofit/>
          </a:bodyPr>
          <a:lstStyle>
            <a:defPPr algn="l">
              <a:defRPr sz="1725" b="0">
                <a:solidFill>
                  <a:srgbClr val="111111"/>
                </a:solidFill>
                <a:latin typeface="Calibri"/>
                <a:ea typeface="Calibri"/>
                <a:cs typeface="Calibri"/>
              </a:defRPr>
            </a:defPPr>
            <a:lvl1pPr algn="l">
              <a:defRPr sz="1725" b="0">
                <a:solidFill>
                  <a:srgbClr val="111111"/>
                </a:solidFill>
                <a:latin typeface="Calibri"/>
                <a:ea typeface="Calibri"/>
                <a:cs typeface="Calibri"/>
              </a:defRPr>
            </a:lvl1pPr>
            <a:lvl2pPr algn="l">
              <a:defRPr sz="1725" b="0">
                <a:solidFill>
                  <a:srgbClr val="111111"/>
                </a:solidFill>
                <a:latin typeface="Calibri"/>
                <a:ea typeface="Calibri"/>
                <a:cs typeface="Calibri"/>
              </a:defRPr>
            </a:lvl2pPr>
            <a:lvl3pPr algn="l">
              <a:defRPr sz="1725" b="0">
                <a:solidFill>
                  <a:srgbClr val="111111"/>
                </a:solidFill>
                <a:latin typeface="Calibri"/>
                <a:ea typeface="Calibri"/>
                <a:cs typeface="Calibri"/>
              </a:defRPr>
            </a:lvl3pPr>
            <a:lvl4pPr algn="l">
              <a:defRPr sz="1725" b="0">
                <a:solidFill>
                  <a:srgbClr val="111111"/>
                </a:solidFill>
                <a:latin typeface="Calibri"/>
                <a:ea typeface="Calibri"/>
                <a:cs typeface="Calibri"/>
              </a:defRPr>
            </a:lvl4pPr>
            <a:lvl5pPr algn="l">
              <a:defRPr sz="1725" b="0">
                <a:solidFill>
                  <a:srgbClr val="111111"/>
                </a:solidFill>
                <a:latin typeface="Calibri"/>
                <a:ea typeface="Calibri"/>
                <a:cs typeface="Calibri"/>
              </a:defRPr>
            </a:lvl5pPr>
            <a:lvl6pPr algn="l">
              <a:defRPr sz="1725" b="0">
                <a:solidFill>
                  <a:srgbClr val="111111"/>
                </a:solidFill>
                <a:latin typeface="Calibri"/>
                <a:ea typeface="Calibri"/>
                <a:cs typeface="Calibri"/>
              </a:defRPr>
            </a:lvl6pPr>
            <a:lvl7pPr algn="l">
              <a:defRPr sz="1725" b="0">
                <a:solidFill>
                  <a:srgbClr val="111111"/>
                </a:solidFill>
                <a:latin typeface="Calibri"/>
                <a:ea typeface="Calibri"/>
                <a:cs typeface="Calibri"/>
              </a:defRPr>
            </a:lvl7pPr>
            <a:lvl8pPr algn="l">
              <a:defRPr sz="1725" b="0">
                <a:solidFill>
                  <a:srgbClr val="111111"/>
                </a:solidFill>
                <a:latin typeface="Calibri"/>
                <a:ea typeface="Calibri"/>
                <a:cs typeface="Calibri"/>
              </a:defRPr>
            </a:lvl8pPr>
            <a:lvl9pPr algn="l">
              <a:defRPr sz="1725" b="0">
                <a:solidFill>
                  <a:srgbClr val="111111"/>
                </a:solidFill>
                <a:latin typeface="Calibri"/>
                <a:ea typeface="Calibri"/>
                <a:cs typeface="Calibri"/>
              </a:defRPr>
            </a:lvl9pPr>
          </a:lstStyle>
          <a:p>
            <a:pPr algn="l">
              <a:defRPr sz="1725" b="0">
                <a:solidFill>
                  <a:srgbClr val="111111"/>
                </a:solidFill>
                <a:latin typeface="Calibri"/>
                <a:ea typeface="Calibri"/>
                <a:cs typeface="Calibri"/>
              </a:defRPr>
            </a:pPr>
            <a:r>
              <a:rPr sz="1725" b="0">
                <a:solidFill>
                  <a:srgbClr val="111111"/>
                </a:solidFill>
                <a:latin typeface="Calibri"/>
                <a:ea typeface="Calibri"/>
                <a:cs typeface="Calibri"/>
              </a:rPr>
              <a:t>Round 3</a:t>
            </a:r>
          </a:p>
        </p:txBody>
      </p:sp>
      <p:sp>
        <p:nvSpPr>
          <p:cNvPr id="26" name="Rectangle 25">
            <a:extLst>
              <a:ext uri="{FF2B5EF4-FFF2-40B4-BE49-F238E27FC236}">
                <a16:creationId xmlns:a16="http://schemas.microsoft.com/office/drawing/2014/main" id="{84A3E7B7-6151-4CCB-BB36-0F6BD588967C}"/>
              </a:ext>
            </a:extLst>
          </p:cNvPr>
          <p:cNvSpPr>
            <a:spLocks noGrp="1"/>
          </p:cNvSpPr>
          <p:nvPr/>
        </p:nvSpPr>
        <p:spPr>
          <a:xfrm>
            <a:off x="2000250" y="3505200"/>
            <a:ext cx="914400" cy="419100"/>
          </a:xfrm>
          <a:prstGeom prst="rect">
            <a:avLst/>
          </a:prstGeom>
          <a:solidFill>
            <a:srgbClr val="E3E7EA"/>
          </a:solidFill>
          <a:ln w="0">
            <a:noFill/>
            <a:prstDash val="solid"/>
          </a:ln>
        </p:spPr>
        <p:txBody>
          <a:bodyPr/>
          <a:lstStyle/>
          <a:p>
            <a:endParaRPr lang="en-US"/>
          </a:p>
        </p:txBody>
      </p:sp>
      <p:sp>
        <p:nvSpPr>
          <p:cNvPr id="27" name="fold-2-0">
            <a:extLst>
              <a:ext uri="{FF2B5EF4-FFF2-40B4-BE49-F238E27FC236}">
                <a16:creationId xmlns:a16="http://schemas.microsoft.com/office/drawing/2014/main" id="{DC480328-6D1D-4965-B106-08E97DA3630A}"/>
              </a:ext>
            </a:extLst>
          </p:cNvPr>
          <p:cNvSpPr>
            <a:spLocks noGrp="1"/>
          </p:cNvSpPr>
          <p:nvPr/>
        </p:nvSpPr>
        <p:spPr>
          <a:xfrm>
            <a:off x="2038350" y="36099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28" name="Rectangle 27">
            <a:extLst>
              <a:ext uri="{FF2B5EF4-FFF2-40B4-BE49-F238E27FC236}">
                <a16:creationId xmlns:a16="http://schemas.microsoft.com/office/drawing/2014/main" id="{E8546623-35BA-4784-AC1E-4ED52CC5E476}"/>
              </a:ext>
            </a:extLst>
          </p:cNvPr>
          <p:cNvSpPr>
            <a:spLocks noGrp="1"/>
          </p:cNvSpPr>
          <p:nvPr/>
        </p:nvSpPr>
        <p:spPr>
          <a:xfrm>
            <a:off x="3000375" y="3505200"/>
            <a:ext cx="914400" cy="419100"/>
          </a:xfrm>
          <a:prstGeom prst="rect">
            <a:avLst/>
          </a:prstGeom>
          <a:solidFill>
            <a:srgbClr val="E3E7EA"/>
          </a:solidFill>
          <a:ln w="0">
            <a:noFill/>
            <a:prstDash val="solid"/>
          </a:ln>
        </p:spPr>
        <p:txBody>
          <a:bodyPr/>
          <a:lstStyle/>
          <a:p>
            <a:endParaRPr lang="en-US"/>
          </a:p>
        </p:txBody>
      </p:sp>
      <p:sp>
        <p:nvSpPr>
          <p:cNvPr id="29" name="fold-2-1">
            <a:extLst>
              <a:ext uri="{FF2B5EF4-FFF2-40B4-BE49-F238E27FC236}">
                <a16:creationId xmlns:a16="http://schemas.microsoft.com/office/drawing/2014/main" id="{2ACDB3FF-5932-4142-A2D2-4571FB4A59A4}"/>
              </a:ext>
            </a:extLst>
          </p:cNvPr>
          <p:cNvSpPr>
            <a:spLocks noGrp="1"/>
          </p:cNvSpPr>
          <p:nvPr/>
        </p:nvSpPr>
        <p:spPr>
          <a:xfrm>
            <a:off x="3038475" y="36099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30" name="Rectangle 29">
            <a:extLst>
              <a:ext uri="{FF2B5EF4-FFF2-40B4-BE49-F238E27FC236}">
                <a16:creationId xmlns:a16="http://schemas.microsoft.com/office/drawing/2014/main" id="{2D354AF8-2B33-4104-9D61-78169AF8DA1C}"/>
              </a:ext>
            </a:extLst>
          </p:cNvPr>
          <p:cNvSpPr>
            <a:spLocks noGrp="1"/>
          </p:cNvSpPr>
          <p:nvPr/>
        </p:nvSpPr>
        <p:spPr>
          <a:xfrm>
            <a:off x="4000500" y="3505200"/>
            <a:ext cx="914400" cy="419100"/>
          </a:xfrm>
          <a:prstGeom prst="rect">
            <a:avLst/>
          </a:prstGeom>
          <a:solidFill>
            <a:srgbClr val="337AA5"/>
          </a:solidFill>
          <a:ln w="0">
            <a:noFill/>
            <a:prstDash val="solid"/>
          </a:ln>
        </p:spPr>
        <p:txBody>
          <a:bodyPr/>
          <a:lstStyle/>
          <a:p>
            <a:endParaRPr lang="en-US"/>
          </a:p>
        </p:txBody>
      </p:sp>
      <p:sp>
        <p:nvSpPr>
          <p:cNvPr id="31" name="fold-2-2">
            <a:extLst>
              <a:ext uri="{FF2B5EF4-FFF2-40B4-BE49-F238E27FC236}">
                <a16:creationId xmlns:a16="http://schemas.microsoft.com/office/drawing/2014/main" id="{C739C081-0C13-484E-A4AC-29A5DF6AC920}"/>
              </a:ext>
            </a:extLst>
          </p:cNvPr>
          <p:cNvSpPr>
            <a:spLocks noGrp="1"/>
          </p:cNvSpPr>
          <p:nvPr/>
        </p:nvSpPr>
        <p:spPr>
          <a:xfrm>
            <a:off x="4038600" y="3609975"/>
            <a:ext cx="838200" cy="266700"/>
          </a:xfrm>
          <a:prstGeom prst="rect">
            <a:avLst/>
          </a:prstGeom>
          <a:noFill/>
          <a:ln w="0">
            <a:noFill/>
            <a:prstDash val="solid"/>
          </a:ln>
        </p:spPr>
        <p:txBody>
          <a:bodyPr lIns="0" tIns="0" rIns="0" bIns="0" anchor="t">
            <a:noAutofit/>
          </a:bodyPr>
          <a:lstStyle>
            <a:defPPr algn="ctr">
              <a:defRPr sz="1350" b="0">
                <a:solidFill>
                  <a:srgbClr val="FFFFFF"/>
                </a:solidFill>
                <a:latin typeface="Calibri"/>
                <a:ea typeface="Calibri"/>
                <a:cs typeface="Calibri"/>
              </a:defRPr>
            </a:defPPr>
            <a:lvl1pPr algn="ctr">
              <a:defRPr sz="1350" b="0">
                <a:solidFill>
                  <a:srgbClr val="FFFFFF"/>
                </a:solidFill>
                <a:latin typeface="Calibri"/>
                <a:ea typeface="Calibri"/>
                <a:cs typeface="Calibri"/>
              </a:defRPr>
            </a:lvl1pPr>
            <a:lvl2pPr algn="ctr">
              <a:defRPr sz="1350" b="0">
                <a:solidFill>
                  <a:srgbClr val="FFFFFF"/>
                </a:solidFill>
                <a:latin typeface="Calibri"/>
                <a:ea typeface="Calibri"/>
                <a:cs typeface="Calibri"/>
              </a:defRPr>
            </a:lvl2pPr>
            <a:lvl3pPr algn="ctr">
              <a:defRPr sz="1350" b="0">
                <a:solidFill>
                  <a:srgbClr val="FFFFFF"/>
                </a:solidFill>
                <a:latin typeface="Calibri"/>
                <a:ea typeface="Calibri"/>
                <a:cs typeface="Calibri"/>
              </a:defRPr>
            </a:lvl3pPr>
            <a:lvl4pPr algn="ctr">
              <a:defRPr sz="1350" b="0">
                <a:solidFill>
                  <a:srgbClr val="FFFFFF"/>
                </a:solidFill>
                <a:latin typeface="Calibri"/>
                <a:ea typeface="Calibri"/>
                <a:cs typeface="Calibri"/>
              </a:defRPr>
            </a:lvl4pPr>
            <a:lvl5pPr algn="ctr">
              <a:defRPr sz="1350" b="0">
                <a:solidFill>
                  <a:srgbClr val="FFFFFF"/>
                </a:solidFill>
                <a:latin typeface="Calibri"/>
                <a:ea typeface="Calibri"/>
                <a:cs typeface="Calibri"/>
              </a:defRPr>
            </a:lvl5pPr>
            <a:lvl6pPr algn="ctr">
              <a:defRPr sz="1350" b="0">
                <a:solidFill>
                  <a:srgbClr val="FFFFFF"/>
                </a:solidFill>
                <a:latin typeface="Calibri"/>
                <a:ea typeface="Calibri"/>
                <a:cs typeface="Calibri"/>
              </a:defRPr>
            </a:lvl6pPr>
            <a:lvl7pPr algn="ctr">
              <a:defRPr sz="1350" b="0">
                <a:solidFill>
                  <a:srgbClr val="FFFFFF"/>
                </a:solidFill>
                <a:latin typeface="Calibri"/>
                <a:ea typeface="Calibri"/>
                <a:cs typeface="Calibri"/>
              </a:defRPr>
            </a:lvl7pPr>
            <a:lvl8pPr algn="ctr">
              <a:defRPr sz="1350" b="0">
                <a:solidFill>
                  <a:srgbClr val="FFFFFF"/>
                </a:solidFill>
                <a:latin typeface="Calibri"/>
                <a:ea typeface="Calibri"/>
                <a:cs typeface="Calibri"/>
              </a:defRPr>
            </a:lvl8pPr>
            <a:lvl9pPr algn="ctr">
              <a:defRPr sz="1350" b="0">
                <a:solidFill>
                  <a:srgbClr val="FFFFFF"/>
                </a:solidFill>
                <a:latin typeface="Calibri"/>
                <a:ea typeface="Calibri"/>
                <a:cs typeface="Calibri"/>
              </a:defRPr>
            </a:lvl9pPr>
          </a:lstStyle>
          <a:p>
            <a:pPr algn="ctr">
              <a:defRPr sz="1350" b="0">
                <a:solidFill>
                  <a:srgbClr val="FFFFFF"/>
                </a:solidFill>
                <a:latin typeface="Calibri"/>
                <a:ea typeface="Calibri"/>
                <a:cs typeface="Calibri"/>
              </a:defRPr>
            </a:pPr>
            <a:r>
              <a:rPr sz="1350" b="0">
                <a:solidFill>
                  <a:srgbClr val="FFFFFF"/>
                </a:solidFill>
                <a:latin typeface="Calibri"/>
                <a:ea typeface="Calibri"/>
                <a:cs typeface="Calibri"/>
              </a:rPr>
              <a:t>Validate</a:t>
            </a:r>
          </a:p>
        </p:txBody>
      </p:sp>
      <p:sp>
        <p:nvSpPr>
          <p:cNvPr id="32" name="Rectangle 31">
            <a:extLst>
              <a:ext uri="{FF2B5EF4-FFF2-40B4-BE49-F238E27FC236}">
                <a16:creationId xmlns:a16="http://schemas.microsoft.com/office/drawing/2014/main" id="{117D70D8-FDB6-41CD-BC89-12AEFBC68BF6}"/>
              </a:ext>
            </a:extLst>
          </p:cNvPr>
          <p:cNvSpPr>
            <a:spLocks noGrp="1"/>
          </p:cNvSpPr>
          <p:nvPr/>
        </p:nvSpPr>
        <p:spPr>
          <a:xfrm>
            <a:off x="5000625" y="3505200"/>
            <a:ext cx="914400" cy="419100"/>
          </a:xfrm>
          <a:prstGeom prst="rect">
            <a:avLst/>
          </a:prstGeom>
          <a:solidFill>
            <a:srgbClr val="E3E7EA"/>
          </a:solidFill>
          <a:ln w="0">
            <a:noFill/>
            <a:prstDash val="solid"/>
          </a:ln>
        </p:spPr>
        <p:txBody>
          <a:bodyPr/>
          <a:lstStyle/>
          <a:p>
            <a:endParaRPr lang="en-US"/>
          </a:p>
        </p:txBody>
      </p:sp>
      <p:sp>
        <p:nvSpPr>
          <p:cNvPr id="33" name="fold-2-3">
            <a:extLst>
              <a:ext uri="{FF2B5EF4-FFF2-40B4-BE49-F238E27FC236}">
                <a16:creationId xmlns:a16="http://schemas.microsoft.com/office/drawing/2014/main" id="{A8F63D57-C830-4B55-ABF0-5322C6B0C45C}"/>
              </a:ext>
            </a:extLst>
          </p:cNvPr>
          <p:cNvSpPr>
            <a:spLocks noGrp="1"/>
          </p:cNvSpPr>
          <p:nvPr/>
        </p:nvSpPr>
        <p:spPr>
          <a:xfrm>
            <a:off x="5038725" y="36099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34" name="Rectangle 33">
            <a:extLst>
              <a:ext uri="{FF2B5EF4-FFF2-40B4-BE49-F238E27FC236}">
                <a16:creationId xmlns:a16="http://schemas.microsoft.com/office/drawing/2014/main" id="{46CC1C1E-215F-433A-A52A-21C402A35903}"/>
              </a:ext>
            </a:extLst>
          </p:cNvPr>
          <p:cNvSpPr>
            <a:spLocks noGrp="1"/>
          </p:cNvSpPr>
          <p:nvPr/>
        </p:nvSpPr>
        <p:spPr>
          <a:xfrm>
            <a:off x="6000750" y="3505200"/>
            <a:ext cx="914400" cy="419100"/>
          </a:xfrm>
          <a:prstGeom prst="rect">
            <a:avLst/>
          </a:prstGeom>
          <a:solidFill>
            <a:srgbClr val="E3E7EA"/>
          </a:solidFill>
          <a:ln w="0">
            <a:noFill/>
            <a:prstDash val="solid"/>
          </a:ln>
        </p:spPr>
        <p:txBody>
          <a:bodyPr/>
          <a:lstStyle/>
          <a:p>
            <a:endParaRPr lang="en-US"/>
          </a:p>
        </p:txBody>
      </p:sp>
      <p:sp>
        <p:nvSpPr>
          <p:cNvPr id="35" name="fold-2-4">
            <a:extLst>
              <a:ext uri="{FF2B5EF4-FFF2-40B4-BE49-F238E27FC236}">
                <a16:creationId xmlns:a16="http://schemas.microsoft.com/office/drawing/2014/main" id="{22873E7A-29C3-455C-9E35-F51F75BE71EE}"/>
              </a:ext>
            </a:extLst>
          </p:cNvPr>
          <p:cNvSpPr>
            <a:spLocks noGrp="1"/>
          </p:cNvSpPr>
          <p:nvPr/>
        </p:nvSpPr>
        <p:spPr>
          <a:xfrm>
            <a:off x="6038850" y="36099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36" name="fold-label-3">
            <a:extLst>
              <a:ext uri="{FF2B5EF4-FFF2-40B4-BE49-F238E27FC236}">
                <a16:creationId xmlns:a16="http://schemas.microsoft.com/office/drawing/2014/main" id="{2CD1FB1D-C32F-4A30-A2B8-7F435C9E2AF2}"/>
              </a:ext>
            </a:extLst>
          </p:cNvPr>
          <p:cNvSpPr>
            <a:spLocks noGrp="1"/>
          </p:cNvSpPr>
          <p:nvPr/>
        </p:nvSpPr>
        <p:spPr>
          <a:xfrm>
            <a:off x="619125" y="4133850"/>
            <a:ext cx="1238250" cy="381000"/>
          </a:xfrm>
          <a:prstGeom prst="rect">
            <a:avLst/>
          </a:prstGeom>
          <a:noFill/>
          <a:ln w="0">
            <a:noFill/>
            <a:prstDash val="solid"/>
          </a:ln>
        </p:spPr>
        <p:txBody>
          <a:bodyPr lIns="0" tIns="0" rIns="0" bIns="0" anchor="t">
            <a:noAutofit/>
          </a:bodyPr>
          <a:lstStyle>
            <a:defPPr algn="l">
              <a:defRPr sz="1725" b="0">
                <a:solidFill>
                  <a:srgbClr val="111111"/>
                </a:solidFill>
                <a:latin typeface="Calibri"/>
                <a:ea typeface="Calibri"/>
                <a:cs typeface="Calibri"/>
              </a:defRPr>
            </a:defPPr>
            <a:lvl1pPr algn="l">
              <a:defRPr sz="1725" b="0">
                <a:solidFill>
                  <a:srgbClr val="111111"/>
                </a:solidFill>
                <a:latin typeface="Calibri"/>
                <a:ea typeface="Calibri"/>
                <a:cs typeface="Calibri"/>
              </a:defRPr>
            </a:lvl1pPr>
            <a:lvl2pPr algn="l">
              <a:defRPr sz="1725" b="0">
                <a:solidFill>
                  <a:srgbClr val="111111"/>
                </a:solidFill>
                <a:latin typeface="Calibri"/>
                <a:ea typeface="Calibri"/>
                <a:cs typeface="Calibri"/>
              </a:defRPr>
            </a:lvl2pPr>
            <a:lvl3pPr algn="l">
              <a:defRPr sz="1725" b="0">
                <a:solidFill>
                  <a:srgbClr val="111111"/>
                </a:solidFill>
                <a:latin typeface="Calibri"/>
                <a:ea typeface="Calibri"/>
                <a:cs typeface="Calibri"/>
              </a:defRPr>
            </a:lvl3pPr>
            <a:lvl4pPr algn="l">
              <a:defRPr sz="1725" b="0">
                <a:solidFill>
                  <a:srgbClr val="111111"/>
                </a:solidFill>
                <a:latin typeface="Calibri"/>
                <a:ea typeface="Calibri"/>
                <a:cs typeface="Calibri"/>
              </a:defRPr>
            </a:lvl4pPr>
            <a:lvl5pPr algn="l">
              <a:defRPr sz="1725" b="0">
                <a:solidFill>
                  <a:srgbClr val="111111"/>
                </a:solidFill>
                <a:latin typeface="Calibri"/>
                <a:ea typeface="Calibri"/>
                <a:cs typeface="Calibri"/>
              </a:defRPr>
            </a:lvl5pPr>
            <a:lvl6pPr algn="l">
              <a:defRPr sz="1725" b="0">
                <a:solidFill>
                  <a:srgbClr val="111111"/>
                </a:solidFill>
                <a:latin typeface="Calibri"/>
                <a:ea typeface="Calibri"/>
                <a:cs typeface="Calibri"/>
              </a:defRPr>
            </a:lvl6pPr>
            <a:lvl7pPr algn="l">
              <a:defRPr sz="1725" b="0">
                <a:solidFill>
                  <a:srgbClr val="111111"/>
                </a:solidFill>
                <a:latin typeface="Calibri"/>
                <a:ea typeface="Calibri"/>
                <a:cs typeface="Calibri"/>
              </a:defRPr>
            </a:lvl7pPr>
            <a:lvl8pPr algn="l">
              <a:defRPr sz="1725" b="0">
                <a:solidFill>
                  <a:srgbClr val="111111"/>
                </a:solidFill>
                <a:latin typeface="Calibri"/>
                <a:ea typeface="Calibri"/>
                <a:cs typeface="Calibri"/>
              </a:defRPr>
            </a:lvl8pPr>
            <a:lvl9pPr algn="l">
              <a:defRPr sz="1725" b="0">
                <a:solidFill>
                  <a:srgbClr val="111111"/>
                </a:solidFill>
                <a:latin typeface="Calibri"/>
                <a:ea typeface="Calibri"/>
                <a:cs typeface="Calibri"/>
              </a:defRPr>
            </a:lvl9pPr>
          </a:lstStyle>
          <a:p>
            <a:pPr algn="l">
              <a:defRPr sz="1725" b="0">
                <a:solidFill>
                  <a:srgbClr val="111111"/>
                </a:solidFill>
                <a:latin typeface="Calibri"/>
                <a:ea typeface="Calibri"/>
                <a:cs typeface="Calibri"/>
              </a:defRPr>
            </a:pPr>
            <a:r>
              <a:rPr sz="1725" b="0">
                <a:solidFill>
                  <a:srgbClr val="111111"/>
                </a:solidFill>
                <a:latin typeface="Calibri"/>
                <a:ea typeface="Calibri"/>
                <a:cs typeface="Calibri"/>
              </a:rPr>
              <a:t>Round 4</a:t>
            </a:r>
          </a:p>
        </p:txBody>
      </p:sp>
      <p:sp>
        <p:nvSpPr>
          <p:cNvPr id="37" name="Rectangle 36">
            <a:extLst>
              <a:ext uri="{FF2B5EF4-FFF2-40B4-BE49-F238E27FC236}">
                <a16:creationId xmlns:a16="http://schemas.microsoft.com/office/drawing/2014/main" id="{AC31E8CE-B061-49C7-99BC-6096497AA910}"/>
              </a:ext>
            </a:extLst>
          </p:cNvPr>
          <p:cNvSpPr>
            <a:spLocks noGrp="1"/>
          </p:cNvSpPr>
          <p:nvPr/>
        </p:nvSpPr>
        <p:spPr>
          <a:xfrm>
            <a:off x="2000250" y="4057650"/>
            <a:ext cx="914400" cy="419100"/>
          </a:xfrm>
          <a:prstGeom prst="rect">
            <a:avLst/>
          </a:prstGeom>
          <a:solidFill>
            <a:srgbClr val="E3E7EA"/>
          </a:solidFill>
          <a:ln w="0">
            <a:noFill/>
            <a:prstDash val="solid"/>
          </a:ln>
        </p:spPr>
        <p:txBody>
          <a:bodyPr/>
          <a:lstStyle/>
          <a:p>
            <a:endParaRPr lang="en-US"/>
          </a:p>
        </p:txBody>
      </p:sp>
      <p:sp>
        <p:nvSpPr>
          <p:cNvPr id="38" name="fold-3-0">
            <a:extLst>
              <a:ext uri="{FF2B5EF4-FFF2-40B4-BE49-F238E27FC236}">
                <a16:creationId xmlns:a16="http://schemas.microsoft.com/office/drawing/2014/main" id="{9FFD580E-6208-49DC-96F8-25E63B4CC0AD}"/>
              </a:ext>
            </a:extLst>
          </p:cNvPr>
          <p:cNvSpPr>
            <a:spLocks noGrp="1"/>
          </p:cNvSpPr>
          <p:nvPr/>
        </p:nvSpPr>
        <p:spPr>
          <a:xfrm>
            <a:off x="2038350" y="41624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39" name="Rectangle 38">
            <a:extLst>
              <a:ext uri="{FF2B5EF4-FFF2-40B4-BE49-F238E27FC236}">
                <a16:creationId xmlns:a16="http://schemas.microsoft.com/office/drawing/2014/main" id="{8841EB98-6EE7-48D4-9A57-EACE74E6905D}"/>
              </a:ext>
            </a:extLst>
          </p:cNvPr>
          <p:cNvSpPr>
            <a:spLocks noGrp="1"/>
          </p:cNvSpPr>
          <p:nvPr/>
        </p:nvSpPr>
        <p:spPr>
          <a:xfrm>
            <a:off x="3000375" y="4057650"/>
            <a:ext cx="914400" cy="419100"/>
          </a:xfrm>
          <a:prstGeom prst="rect">
            <a:avLst/>
          </a:prstGeom>
          <a:solidFill>
            <a:srgbClr val="E3E7EA"/>
          </a:solidFill>
          <a:ln w="0">
            <a:noFill/>
            <a:prstDash val="solid"/>
          </a:ln>
        </p:spPr>
        <p:txBody>
          <a:bodyPr/>
          <a:lstStyle/>
          <a:p>
            <a:endParaRPr lang="en-US"/>
          </a:p>
        </p:txBody>
      </p:sp>
      <p:sp>
        <p:nvSpPr>
          <p:cNvPr id="40" name="fold-3-1">
            <a:extLst>
              <a:ext uri="{FF2B5EF4-FFF2-40B4-BE49-F238E27FC236}">
                <a16:creationId xmlns:a16="http://schemas.microsoft.com/office/drawing/2014/main" id="{04118CDD-EADA-462A-A3D5-25C2DB213C9F}"/>
              </a:ext>
            </a:extLst>
          </p:cNvPr>
          <p:cNvSpPr>
            <a:spLocks noGrp="1"/>
          </p:cNvSpPr>
          <p:nvPr/>
        </p:nvSpPr>
        <p:spPr>
          <a:xfrm>
            <a:off x="3038475" y="41624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41" name="Rectangle 40">
            <a:extLst>
              <a:ext uri="{FF2B5EF4-FFF2-40B4-BE49-F238E27FC236}">
                <a16:creationId xmlns:a16="http://schemas.microsoft.com/office/drawing/2014/main" id="{8FFD2C8F-08C6-49A5-8F4E-58B88724A51E}"/>
              </a:ext>
            </a:extLst>
          </p:cNvPr>
          <p:cNvSpPr>
            <a:spLocks noGrp="1"/>
          </p:cNvSpPr>
          <p:nvPr/>
        </p:nvSpPr>
        <p:spPr>
          <a:xfrm>
            <a:off x="4000500" y="4057650"/>
            <a:ext cx="914400" cy="419100"/>
          </a:xfrm>
          <a:prstGeom prst="rect">
            <a:avLst/>
          </a:prstGeom>
          <a:solidFill>
            <a:srgbClr val="E3E7EA"/>
          </a:solidFill>
          <a:ln w="0">
            <a:noFill/>
            <a:prstDash val="solid"/>
          </a:ln>
        </p:spPr>
        <p:txBody>
          <a:bodyPr/>
          <a:lstStyle/>
          <a:p>
            <a:endParaRPr lang="en-US"/>
          </a:p>
        </p:txBody>
      </p:sp>
      <p:sp>
        <p:nvSpPr>
          <p:cNvPr id="42" name="fold-3-2">
            <a:extLst>
              <a:ext uri="{FF2B5EF4-FFF2-40B4-BE49-F238E27FC236}">
                <a16:creationId xmlns:a16="http://schemas.microsoft.com/office/drawing/2014/main" id="{5CDA7D0B-0F8D-498A-AC8C-8E9A506E7FB4}"/>
              </a:ext>
            </a:extLst>
          </p:cNvPr>
          <p:cNvSpPr>
            <a:spLocks noGrp="1"/>
          </p:cNvSpPr>
          <p:nvPr/>
        </p:nvSpPr>
        <p:spPr>
          <a:xfrm>
            <a:off x="4038600" y="41624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43" name="Rectangle 42">
            <a:extLst>
              <a:ext uri="{FF2B5EF4-FFF2-40B4-BE49-F238E27FC236}">
                <a16:creationId xmlns:a16="http://schemas.microsoft.com/office/drawing/2014/main" id="{9BFECC3A-907E-4D58-AE57-97574D5FF9FB}"/>
              </a:ext>
            </a:extLst>
          </p:cNvPr>
          <p:cNvSpPr>
            <a:spLocks noGrp="1"/>
          </p:cNvSpPr>
          <p:nvPr/>
        </p:nvSpPr>
        <p:spPr>
          <a:xfrm>
            <a:off x="5000625" y="4057650"/>
            <a:ext cx="914400" cy="419100"/>
          </a:xfrm>
          <a:prstGeom prst="rect">
            <a:avLst/>
          </a:prstGeom>
          <a:solidFill>
            <a:srgbClr val="337AA5"/>
          </a:solidFill>
          <a:ln w="0">
            <a:noFill/>
            <a:prstDash val="solid"/>
          </a:ln>
        </p:spPr>
        <p:txBody>
          <a:bodyPr/>
          <a:lstStyle/>
          <a:p>
            <a:endParaRPr lang="en-US"/>
          </a:p>
        </p:txBody>
      </p:sp>
      <p:sp>
        <p:nvSpPr>
          <p:cNvPr id="44" name="fold-3-3">
            <a:extLst>
              <a:ext uri="{FF2B5EF4-FFF2-40B4-BE49-F238E27FC236}">
                <a16:creationId xmlns:a16="http://schemas.microsoft.com/office/drawing/2014/main" id="{AF82D207-2F00-4382-9B16-470B05D17BD6}"/>
              </a:ext>
            </a:extLst>
          </p:cNvPr>
          <p:cNvSpPr>
            <a:spLocks noGrp="1"/>
          </p:cNvSpPr>
          <p:nvPr/>
        </p:nvSpPr>
        <p:spPr>
          <a:xfrm>
            <a:off x="5038725" y="4162425"/>
            <a:ext cx="838200" cy="266700"/>
          </a:xfrm>
          <a:prstGeom prst="rect">
            <a:avLst/>
          </a:prstGeom>
          <a:noFill/>
          <a:ln w="0">
            <a:noFill/>
            <a:prstDash val="solid"/>
          </a:ln>
        </p:spPr>
        <p:txBody>
          <a:bodyPr lIns="0" tIns="0" rIns="0" bIns="0" anchor="t">
            <a:noAutofit/>
          </a:bodyPr>
          <a:lstStyle>
            <a:defPPr algn="ctr">
              <a:defRPr sz="1350" b="0">
                <a:solidFill>
                  <a:srgbClr val="FFFFFF"/>
                </a:solidFill>
                <a:latin typeface="Calibri"/>
                <a:ea typeface="Calibri"/>
                <a:cs typeface="Calibri"/>
              </a:defRPr>
            </a:defPPr>
            <a:lvl1pPr algn="ctr">
              <a:defRPr sz="1350" b="0">
                <a:solidFill>
                  <a:srgbClr val="FFFFFF"/>
                </a:solidFill>
                <a:latin typeface="Calibri"/>
                <a:ea typeface="Calibri"/>
                <a:cs typeface="Calibri"/>
              </a:defRPr>
            </a:lvl1pPr>
            <a:lvl2pPr algn="ctr">
              <a:defRPr sz="1350" b="0">
                <a:solidFill>
                  <a:srgbClr val="FFFFFF"/>
                </a:solidFill>
                <a:latin typeface="Calibri"/>
                <a:ea typeface="Calibri"/>
                <a:cs typeface="Calibri"/>
              </a:defRPr>
            </a:lvl2pPr>
            <a:lvl3pPr algn="ctr">
              <a:defRPr sz="1350" b="0">
                <a:solidFill>
                  <a:srgbClr val="FFFFFF"/>
                </a:solidFill>
                <a:latin typeface="Calibri"/>
                <a:ea typeface="Calibri"/>
                <a:cs typeface="Calibri"/>
              </a:defRPr>
            </a:lvl3pPr>
            <a:lvl4pPr algn="ctr">
              <a:defRPr sz="1350" b="0">
                <a:solidFill>
                  <a:srgbClr val="FFFFFF"/>
                </a:solidFill>
                <a:latin typeface="Calibri"/>
                <a:ea typeface="Calibri"/>
                <a:cs typeface="Calibri"/>
              </a:defRPr>
            </a:lvl4pPr>
            <a:lvl5pPr algn="ctr">
              <a:defRPr sz="1350" b="0">
                <a:solidFill>
                  <a:srgbClr val="FFFFFF"/>
                </a:solidFill>
                <a:latin typeface="Calibri"/>
                <a:ea typeface="Calibri"/>
                <a:cs typeface="Calibri"/>
              </a:defRPr>
            </a:lvl5pPr>
            <a:lvl6pPr algn="ctr">
              <a:defRPr sz="1350" b="0">
                <a:solidFill>
                  <a:srgbClr val="FFFFFF"/>
                </a:solidFill>
                <a:latin typeface="Calibri"/>
                <a:ea typeface="Calibri"/>
                <a:cs typeface="Calibri"/>
              </a:defRPr>
            </a:lvl6pPr>
            <a:lvl7pPr algn="ctr">
              <a:defRPr sz="1350" b="0">
                <a:solidFill>
                  <a:srgbClr val="FFFFFF"/>
                </a:solidFill>
                <a:latin typeface="Calibri"/>
                <a:ea typeface="Calibri"/>
                <a:cs typeface="Calibri"/>
              </a:defRPr>
            </a:lvl7pPr>
            <a:lvl8pPr algn="ctr">
              <a:defRPr sz="1350" b="0">
                <a:solidFill>
                  <a:srgbClr val="FFFFFF"/>
                </a:solidFill>
                <a:latin typeface="Calibri"/>
                <a:ea typeface="Calibri"/>
                <a:cs typeface="Calibri"/>
              </a:defRPr>
            </a:lvl8pPr>
            <a:lvl9pPr algn="ctr">
              <a:defRPr sz="1350" b="0">
                <a:solidFill>
                  <a:srgbClr val="FFFFFF"/>
                </a:solidFill>
                <a:latin typeface="Calibri"/>
                <a:ea typeface="Calibri"/>
                <a:cs typeface="Calibri"/>
              </a:defRPr>
            </a:lvl9pPr>
          </a:lstStyle>
          <a:p>
            <a:pPr algn="ctr">
              <a:defRPr sz="1350" b="0">
                <a:solidFill>
                  <a:srgbClr val="FFFFFF"/>
                </a:solidFill>
                <a:latin typeface="Calibri"/>
                <a:ea typeface="Calibri"/>
                <a:cs typeface="Calibri"/>
              </a:defRPr>
            </a:pPr>
            <a:r>
              <a:rPr sz="1350" b="0">
                <a:solidFill>
                  <a:srgbClr val="FFFFFF"/>
                </a:solidFill>
                <a:latin typeface="Calibri"/>
                <a:ea typeface="Calibri"/>
                <a:cs typeface="Calibri"/>
              </a:rPr>
              <a:t>Validate</a:t>
            </a:r>
          </a:p>
        </p:txBody>
      </p:sp>
      <p:sp>
        <p:nvSpPr>
          <p:cNvPr id="45" name="Rectangle 44">
            <a:extLst>
              <a:ext uri="{FF2B5EF4-FFF2-40B4-BE49-F238E27FC236}">
                <a16:creationId xmlns:a16="http://schemas.microsoft.com/office/drawing/2014/main" id="{9F54AB68-6167-4776-BA97-D0734F993206}"/>
              </a:ext>
            </a:extLst>
          </p:cNvPr>
          <p:cNvSpPr>
            <a:spLocks noGrp="1"/>
          </p:cNvSpPr>
          <p:nvPr/>
        </p:nvSpPr>
        <p:spPr>
          <a:xfrm>
            <a:off x="6000750" y="4057650"/>
            <a:ext cx="914400" cy="419100"/>
          </a:xfrm>
          <a:prstGeom prst="rect">
            <a:avLst/>
          </a:prstGeom>
          <a:solidFill>
            <a:srgbClr val="E3E7EA"/>
          </a:solidFill>
          <a:ln w="0">
            <a:noFill/>
            <a:prstDash val="solid"/>
          </a:ln>
        </p:spPr>
        <p:txBody>
          <a:bodyPr/>
          <a:lstStyle/>
          <a:p>
            <a:endParaRPr lang="en-US"/>
          </a:p>
        </p:txBody>
      </p:sp>
      <p:sp>
        <p:nvSpPr>
          <p:cNvPr id="46" name="fold-3-4">
            <a:extLst>
              <a:ext uri="{FF2B5EF4-FFF2-40B4-BE49-F238E27FC236}">
                <a16:creationId xmlns:a16="http://schemas.microsoft.com/office/drawing/2014/main" id="{5F75120D-4B52-4775-B03D-F901F2CA14A7}"/>
              </a:ext>
            </a:extLst>
          </p:cNvPr>
          <p:cNvSpPr>
            <a:spLocks noGrp="1"/>
          </p:cNvSpPr>
          <p:nvPr/>
        </p:nvSpPr>
        <p:spPr>
          <a:xfrm>
            <a:off x="6038850" y="416242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47" name="fold-label-4">
            <a:extLst>
              <a:ext uri="{FF2B5EF4-FFF2-40B4-BE49-F238E27FC236}">
                <a16:creationId xmlns:a16="http://schemas.microsoft.com/office/drawing/2014/main" id="{9B4D4C4E-8742-443C-87A9-3C9669D0BE18}"/>
              </a:ext>
            </a:extLst>
          </p:cNvPr>
          <p:cNvSpPr>
            <a:spLocks noGrp="1"/>
          </p:cNvSpPr>
          <p:nvPr/>
        </p:nvSpPr>
        <p:spPr>
          <a:xfrm>
            <a:off x="619125" y="4686300"/>
            <a:ext cx="1238250" cy="381000"/>
          </a:xfrm>
          <a:prstGeom prst="rect">
            <a:avLst/>
          </a:prstGeom>
          <a:noFill/>
          <a:ln w="0">
            <a:noFill/>
            <a:prstDash val="solid"/>
          </a:ln>
        </p:spPr>
        <p:txBody>
          <a:bodyPr lIns="0" tIns="0" rIns="0" bIns="0" anchor="t">
            <a:noAutofit/>
          </a:bodyPr>
          <a:lstStyle>
            <a:defPPr algn="l">
              <a:defRPr sz="1725" b="0">
                <a:solidFill>
                  <a:srgbClr val="111111"/>
                </a:solidFill>
                <a:latin typeface="Calibri"/>
                <a:ea typeface="Calibri"/>
                <a:cs typeface="Calibri"/>
              </a:defRPr>
            </a:defPPr>
            <a:lvl1pPr algn="l">
              <a:defRPr sz="1725" b="0">
                <a:solidFill>
                  <a:srgbClr val="111111"/>
                </a:solidFill>
                <a:latin typeface="Calibri"/>
                <a:ea typeface="Calibri"/>
                <a:cs typeface="Calibri"/>
              </a:defRPr>
            </a:lvl1pPr>
            <a:lvl2pPr algn="l">
              <a:defRPr sz="1725" b="0">
                <a:solidFill>
                  <a:srgbClr val="111111"/>
                </a:solidFill>
                <a:latin typeface="Calibri"/>
                <a:ea typeface="Calibri"/>
                <a:cs typeface="Calibri"/>
              </a:defRPr>
            </a:lvl2pPr>
            <a:lvl3pPr algn="l">
              <a:defRPr sz="1725" b="0">
                <a:solidFill>
                  <a:srgbClr val="111111"/>
                </a:solidFill>
                <a:latin typeface="Calibri"/>
                <a:ea typeface="Calibri"/>
                <a:cs typeface="Calibri"/>
              </a:defRPr>
            </a:lvl3pPr>
            <a:lvl4pPr algn="l">
              <a:defRPr sz="1725" b="0">
                <a:solidFill>
                  <a:srgbClr val="111111"/>
                </a:solidFill>
                <a:latin typeface="Calibri"/>
                <a:ea typeface="Calibri"/>
                <a:cs typeface="Calibri"/>
              </a:defRPr>
            </a:lvl4pPr>
            <a:lvl5pPr algn="l">
              <a:defRPr sz="1725" b="0">
                <a:solidFill>
                  <a:srgbClr val="111111"/>
                </a:solidFill>
                <a:latin typeface="Calibri"/>
                <a:ea typeface="Calibri"/>
                <a:cs typeface="Calibri"/>
              </a:defRPr>
            </a:lvl5pPr>
            <a:lvl6pPr algn="l">
              <a:defRPr sz="1725" b="0">
                <a:solidFill>
                  <a:srgbClr val="111111"/>
                </a:solidFill>
                <a:latin typeface="Calibri"/>
                <a:ea typeface="Calibri"/>
                <a:cs typeface="Calibri"/>
              </a:defRPr>
            </a:lvl6pPr>
            <a:lvl7pPr algn="l">
              <a:defRPr sz="1725" b="0">
                <a:solidFill>
                  <a:srgbClr val="111111"/>
                </a:solidFill>
                <a:latin typeface="Calibri"/>
                <a:ea typeface="Calibri"/>
                <a:cs typeface="Calibri"/>
              </a:defRPr>
            </a:lvl7pPr>
            <a:lvl8pPr algn="l">
              <a:defRPr sz="1725" b="0">
                <a:solidFill>
                  <a:srgbClr val="111111"/>
                </a:solidFill>
                <a:latin typeface="Calibri"/>
                <a:ea typeface="Calibri"/>
                <a:cs typeface="Calibri"/>
              </a:defRPr>
            </a:lvl8pPr>
            <a:lvl9pPr algn="l">
              <a:defRPr sz="1725" b="0">
                <a:solidFill>
                  <a:srgbClr val="111111"/>
                </a:solidFill>
                <a:latin typeface="Calibri"/>
                <a:ea typeface="Calibri"/>
                <a:cs typeface="Calibri"/>
              </a:defRPr>
            </a:lvl9pPr>
          </a:lstStyle>
          <a:p>
            <a:pPr algn="l">
              <a:defRPr sz="1725" b="0">
                <a:solidFill>
                  <a:srgbClr val="111111"/>
                </a:solidFill>
                <a:latin typeface="Calibri"/>
                <a:ea typeface="Calibri"/>
                <a:cs typeface="Calibri"/>
              </a:defRPr>
            </a:pPr>
            <a:r>
              <a:rPr sz="1725" b="0">
                <a:solidFill>
                  <a:srgbClr val="111111"/>
                </a:solidFill>
                <a:latin typeface="Calibri"/>
                <a:ea typeface="Calibri"/>
                <a:cs typeface="Calibri"/>
              </a:rPr>
              <a:t>Round 5</a:t>
            </a:r>
          </a:p>
        </p:txBody>
      </p:sp>
      <p:sp>
        <p:nvSpPr>
          <p:cNvPr id="48" name="Rectangle 47">
            <a:extLst>
              <a:ext uri="{FF2B5EF4-FFF2-40B4-BE49-F238E27FC236}">
                <a16:creationId xmlns:a16="http://schemas.microsoft.com/office/drawing/2014/main" id="{81C67EED-CE1C-4216-B70E-14F5E84E3DC2}"/>
              </a:ext>
            </a:extLst>
          </p:cNvPr>
          <p:cNvSpPr>
            <a:spLocks noGrp="1"/>
          </p:cNvSpPr>
          <p:nvPr/>
        </p:nvSpPr>
        <p:spPr>
          <a:xfrm>
            <a:off x="2000250" y="4610100"/>
            <a:ext cx="914400" cy="419100"/>
          </a:xfrm>
          <a:prstGeom prst="rect">
            <a:avLst/>
          </a:prstGeom>
          <a:solidFill>
            <a:srgbClr val="E3E7EA"/>
          </a:solidFill>
          <a:ln w="0">
            <a:noFill/>
            <a:prstDash val="solid"/>
          </a:ln>
        </p:spPr>
        <p:txBody>
          <a:bodyPr/>
          <a:lstStyle/>
          <a:p>
            <a:endParaRPr lang="en-US"/>
          </a:p>
        </p:txBody>
      </p:sp>
      <p:sp>
        <p:nvSpPr>
          <p:cNvPr id="49" name="fold-4-0">
            <a:extLst>
              <a:ext uri="{FF2B5EF4-FFF2-40B4-BE49-F238E27FC236}">
                <a16:creationId xmlns:a16="http://schemas.microsoft.com/office/drawing/2014/main" id="{921F8C10-4E2F-415B-AE40-7C215C4A79E3}"/>
              </a:ext>
            </a:extLst>
          </p:cNvPr>
          <p:cNvSpPr>
            <a:spLocks noGrp="1"/>
          </p:cNvSpPr>
          <p:nvPr/>
        </p:nvSpPr>
        <p:spPr>
          <a:xfrm>
            <a:off x="2038350" y="47148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50" name="Rectangle 49">
            <a:extLst>
              <a:ext uri="{FF2B5EF4-FFF2-40B4-BE49-F238E27FC236}">
                <a16:creationId xmlns:a16="http://schemas.microsoft.com/office/drawing/2014/main" id="{DF04CD8E-0EA1-44F1-818F-E08DB5CF0391}"/>
              </a:ext>
            </a:extLst>
          </p:cNvPr>
          <p:cNvSpPr>
            <a:spLocks noGrp="1"/>
          </p:cNvSpPr>
          <p:nvPr/>
        </p:nvSpPr>
        <p:spPr>
          <a:xfrm>
            <a:off x="3000375" y="4610100"/>
            <a:ext cx="914400" cy="419100"/>
          </a:xfrm>
          <a:prstGeom prst="rect">
            <a:avLst/>
          </a:prstGeom>
          <a:solidFill>
            <a:srgbClr val="E3E7EA"/>
          </a:solidFill>
          <a:ln w="0">
            <a:noFill/>
            <a:prstDash val="solid"/>
          </a:ln>
        </p:spPr>
        <p:txBody>
          <a:bodyPr/>
          <a:lstStyle/>
          <a:p>
            <a:endParaRPr lang="en-US"/>
          </a:p>
        </p:txBody>
      </p:sp>
      <p:sp>
        <p:nvSpPr>
          <p:cNvPr id="51" name="fold-4-1">
            <a:extLst>
              <a:ext uri="{FF2B5EF4-FFF2-40B4-BE49-F238E27FC236}">
                <a16:creationId xmlns:a16="http://schemas.microsoft.com/office/drawing/2014/main" id="{8C89F3C5-41C7-43BE-84A5-14F7B406A395}"/>
              </a:ext>
            </a:extLst>
          </p:cNvPr>
          <p:cNvSpPr>
            <a:spLocks noGrp="1"/>
          </p:cNvSpPr>
          <p:nvPr/>
        </p:nvSpPr>
        <p:spPr>
          <a:xfrm>
            <a:off x="3038475" y="47148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52" name="Rectangle 51">
            <a:extLst>
              <a:ext uri="{FF2B5EF4-FFF2-40B4-BE49-F238E27FC236}">
                <a16:creationId xmlns:a16="http://schemas.microsoft.com/office/drawing/2014/main" id="{4702482F-1753-45B1-A269-BEF5EF6186E4}"/>
              </a:ext>
            </a:extLst>
          </p:cNvPr>
          <p:cNvSpPr>
            <a:spLocks noGrp="1"/>
          </p:cNvSpPr>
          <p:nvPr/>
        </p:nvSpPr>
        <p:spPr>
          <a:xfrm>
            <a:off x="4000500" y="4610100"/>
            <a:ext cx="914400" cy="419100"/>
          </a:xfrm>
          <a:prstGeom prst="rect">
            <a:avLst/>
          </a:prstGeom>
          <a:solidFill>
            <a:srgbClr val="E3E7EA"/>
          </a:solidFill>
          <a:ln w="0">
            <a:noFill/>
            <a:prstDash val="solid"/>
          </a:ln>
        </p:spPr>
        <p:txBody>
          <a:bodyPr/>
          <a:lstStyle/>
          <a:p>
            <a:endParaRPr lang="en-US"/>
          </a:p>
        </p:txBody>
      </p:sp>
      <p:sp>
        <p:nvSpPr>
          <p:cNvPr id="53" name="fold-4-2">
            <a:extLst>
              <a:ext uri="{FF2B5EF4-FFF2-40B4-BE49-F238E27FC236}">
                <a16:creationId xmlns:a16="http://schemas.microsoft.com/office/drawing/2014/main" id="{73090ECE-B321-400E-AF3C-3F9C9C89173D}"/>
              </a:ext>
            </a:extLst>
          </p:cNvPr>
          <p:cNvSpPr>
            <a:spLocks noGrp="1"/>
          </p:cNvSpPr>
          <p:nvPr/>
        </p:nvSpPr>
        <p:spPr>
          <a:xfrm>
            <a:off x="4038600" y="47148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54" name="Rectangle 53">
            <a:extLst>
              <a:ext uri="{FF2B5EF4-FFF2-40B4-BE49-F238E27FC236}">
                <a16:creationId xmlns:a16="http://schemas.microsoft.com/office/drawing/2014/main" id="{B2FE1FC6-04F0-4D4D-B99D-3462852C7AAD}"/>
              </a:ext>
            </a:extLst>
          </p:cNvPr>
          <p:cNvSpPr>
            <a:spLocks noGrp="1"/>
          </p:cNvSpPr>
          <p:nvPr/>
        </p:nvSpPr>
        <p:spPr>
          <a:xfrm>
            <a:off x="5000625" y="4610100"/>
            <a:ext cx="914400" cy="419100"/>
          </a:xfrm>
          <a:prstGeom prst="rect">
            <a:avLst/>
          </a:prstGeom>
          <a:solidFill>
            <a:srgbClr val="E3E7EA"/>
          </a:solidFill>
          <a:ln w="0">
            <a:noFill/>
            <a:prstDash val="solid"/>
          </a:ln>
        </p:spPr>
        <p:txBody>
          <a:bodyPr/>
          <a:lstStyle/>
          <a:p>
            <a:endParaRPr lang="en-US"/>
          </a:p>
        </p:txBody>
      </p:sp>
      <p:sp>
        <p:nvSpPr>
          <p:cNvPr id="55" name="fold-4-3">
            <a:extLst>
              <a:ext uri="{FF2B5EF4-FFF2-40B4-BE49-F238E27FC236}">
                <a16:creationId xmlns:a16="http://schemas.microsoft.com/office/drawing/2014/main" id="{5E53953F-D94B-4409-A8FD-C2FF07650CF7}"/>
              </a:ext>
            </a:extLst>
          </p:cNvPr>
          <p:cNvSpPr>
            <a:spLocks noGrp="1"/>
          </p:cNvSpPr>
          <p:nvPr/>
        </p:nvSpPr>
        <p:spPr>
          <a:xfrm>
            <a:off x="5038725" y="4714875"/>
            <a:ext cx="838200" cy="266700"/>
          </a:xfrm>
          <a:prstGeom prst="rect">
            <a:avLst/>
          </a:prstGeom>
          <a:noFill/>
          <a:ln w="0">
            <a:noFill/>
            <a:prstDash val="solid"/>
          </a:ln>
        </p:spPr>
        <p:txBody>
          <a:bodyPr lIns="0" tIns="0" rIns="0" bIns="0" anchor="t">
            <a:noAutofit/>
          </a:bodyPr>
          <a:lstStyle>
            <a:defPPr algn="ctr">
              <a:defRPr sz="1350" b="0">
                <a:solidFill>
                  <a:srgbClr val="111111"/>
                </a:solidFill>
                <a:latin typeface="Calibri"/>
                <a:ea typeface="Calibri"/>
                <a:cs typeface="Calibri"/>
              </a:defRPr>
            </a:defPPr>
            <a:lvl1pPr algn="ctr">
              <a:defRPr sz="1350" b="0">
                <a:solidFill>
                  <a:srgbClr val="111111"/>
                </a:solidFill>
                <a:latin typeface="Calibri"/>
                <a:ea typeface="Calibri"/>
                <a:cs typeface="Calibri"/>
              </a:defRPr>
            </a:lvl1pPr>
            <a:lvl2pPr algn="ctr">
              <a:defRPr sz="1350" b="0">
                <a:solidFill>
                  <a:srgbClr val="111111"/>
                </a:solidFill>
                <a:latin typeface="Calibri"/>
                <a:ea typeface="Calibri"/>
                <a:cs typeface="Calibri"/>
              </a:defRPr>
            </a:lvl2pPr>
            <a:lvl3pPr algn="ctr">
              <a:defRPr sz="1350" b="0">
                <a:solidFill>
                  <a:srgbClr val="111111"/>
                </a:solidFill>
                <a:latin typeface="Calibri"/>
                <a:ea typeface="Calibri"/>
                <a:cs typeface="Calibri"/>
              </a:defRPr>
            </a:lvl3pPr>
            <a:lvl4pPr algn="ctr">
              <a:defRPr sz="1350" b="0">
                <a:solidFill>
                  <a:srgbClr val="111111"/>
                </a:solidFill>
                <a:latin typeface="Calibri"/>
                <a:ea typeface="Calibri"/>
                <a:cs typeface="Calibri"/>
              </a:defRPr>
            </a:lvl4pPr>
            <a:lvl5pPr algn="ctr">
              <a:defRPr sz="1350" b="0">
                <a:solidFill>
                  <a:srgbClr val="111111"/>
                </a:solidFill>
                <a:latin typeface="Calibri"/>
                <a:ea typeface="Calibri"/>
                <a:cs typeface="Calibri"/>
              </a:defRPr>
            </a:lvl5pPr>
            <a:lvl6pPr algn="ctr">
              <a:defRPr sz="1350" b="0">
                <a:solidFill>
                  <a:srgbClr val="111111"/>
                </a:solidFill>
                <a:latin typeface="Calibri"/>
                <a:ea typeface="Calibri"/>
                <a:cs typeface="Calibri"/>
              </a:defRPr>
            </a:lvl6pPr>
            <a:lvl7pPr algn="ctr">
              <a:defRPr sz="1350" b="0">
                <a:solidFill>
                  <a:srgbClr val="111111"/>
                </a:solidFill>
                <a:latin typeface="Calibri"/>
                <a:ea typeface="Calibri"/>
                <a:cs typeface="Calibri"/>
              </a:defRPr>
            </a:lvl7pPr>
            <a:lvl8pPr algn="ctr">
              <a:defRPr sz="1350" b="0">
                <a:solidFill>
                  <a:srgbClr val="111111"/>
                </a:solidFill>
                <a:latin typeface="Calibri"/>
                <a:ea typeface="Calibri"/>
                <a:cs typeface="Calibri"/>
              </a:defRPr>
            </a:lvl8pPr>
            <a:lvl9pPr algn="ctr">
              <a:defRPr sz="1350" b="0">
                <a:solidFill>
                  <a:srgbClr val="111111"/>
                </a:solidFill>
                <a:latin typeface="Calibri"/>
                <a:ea typeface="Calibri"/>
                <a:cs typeface="Calibri"/>
              </a:defRPr>
            </a:lvl9pPr>
          </a:lstStyle>
          <a:p>
            <a:pPr algn="ctr">
              <a:defRPr sz="1350" b="0">
                <a:solidFill>
                  <a:srgbClr val="111111"/>
                </a:solidFill>
                <a:latin typeface="Calibri"/>
                <a:ea typeface="Calibri"/>
                <a:cs typeface="Calibri"/>
              </a:defRPr>
            </a:pPr>
            <a:r>
              <a:rPr sz="1350" b="0">
                <a:solidFill>
                  <a:srgbClr val="111111"/>
                </a:solidFill>
                <a:latin typeface="Calibri"/>
                <a:ea typeface="Calibri"/>
                <a:cs typeface="Calibri"/>
              </a:rPr>
              <a:t>Train</a:t>
            </a:r>
          </a:p>
        </p:txBody>
      </p:sp>
      <p:sp>
        <p:nvSpPr>
          <p:cNvPr id="56" name="Rectangle 55">
            <a:extLst>
              <a:ext uri="{FF2B5EF4-FFF2-40B4-BE49-F238E27FC236}">
                <a16:creationId xmlns:a16="http://schemas.microsoft.com/office/drawing/2014/main" id="{D42FFA3F-626B-4817-AEE6-07A16126BB1F}"/>
              </a:ext>
            </a:extLst>
          </p:cNvPr>
          <p:cNvSpPr>
            <a:spLocks noGrp="1"/>
          </p:cNvSpPr>
          <p:nvPr/>
        </p:nvSpPr>
        <p:spPr>
          <a:xfrm>
            <a:off x="6000750" y="4610100"/>
            <a:ext cx="914400" cy="419100"/>
          </a:xfrm>
          <a:prstGeom prst="rect">
            <a:avLst/>
          </a:prstGeom>
          <a:solidFill>
            <a:srgbClr val="337AA5"/>
          </a:solidFill>
          <a:ln w="0">
            <a:noFill/>
            <a:prstDash val="solid"/>
          </a:ln>
        </p:spPr>
        <p:txBody>
          <a:bodyPr/>
          <a:lstStyle/>
          <a:p>
            <a:endParaRPr lang="en-US"/>
          </a:p>
        </p:txBody>
      </p:sp>
      <p:sp>
        <p:nvSpPr>
          <p:cNvPr id="57" name="fold-4-4">
            <a:extLst>
              <a:ext uri="{FF2B5EF4-FFF2-40B4-BE49-F238E27FC236}">
                <a16:creationId xmlns:a16="http://schemas.microsoft.com/office/drawing/2014/main" id="{A95F901D-5CE4-49B6-99CE-AB224CB4BEA2}"/>
              </a:ext>
            </a:extLst>
          </p:cNvPr>
          <p:cNvSpPr>
            <a:spLocks noGrp="1"/>
          </p:cNvSpPr>
          <p:nvPr/>
        </p:nvSpPr>
        <p:spPr>
          <a:xfrm>
            <a:off x="6038850" y="4714875"/>
            <a:ext cx="838200" cy="266700"/>
          </a:xfrm>
          <a:prstGeom prst="rect">
            <a:avLst/>
          </a:prstGeom>
          <a:noFill/>
          <a:ln w="0">
            <a:noFill/>
            <a:prstDash val="solid"/>
          </a:ln>
        </p:spPr>
        <p:txBody>
          <a:bodyPr lIns="0" tIns="0" rIns="0" bIns="0" anchor="t">
            <a:noAutofit/>
          </a:bodyPr>
          <a:lstStyle>
            <a:defPPr algn="ctr">
              <a:defRPr sz="1350" b="0">
                <a:solidFill>
                  <a:srgbClr val="FFFFFF"/>
                </a:solidFill>
                <a:latin typeface="Calibri"/>
                <a:ea typeface="Calibri"/>
                <a:cs typeface="Calibri"/>
              </a:defRPr>
            </a:defPPr>
            <a:lvl1pPr algn="ctr">
              <a:defRPr sz="1350" b="0">
                <a:solidFill>
                  <a:srgbClr val="FFFFFF"/>
                </a:solidFill>
                <a:latin typeface="Calibri"/>
                <a:ea typeface="Calibri"/>
                <a:cs typeface="Calibri"/>
              </a:defRPr>
            </a:lvl1pPr>
            <a:lvl2pPr algn="ctr">
              <a:defRPr sz="1350" b="0">
                <a:solidFill>
                  <a:srgbClr val="FFFFFF"/>
                </a:solidFill>
                <a:latin typeface="Calibri"/>
                <a:ea typeface="Calibri"/>
                <a:cs typeface="Calibri"/>
              </a:defRPr>
            </a:lvl2pPr>
            <a:lvl3pPr algn="ctr">
              <a:defRPr sz="1350" b="0">
                <a:solidFill>
                  <a:srgbClr val="FFFFFF"/>
                </a:solidFill>
                <a:latin typeface="Calibri"/>
                <a:ea typeface="Calibri"/>
                <a:cs typeface="Calibri"/>
              </a:defRPr>
            </a:lvl3pPr>
            <a:lvl4pPr algn="ctr">
              <a:defRPr sz="1350" b="0">
                <a:solidFill>
                  <a:srgbClr val="FFFFFF"/>
                </a:solidFill>
                <a:latin typeface="Calibri"/>
                <a:ea typeface="Calibri"/>
                <a:cs typeface="Calibri"/>
              </a:defRPr>
            </a:lvl4pPr>
            <a:lvl5pPr algn="ctr">
              <a:defRPr sz="1350" b="0">
                <a:solidFill>
                  <a:srgbClr val="FFFFFF"/>
                </a:solidFill>
                <a:latin typeface="Calibri"/>
                <a:ea typeface="Calibri"/>
                <a:cs typeface="Calibri"/>
              </a:defRPr>
            </a:lvl5pPr>
            <a:lvl6pPr algn="ctr">
              <a:defRPr sz="1350" b="0">
                <a:solidFill>
                  <a:srgbClr val="FFFFFF"/>
                </a:solidFill>
                <a:latin typeface="Calibri"/>
                <a:ea typeface="Calibri"/>
                <a:cs typeface="Calibri"/>
              </a:defRPr>
            </a:lvl6pPr>
            <a:lvl7pPr algn="ctr">
              <a:defRPr sz="1350" b="0">
                <a:solidFill>
                  <a:srgbClr val="FFFFFF"/>
                </a:solidFill>
                <a:latin typeface="Calibri"/>
                <a:ea typeface="Calibri"/>
                <a:cs typeface="Calibri"/>
              </a:defRPr>
            </a:lvl7pPr>
            <a:lvl8pPr algn="ctr">
              <a:defRPr sz="1350" b="0">
                <a:solidFill>
                  <a:srgbClr val="FFFFFF"/>
                </a:solidFill>
                <a:latin typeface="Calibri"/>
                <a:ea typeface="Calibri"/>
                <a:cs typeface="Calibri"/>
              </a:defRPr>
            </a:lvl8pPr>
            <a:lvl9pPr algn="ctr">
              <a:defRPr sz="1350" b="0">
                <a:solidFill>
                  <a:srgbClr val="FFFFFF"/>
                </a:solidFill>
                <a:latin typeface="Calibri"/>
                <a:ea typeface="Calibri"/>
                <a:cs typeface="Calibri"/>
              </a:defRPr>
            </a:lvl9pPr>
          </a:lstStyle>
          <a:p>
            <a:pPr algn="ctr">
              <a:defRPr sz="1350" b="0">
                <a:solidFill>
                  <a:srgbClr val="FFFFFF"/>
                </a:solidFill>
                <a:latin typeface="Calibri"/>
                <a:ea typeface="Calibri"/>
                <a:cs typeface="Calibri"/>
              </a:defRPr>
            </a:pPr>
            <a:r>
              <a:rPr sz="1350" b="0">
                <a:solidFill>
                  <a:srgbClr val="FFFFFF"/>
                </a:solidFill>
                <a:latin typeface="Calibri"/>
                <a:ea typeface="Calibri"/>
                <a:cs typeface="Calibri"/>
              </a:rPr>
              <a:t>Validate</a:t>
            </a:r>
          </a:p>
        </p:txBody>
      </p:sp>
      <p:sp>
        <p:nvSpPr>
          <p:cNvPr id="58" name="Rectangle 57">
            <a:extLst>
              <a:ext uri="{FF2B5EF4-FFF2-40B4-BE49-F238E27FC236}">
                <a16:creationId xmlns:a16="http://schemas.microsoft.com/office/drawing/2014/main" id="{017C6EFA-0CF2-47A4-A309-B249C07A19C1}"/>
              </a:ext>
            </a:extLst>
          </p:cNvPr>
          <p:cNvSpPr>
            <a:spLocks noGrp="1"/>
          </p:cNvSpPr>
          <p:nvPr/>
        </p:nvSpPr>
        <p:spPr>
          <a:xfrm>
            <a:off x="7429500" y="2400300"/>
            <a:ext cx="1095375" cy="2628900"/>
          </a:xfrm>
          <a:prstGeom prst="rect">
            <a:avLst/>
          </a:prstGeom>
          <a:solidFill>
            <a:srgbClr val="FFF5DB"/>
          </a:solidFill>
          <a:ln w="9525">
            <a:solidFill>
              <a:srgbClr val="BD9140"/>
            </a:solidFill>
            <a:prstDash val="solid"/>
          </a:ln>
        </p:spPr>
        <p:txBody>
          <a:bodyPr/>
          <a:lstStyle/>
          <a:p>
            <a:endParaRPr lang="en-US"/>
          </a:p>
        </p:txBody>
      </p:sp>
      <p:sp>
        <p:nvSpPr>
          <p:cNvPr id="59" name="test-box">
            <a:extLst>
              <a:ext uri="{FF2B5EF4-FFF2-40B4-BE49-F238E27FC236}">
                <a16:creationId xmlns:a16="http://schemas.microsoft.com/office/drawing/2014/main" id="{6502782E-78D1-4B98-BDB0-0873B1E79959}"/>
              </a:ext>
            </a:extLst>
          </p:cNvPr>
          <p:cNvSpPr>
            <a:spLocks noGrp="1"/>
          </p:cNvSpPr>
          <p:nvPr/>
        </p:nvSpPr>
        <p:spPr>
          <a:xfrm>
            <a:off x="7505700" y="2857500"/>
            <a:ext cx="952500" cy="1809750"/>
          </a:xfrm>
          <a:prstGeom prst="rect">
            <a:avLst/>
          </a:prstGeom>
          <a:noFill/>
          <a:ln w="0">
            <a:noFill/>
            <a:prstDash val="solid"/>
          </a:ln>
        </p:spPr>
        <p:txBody>
          <a:bodyPr lIns="0" tIns="0" rIns="0" bIns="0" anchor="t">
            <a:noAutofit/>
          </a:bodyPr>
          <a:lstStyle>
            <a:defPPr algn="ctr">
              <a:defRPr sz="1575" b="0">
                <a:solidFill>
                  <a:srgbClr val="111111"/>
                </a:solidFill>
                <a:latin typeface="Calibri"/>
                <a:ea typeface="Calibri"/>
                <a:cs typeface="Calibri"/>
              </a:defRPr>
            </a:defPPr>
            <a:lvl1pPr algn="ctr">
              <a:defRPr sz="1575" b="0">
                <a:solidFill>
                  <a:srgbClr val="111111"/>
                </a:solidFill>
                <a:latin typeface="Calibri"/>
                <a:ea typeface="Calibri"/>
                <a:cs typeface="Calibri"/>
              </a:defRPr>
            </a:lvl1pPr>
            <a:lvl2pPr algn="ctr">
              <a:defRPr sz="1575" b="0">
                <a:solidFill>
                  <a:srgbClr val="111111"/>
                </a:solidFill>
                <a:latin typeface="Calibri"/>
                <a:ea typeface="Calibri"/>
                <a:cs typeface="Calibri"/>
              </a:defRPr>
            </a:lvl2pPr>
            <a:lvl3pPr algn="ctr">
              <a:defRPr sz="1575" b="0">
                <a:solidFill>
                  <a:srgbClr val="111111"/>
                </a:solidFill>
                <a:latin typeface="Calibri"/>
                <a:ea typeface="Calibri"/>
                <a:cs typeface="Calibri"/>
              </a:defRPr>
            </a:lvl3pPr>
            <a:lvl4pPr algn="ctr">
              <a:defRPr sz="1575" b="0">
                <a:solidFill>
                  <a:srgbClr val="111111"/>
                </a:solidFill>
                <a:latin typeface="Calibri"/>
                <a:ea typeface="Calibri"/>
                <a:cs typeface="Calibri"/>
              </a:defRPr>
            </a:lvl4pPr>
            <a:lvl5pPr algn="ctr">
              <a:defRPr sz="1575" b="0">
                <a:solidFill>
                  <a:srgbClr val="111111"/>
                </a:solidFill>
                <a:latin typeface="Calibri"/>
                <a:ea typeface="Calibri"/>
                <a:cs typeface="Calibri"/>
              </a:defRPr>
            </a:lvl5pPr>
            <a:lvl6pPr algn="ctr">
              <a:defRPr sz="1575" b="0">
                <a:solidFill>
                  <a:srgbClr val="111111"/>
                </a:solidFill>
                <a:latin typeface="Calibri"/>
                <a:ea typeface="Calibri"/>
                <a:cs typeface="Calibri"/>
              </a:defRPr>
            </a:lvl6pPr>
            <a:lvl7pPr algn="ctr">
              <a:defRPr sz="1575" b="0">
                <a:solidFill>
                  <a:srgbClr val="111111"/>
                </a:solidFill>
                <a:latin typeface="Calibri"/>
                <a:ea typeface="Calibri"/>
                <a:cs typeface="Calibri"/>
              </a:defRPr>
            </a:lvl7pPr>
            <a:lvl8pPr algn="ctr">
              <a:defRPr sz="1575" b="0">
                <a:solidFill>
                  <a:srgbClr val="111111"/>
                </a:solidFill>
                <a:latin typeface="Calibri"/>
                <a:ea typeface="Calibri"/>
                <a:cs typeface="Calibri"/>
              </a:defRPr>
            </a:lvl8pPr>
            <a:lvl9pPr algn="ctr">
              <a:defRPr sz="1575" b="0">
                <a:solidFill>
                  <a:srgbClr val="111111"/>
                </a:solidFill>
                <a:latin typeface="Calibri"/>
                <a:ea typeface="Calibri"/>
                <a:cs typeface="Calibri"/>
              </a:defRPr>
            </a:lvl9pPr>
          </a:lstStyle>
          <a:p>
            <a:pPr algn="ctr">
              <a:defRPr sz="1575" b="0">
                <a:solidFill>
                  <a:srgbClr val="111111"/>
                </a:solidFill>
                <a:latin typeface="Calibri"/>
                <a:ea typeface="Calibri"/>
                <a:cs typeface="Calibri"/>
              </a:defRPr>
            </a:pPr>
            <a:r>
              <a:rPr sz="1575" b="0">
                <a:solidFill>
                  <a:srgbClr val="111111"/>
                </a:solidFill>
                <a:latin typeface="Calibri"/>
                <a:ea typeface="Calibri"/>
                <a:cs typeface="Calibri"/>
              </a:rPr>
              <a:t>Test set</a:t>
            </a:r>
          </a:p>
          <a:p>
            <a:endParaRPr sz="1575" b="0">
              <a:solidFill>
                <a:srgbClr val="111111"/>
              </a:solidFill>
              <a:latin typeface="Calibri"/>
              <a:ea typeface="Calibri"/>
              <a:cs typeface="Calibri"/>
            </a:endParaRPr>
          </a:p>
          <a:p>
            <a:pPr algn="ctr">
              <a:defRPr sz="1575" b="0">
                <a:solidFill>
                  <a:srgbClr val="111111"/>
                </a:solidFill>
                <a:latin typeface="Calibri"/>
                <a:ea typeface="Calibri"/>
                <a:cs typeface="Calibri"/>
              </a:defRPr>
            </a:pPr>
            <a:r>
              <a:rPr sz="1575" b="0">
                <a:solidFill>
                  <a:srgbClr val="111111"/>
                </a:solidFill>
                <a:latin typeface="Calibri"/>
                <a:ea typeface="Calibri"/>
                <a:cs typeface="Calibri"/>
              </a:rPr>
              <a:t>Untouched</a:t>
            </a:r>
          </a:p>
          <a:p>
            <a:pPr algn="ctr">
              <a:defRPr sz="1575" b="0">
                <a:solidFill>
                  <a:srgbClr val="111111"/>
                </a:solidFill>
                <a:latin typeface="Calibri"/>
                <a:ea typeface="Calibri"/>
                <a:cs typeface="Calibri"/>
              </a:defRPr>
            </a:pPr>
            <a:r>
              <a:rPr sz="1575" b="0">
                <a:solidFill>
                  <a:srgbClr val="111111"/>
                </a:solidFill>
                <a:latin typeface="Calibri"/>
                <a:ea typeface="Calibri"/>
                <a:cs typeface="Calibri"/>
              </a:rPr>
              <a:t>until final</a:t>
            </a:r>
          </a:p>
          <a:p>
            <a:pPr algn="ctr">
              <a:defRPr sz="1575" b="0">
                <a:solidFill>
                  <a:srgbClr val="111111"/>
                </a:solidFill>
                <a:latin typeface="Calibri"/>
                <a:ea typeface="Calibri"/>
                <a:cs typeface="Calibri"/>
              </a:defRPr>
            </a:pPr>
            <a:r>
              <a:rPr sz="1575" b="0">
                <a:solidFill>
                  <a:srgbClr val="111111"/>
                </a:solidFill>
                <a:latin typeface="Calibri"/>
                <a:ea typeface="Calibri"/>
                <a:cs typeface="Calibri"/>
              </a:rPr>
              <a:t>evaluation</a:t>
            </a:r>
          </a:p>
        </p:txBody>
      </p:sp>
      <p:sp>
        <p:nvSpPr>
          <p:cNvPr id="60" name="summary">
            <a:extLst>
              <a:ext uri="{FF2B5EF4-FFF2-40B4-BE49-F238E27FC236}">
                <a16:creationId xmlns:a16="http://schemas.microsoft.com/office/drawing/2014/main" id="{4F6B2A2A-078A-4773-9E1B-5694BBF933C6}"/>
              </a:ext>
            </a:extLst>
          </p:cNvPr>
          <p:cNvSpPr>
            <a:spLocks noGrp="1"/>
          </p:cNvSpPr>
          <p:nvPr/>
        </p:nvSpPr>
        <p:spPr>
          <a:xfrm>
            <a:off x="619125" y="5638800"/>
            <a:ext cx="7905750" cy="85725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Compare mean validation scores, choose a model, then refit on all training observations.</a:t>
            </a:r>
          </a:p>
        </p:txBody>
      </p:sp>
    </p:spTree>
    <p:extLst>
      <p:ext uri="{BB962C8B-B14F-4D97-AF65-F5344CB8AC3E}">
        <p14:creationId xmlns:p14="http://schemas.microsoft.com/office/powerpoint/2010/main" val="674951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title">
            <a:extLst>
              <a:ext uri="{FF2B5EF4-FFF2-40B4-BE49-F238E27FC236}">
                <a16:creationId xmlns:a16="http://schemas.microsoft.com/office/drawing/2014/main" id="{A4114B2A-09F0-48FA-B0C3-F1CFBEB37FEF}"/>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Preprocessing belongs inside the pipeline</a:t>
            </a:r>
          </a:p>
        </p:txBody>
      </p:sp>
      <p:sp>
        <p:nvSpPr>
          <p:cNvPr id="2" name="body-0">
            <a:extLst>
              <a:ext uri="{FF2B5EF4-FFF2-40B4-BE49-F238E27FC236}">
                <a16:creationId xmlns:a16="http://schemas.microsoft.com/office/drawing/2014/main" id="{37AD2DEE-D73C-4C21-90EC-79708E30EBE8}"/>
              </a:ext>
            </a:extLst>
          </p:cNvPr>
          <p:cNvSpPr>
            <a:spLocks noGrp="1"/>
          </p:cNvSpPr>
          <p:nvPr/>
        </p:nvSpPr>
        <p:spPr>
          <a:xfrm>
            <a:off x="619125" y="1524000"/>
            <a:ext cx="7905750" cy="7620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1. Impute missing values using training-fold medians.</a:t>
            </a:r>
          </a:p>
        </p:txBody>
      </p:sp>
      <p:sp>
        <p:nvSpPr>
          <p:cNvPr id="3" name="body-1">
            <a:extLst>
              <a:ext uri="{FF2B5EF4-FFF2-40B4-BE49-F238E27FC236}">
                <a16:creationId xmlns:a16="http://schemas.microsoft.com/office/drawing/2014/main" id="{AEA3C394-99FD-40D4-8B61-27770F56DF2F}"/>
              </a:ext>
            </a:extLst>
          </p:cNvPr>
          <p:cNvSpPr>
            <a:spLocks noGrp="1"/>
          </p:cNvSpPr>
          <p:nvPr/>
        </p:nvSpPr>
        <p:spPr>
          <a:xfrm>
            <a:off x="619125" y="2381250"/>
            <a:ext cx="7905750" cy="7620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2. Standardise using training-fold means and SDs.</a:t>
            </a:r>
          </a:p>
        </p:txBody>
      </p:sp>
      <p:sp>
        <p:nvSpPr>
          <p:cNvPr id="4" name="body-2">
            <a:extLst>
              <a:ext uri="{FF2B5EF4-FFF2-40B4-BE49-F238E27FC236}">
                <a16:creationId xmlns:a16="http://schemas.microsoft.com/office/drawing/2014/main" id="{BFAAD39A-89A4-4818-BA22-4473315ADE60}"/>
              </a:ext>
            </a:extLst>
          </p:cNvPr>
          <p:cNvSpPr>
            <a:spLocks noGrp="1"/>
          </p:cNvSpPr>
          <p:nvPr/>
        </p:nvSpPr>
        <p:spPr>
          <a:xfrm>
            <a:off x="619125" y="3238500"/>
            <a:ext cx="7905750" cy="7620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3. Optionally select features using training-fold labels.</a:t>
            </a:r>
          </a:p>
        </p:txBody>
      </p:sp>
      <p:sp>
        <p:nvSpPr>
          <p:cNvPr id="5" name="body-3">
            <a:extLst>
              <a:ext uri="{FF2B5EF4-FFF2-40B4-BE49-F238E27FC236}">
                <a16:creationId xmlns:a16="http://schemas.microsoft.com/office/drawing/2014/main" id="{0E56E981-5B6E-4FE0-8056-5E3A02A08050}"/>
              </a:ext>
            </a:extLst>
          </p:cNvPr>
          <p:cNvSpPr>
            <a:spLocks noGrp="1"/>
          </p:cNvSpPr>
          <p:nvPr/>
        </p:nvSpPr>
        <p:spPr>
          <a:xfrm>
            <a:off x="619125" y="4095750"/>
            <a:ext cx="7905750" cy="7620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4. Fit the estimator on the transformed training fold.</a:t>
            </a:r>
          </a:p>
        </p:txBody>
      </p:sp>
      <p:sp>
        <p:nvSpPr>
          <p:cNvPr id="6" name="validation">
            <a:extLst>
              <a:ext uri="{FF2B5EF4-FFF2-40B4-BE49-F238E27FC236}">
                <a16:creationId xmlns:a16="http://schemas.microsoft.com/office/drawing/2014/main" id="{80CD7A43-5141-458B-9042-D6C0D2CFAD43}"/>
              </a:ext>
            </a:extLst>
          </p:cNvPr>
          <p:cNvSpPr>
            <a:spLocks noGrp="1"/>
          </p:cNvSpPr>
          <p:nvPr/>
        </p:nvSpPr>
        <p:spPr>
          <a:xfrm>
            <a:off x="619125" y="5238750"/>
            <a:ext cx="7905750" cy="952500"/>
          </a:xfrm>
          <a:prstGeom prst="rect">
            <a:avLst/>
          </a:prstGeom>
          <a:noFill/>
          <a:ln w="0">
            <a:noFill/>
            <a:prstDash val="solid"/>
          </a:ln>
        </p:spPr>
        <p:txBody>
          <a:bodyPr lIns="0" tIns="0" rIns="0" bIns="0" anchor="t">
            <a:noAutofit/>
          </a:bodyPr>
          <a:lstStyle>
            <a:defPPr algn="l">
              <a:defRPr sz="2175" b="1">
                <a:solidFill>
                  <a:srgbClr val="111111"/>
                </a:solidFill>
                <a:latin typeface="Calibri"/>
                <a:ea typeface="Calibri"/>
                <a:cs typeface="Calibri"/>
              </a:defRPr>
            </a:defPPr>
            <a:lvl1pPr algn="l">
              <a:defRPr sz="2175" b="1">
                <a:solidFill>
                  <a:srgbClr val="111111"/>
                </a:solidFill>
                <a:latin typeface="Calibri"/>
                <a:ea typeface="Calibri"/>
                <a:cs typeface="Calibri"/>
              </a:defRPr>
            </a:lvl1pPr>
            <a:lvl2pPr algn="l">
              <a:defRPr sz="2175" b="1">
                <a:solidFill>
                  <a:srgbClr val="111111"/>
                </a:solidFill>
                <a:latin typeface="Calibri"/>
                <a:ea typeface="Calibri"/>
                <a:cs typeface="Calibri"/>
              </a:defRPr>
            </a:lvl2pPr>
            <a:lvl3pPr algn="l">
              <a:defRPr sz="2175" b="1">
                <a:solidFill>
                  <a:srgbClr val="111111"/>
                </a:solidFill>
                <a:latin typeface="Calibri"/>
                <a:ea typeface="Calibri"/>
                <a:cs typeface="Calibri"/>
              </a:defRPr>
            </a:lvl3pPr>
            <a:lvl4pPr algn="l">
              <a:defRPr sz="2175" b="1">
                <a:solidFill>
                  <a:srgbClr val="111111"/>
                </a:solidFill>
                <a:latin typeface="Calibri"/>
                <a:ea typeface="Calibri"/>
                <a:cs typeface="Calibri"/>
              </a:defRPr>
            </a:lvl4pPr>
            <a:lvl5pPr algn="l">
              <a:defRPr sz="2175" b="1">
                <a:solidFill>
                  <a:srgbClr val="111111"/>
                </a:solidFill>
                <a:latin typeface="Calibri"/>
                <a:ea typeface="Calibri"/>
                <a:cs typeface="Calibri"/>
              </a:defRPr>
            </a:lvl5pPr>
            <a:lvl6pPr algn="l">
              <a:defRPr sz="2175" b="1">
                <a:solidFill>
                  <a:srgbClr val="111111"/>
                </a:solidFill>
                <a:latin typeface="Calibri"/>
                <a:ea typeface="Calibri"/>
                <a:cs typeface="Calibri"/>
              </a:defRPr>
            </a:lvl6pPr>
            <a:lvl7pPr algn="l">
              <a:defRPr sz="2175" b="1">
                <a:solidFill>
                  <a:srgbClr val="111111"/>
                </a:solidFill>
                <a:latin typeface="Calibri"/>
                <a:ea typeface="Calibri"/>
                <a:cs typeface="Calibri"/>
              </a:defRPr>
            </a:lvl7pPr>
            <a:lvl8pPr algn="l">
              <a:defRPr sz="2175" b="1">
                <a:solidFill>
                  <a:srgbClr val="111111"/>
                </a:solidFill>
                <a:latin typeface="Calibri"/>
                <a:ea typeface="Calibri"/>
                <a:cs typeface="Calibri"/>
              </a:defRPr>
            </a:lvl8pPr>
            <a:lvl9pPr algn="l">
              <a:defRPr sz="2175" b="1">
                <a:solidFill>
                  <a:srgbClr val="111111"/>
                </a:solidFill>
                <a:latin typeface="Calibri"/>
                <a:ea typeface="Calibri"/>
                <a:cs typeface="Calibri"/>
              </a:defRPr>
            </a:lvl9pPr>
          </a:lstStyle>
          <a:p>
            <a:pPr algn="l">
              <a:defRPr sz="2175" b="1">
                <a:solidFill>
                  <a:srgbClr val="111111"/>
                </a:solidFill>
                <a:latin typeface="Calibri"/>
                <a:ea typeface="Calibri"/>
                <a:cs typeface="Calibri"/>
              </a:defRPr>
            </a:pPr>
            <a:r>
              <a:rPr sz="2175" b="1">
                <a:solidFill>
                  <a:srgbClr val="111111"/>
                </a:solidFill>
                <a:latin typeface="Calibri"/>
                <a:ea typeface="Calibri"/>
                <a:cs typeface="Calibri"/>
              </a:rPr>
              <a:t>Apply these fitted transformations to the validation fold.</a:t>
            </a:r>
          </a:p>
          <a:p>
            <a:pPr algn="l">
              <a:defRPr sz="2175" b="1">
                <a:solidFill>
                  <a:srgbClr val="111111"/>
                </a:solidFill>
                <a:latin typeface="Calibri"/>
                <a:ea typeface="Calibri"/>
                <a:cs typeface="Calibri"/>
              </a:defRPr>
            </a:pPr>
            <a:r>
              <a:rPr sz="2175" b="1">
                <a:solidFill>
                  <a:srgbClr val="111111"/>
                </a:solidFill>
                <a:latin typeface="Calibri"/>
                <a:ea typeface="Calibri"/>
                <a:cs typeface="Calibri"/>
              </a:rPr>
              <a:t>Repeat from scratch for the next fold.</a:t>
            </a:r>
          </a:p>
        </p:txBody>
      </p:sp>
    </p:spTree>
    <p:extLst>
      <p:ext uri="{BB962C8B-B14F-4D97-AF65-F5344CB8AC3E}">
        <p14:creationId xmlns:p14="http://schemas.microsoft.com/office/powerpoint/2010/main" val="4062317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FC91BADC-CB3C-42C4-A539-A7029E929AB9}"/>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Feature selection</a:t>
            </a:r>
          </a:p>
        </p:txBody>
      </p:sp>
      <p:sp>
        <p:nvSpPr>
          <p:cNvPr id="2" name="body-0">
            <a:extLst>
              <a:ext uri="{FF2B5EF4-FFF2-40B4-BE49-F238E27FC236}">
                <a16:creationId xmlns:a16="http://schemas.microsoft.com/office/drawing/2014/main" id="{ECA12E3C-0D76-4944-BC03-D4DBCA1990C7}"/>
              </a:ext>
            </a:extLst>
          </p:cNvPr>
          <p:cNvSpPr>
            <a:spLocks noGrp="1"/>
          </p:cNvSpPr>
          <p:nvPr/>
        </p:nvSpPr>
        <p:spPr>
          <a:xfrm>
            <a:off x="619125" y="1543050"/>
            <a:ext cx="7905750" cy="99060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Select a subset of predictors to simplify a model or remove redundant information.</a:t>
            </a:r>
          </a:p>
        </p:txBody>
      </p:sp>
      <p:sp>
        <p:nvSpPr>
          <p:cNvPr id="3" name="body-1">
            <a:extLst>
              <a:ext uri="{FF2B5EF4-FFF2-40B4-BE49-F238E27FC236}">
                <a16:creationId xmlns:a16="http://schemas.microsoft.com/office/drawing/2014/main" id="{137A44C0-EC70-4929-AB61-49F18001C73C}"/>
              </a:ext>
            </a:extLst>
          </p:cNvPr>
          <p:cNvSpPr>
            <a:spLocks noGrp="1"/>
          </p:cNvSpPr>
          <p:nvPr/>
        </p:nvSpPr>
        <p:spPr>
          <a:xfrm>
            <a:off x="619125" y="2628900"/>
            <a:ext cx="7905750" cy="99060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Filter methods: score individual features, for example with ANOVA F-tests or correlation.</a:t>
            </a:r>
          </a:p>
        </p:txBody>
      </p:sp>
      <p:sp>
        <p:nvSpPr>
          <p:cNvPr id="4" name="body-2">
            <a:extLst>
              <a:ext uri="{FF2B5EF4-FFF2-40B4-BE49-F238E27FC236}">
                <a16:creationId xmlns:a16="http://schemas.microsoft.com/office/drawing/2014/main" id="{623BF7F4-BBA8-425A-B68C-E3AB4CD469C1}"/>
              </a:ext>
            </a:extLst>
          </p:cNvPr>
          <p:cNvSpPr>
            <a:spLocks noGrp="1"/>
          </p:cNvSpPr>
          <p:nvPr/>
        </p:nvSpPr>
        <p:spPr>
          <a:xfrm>
            <a:off x="619125" y="3714750"/>
            <a:ext cx="7905750" cy="99060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Wrapper methods: evaluate feature subsets using a model, for example recursive feature elimination.</a:t>
            </a:r>
          </a:p>
        </p:txBody>
      </p:sp>
      <p:sp>
        <p:nvSpPr>
          <p:cNvPr id="5" name="body-3">
            <a:extLst>
              <a:ext uri="{FF2B5EF4-FFF2-40B4-BE49-F238E27FC236}">
                <a16:creationId xmlns:a16="http://schemas.microsoft.com/office/drawing/2014/main" id="{A61A2683-7B1A-421C-B127-1015A9F80B4B}"/>
              </a:ext>
            </a:extLst>
          </p:cNvPr>
          <p:cNvSpPr>
            <a:spLocks noGrp="1"/>
          </p:cNvSpPr>
          <p:nvPr/>
        </p:nvSpPr>
        <p:spPr>
          <a:xfrm>
            <a:off x="619125" y="4800600"/>
            <a:ext cx="7905750" cy="99060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Embedded methods: select during model fitting, for example Lasso. Ridge shrinks coefficients but usually retains all features.</a:t>
            </a:r>
          </a:p>
        </p:txBody>
      </p:sp>
    </p:spTree>
    <p:extLst>
      <p:ext uri="{BB962C8B-B14F-4D97-AF65-F5344CB8AC3E}">
        <p14:creationId xmlns:p14="http://schemas.microsoft.com/office/powerpoint/2010/main" val="700730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E9950FE1-9295-4F40-A93A-8FF23DABA8BA}"/>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Choosing a feature selection method</a:t>
            </a:r>
          </a:p>
        </p:txBody>
      </p:sp>
      <p:sp>
        <p:nvSpPr>
          <p:cNvPr id="2" name="body-0">
            <a:extLst>
              <a:ext uri="{FF2B5EF4-FFF2-40B4-BE49-F238E27FC236}">
                <a16:creationId xmlns:a16="http://schemas.microsoft.com/office/drawing/2014/main" id="{445521F0-E4D2-4BC7-9B80-76A004B4B03A}"/>
              </a:ext>
            </a:extLst>
          </p:cNvPr>
          <p:cNvSpPr>
            <a:spLocks noGrp="1"/>
          </p:cNvSpPr>
          <p:nvPr/>
        </p:nvSpPr>
        <p:spPr>
          <a:xfrm>
            <a:off x="619125" y="15430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Filters are fast, but may miss useful combinations of features.</a:t>
            </a:r>
          </a:p>
        </p:txBody>
      </p:sp>
      <p:sp>
        <p:nvSpPr>
          <p:cNvPr id="3" name="body-1">
            <a:extLst>
              <a:ext uri="{FF2B5EF4-FFF2-40B4-BE49-F238E27FC236}">
                <a16:creationId xmlns:a16="http://schemas.microsoft.com/office/drawing/2014/main" id="{FD8C725C-B1C0-4668-98E6-5CACE24EA86F}"/>
              </a:ext>
            </a:extLst>
          </p:cNvPr>
          <p:cNvSpPr>
            <a:spLocks noGrp="1"/>
          </p:cNvSpPr>
          <p:nvPr/>
        </p:nvSpPr>
        <p:spPr>
          <a:xfrm>
            <a:off x="619125" y="26098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Wrappers can be expensive and can overfit the validation process. Their accuracy is not guaranteed.</a:t>
            </a:r>
          </a:p>
        </p:txBody>
      </p:sp>
      <p:sp>
        <p:nvSpPr>
          <p:cNvPr id="4" name="body-2">
            <a:extLst>
              <a:ext uri="{FF2B5EF4-FFF2-40B4-BE49-F238E27FC236}">
                <a16:creationId xmlns:a16="http://schemas.microsoft.com/office/drawing/2014/main" id="{1A172190-60C3-4C68-92D3-18989D113264}"/>
              </a:ext>
            </a:extLst>
          </p:cNvPr>
          <p:cNvSpPr>
            <a:spLocks noGrp="1"/>
          </p:cNvSpPr>
          <p:nvPr/>
        </p:nvSpPr>
        <p:spPr>
          <a:xfrm>
            <a:off x="619125" y="36766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Embedded methods depend on the fitted model.</a:t>
            </a:r>
          </a:p>
          <a:p>
            <a:pPr algn="l">
              <a:defRPr sz="1950" b="0">
                <a:solidFill>
                  <a:srgbClr val="111111"/>
                </a:solidFill>
                <a:latin typeface="Calibri"/>
                <a:ea typeface="Calibri"/>
                <a:cs typeface="Calibri"/>
              </a:defRPr>
            </a:pPr>
            <a:r>
              <a:rPr sz="1950" b="0">
                <a:solidFill>
                  <a:srgbClr val="111111"/>
                </a:solidFill>
                <a:latin typeface="Calibri"/>
                <a:ea typeface="Calibri"/>
                <a:cs typeface="Calibri"/>
              </a:rPr>
              <a:t>There is no universal feature-count cutoff.</a:t>
            </a:r>
          </a:p>
        </p:txBody>
      </p:sp>
      <p:sp>
        <p:nvSpPr>
          <p:cNvPr id="5" name="body-3">
            <a:extLst>
              <a:ext uri="{FF2B5EF4-FFF2-40B4-BE49-F238E27FC236}">
                <a16:creationId xmlns:a16="http://schemas.microsoft.com/office/drawing/2014/main" id="{32221B0B-17D8-4983-A5FE-6C60CCE27159}"/>
              </a:ext>
            </a:extLst>
          </p:cNvPr>
          <p:cNvSpPr>
            <a:spLocks noGrp="1"/>
          </p:cNvSpPr>
          <p:nvPr/>
        </p:nvSpPr>
        <p:spPr>
          <a:xfrm>
            <a:off x="619125" y="4743450"/>
            <a:ext cx="7905750" cy="971550"/>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Compare using training cross-validation. Fit selection inside each fold. In the scripts, K_FEATURES="all" keeps every predictor.</a:t>
            </a:r>
          </a:p>
        </p:txBody>
      </p:sp>
    </p:spTree>
    <p:extLst>
      <p:ext uri="{BB962C8B-B14F-4D97-AF65-F5344CB8AC3E}">
        <p14:creationId xmlns:p14="http://schemas.microsoft.com/office/powerpoint/2010/main" val="1206484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77DFB584-C2FF-4D5F-971E-E64455725193}"/>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Logistic regression</a:t>
            </a:r>
          </a:p>
        </p:txBody>
      </p:sp>
      <p:sp>
        <p:nvSpPr>
          <p:cNvPr id="2" name="explanation">
            <a:extLst>
              <a:ext uri="{FF2B5EF4-FFF2-40B4-BE49-F238E27FC236}">
                <a16:creationId xmlns:a16="http://schemas.microsoft.com/office/drawing/2014/main" id="{774C27CD-E76A-42DA-BC5D-40D8B7B559B9}"/>
              </a:ext>
            </a:extLst>
          </p:cNvPr>
          <p:cNvSpPr>
            <a:spLocks noGrp="1"/>
          </p:cNvSpPr>
          <p:nvPr/>
        </p:nvSpPr>
        <p:spPr>
          <a:xfrm>
            <a:off x="571500" y="1666875"/>
            <a:ext cx="3381375" cy="39052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Models the probability of a class.</a:t>
            </a:r>
          </a:p>
          <a:p>
            <a:endParaRPr sz="2100" b="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 sigmoid maps a linear score to a probability between 0 and 1.</a:t>
            </a:r>
          </a:p>
          <a:p>
            <a:endParaRPr sz="2100" b="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 threshold converts probability into a class prediction.</a:t>
            </a:r>
          </a:p>
        </p:txBody>
      </p:sp>
      <p:pic>
        <p:nvPicPr>
          <p:cNvPr id="3" name="Picture 2">
            <a:extLst>
              <a:ext uri="{FF2B5EF4-FFF2-40B4-BE49-F238E27FC236}">
                <a16:creationId xmlns:a16="http://schemas.microsoft.com/office/drawing/2014/main" id="{4CCD65FF-B511-4198-B560-FEFC6BA94246}"/>
              </a:ext>
            </a:extLst>
          </p:cNvPr>
          <p:cNvPicPr>
            <a:picLocks noChangeAspect="1"/>
          </p:cNvPicPr>
          <p:nvPr/>
        </p:nvPicPr>
        <p:blipFill>
          <a:blip r:embed="rId3"/>
          <a:stretch/>
        </p:blipFill>
        <p:spPr>
          <a:xfrm>
            <a:off x="4191000" y="2135188"/>
            <a:ext cx="4524375" cy="3016250"/>
          </a:xfrm>
          <a:prstGeom prst="rect">
            <a:avLst/>
          </a:prstGeom>
        </p:spPr>
      </p:pic>
    </p:spTree>
    <p:extLst>
      <p:ext uri="{BB962C8B-B14F-4D97-AF65-F5344CB8AC3E}">
        <p14:creationId xmlns:p14="http://schemas.microsoft.com/office/powerpoint/2010/main" val="28911659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F130FB5B-7A1B-4BDD-8673-CF91CEF6E2DB}"/>
              </a:ext>
            </a:extLst>
          </p:cNvPr>
          <p:cNvPicPr>
            <a:picLocks noChangeAspect="1"/>
          </p:cNvPicPr>
          <p:nvPr/>
        </p:nvPicPr>
        <p:blipFill>
          <a:blip r:embed="rId3"/>
          <a:stretch>
            <a:fillRect/>
          </a:stretch>
        </p:blipFill>
        <p:spPr>
          <a:xfrm>
            <a:off x="3122341" y="1881187"/>
            <a:ext cx="5735909" cy="3476625"/>
          </a:xfrm>
          <a:prstGeom prst="rect">
            <a:avLst/>
          </a:prstGeom>
        </p:spPr>
      </p:pic>
      <p:sp>
        <p:nvSpPr>
          <p:cNvPr id="1027" name="title">
            <a:extLst>
              <a:ext uri="{FF2B5EF4-FFF2-40B4-BE49-F238E27FC236}">
                <a16:creationId xmlns:a16="http://schemas.microsoft.com/office/drawing/2014/main" id="{DA512759-BD87-4208-98BA-7830739F17F3}"/>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K-nearest neighbours</a:t>
            </a:r>
          </a:p>
        </p:txBody>
      </p:sp>
      <p:sp>
        <p:nvSpPr>
          <p:cNvPr id="1028" name="explanation">
            <a:extLst>
              <a:ext uri="{FF2B5EF4-FFF2-40B4-BE49-F238E27FC236}">
                <a16:creationId xmlns:a16="http://schemas.microsoft.com/office/drawing/2014/main" id="{A1FF0D5C-C54F-44D4-A80C-1F85166048FE}"/>
              </a:ext>
            </a:extLst>
          </p:cNvPr>
          <p:cNvSpPr>
            <a:spLocks noGrp="1"/>
          </p:cNvSpPr>
          <p:nvPr/>
        </p:nvSpPr>
        <p:spPr>
          <a:xfrm>
            <a:off x="285751" y="1666874"/>
            <a:ext cx="2936952" cy="39052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dirty="0">
                <a:solidFill>
                  <a:srgbClr val="111111"/>
                </a:solidFill>
                <a:latin typeface="Calibri"/>
                <a:ea typeface="Calibri"/>
                <a:cs typeface="Calibri"/>
              </a:rPr>
              <a:t>Find the k closest training observations.</a:t>
            </a:r>
          </a:p>
          <a:p>
            <a:endParaRPr sz="2100" b="0" dirty="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dirty="0">
                <a:solidFill>
                  <a:srgbClr val="111111"/>
                </a:solidFill>
                <a:latin typeface="Calibri"/>
                <a:ea typeface="Calibri"/>
                <a:cs typeface="Calibri"/>
              </a:rPr>
              <a:t>Predict the most common class among those </a:t>
            </a:r>
            <a:r>
              <a:rPr sz="2100" b="0" dirty="0" err="1">
                <a:solidFill>
                  <a:srgbClr val="111111"/>
                </a:solidFill>
                <a:latin typeface="Calibri"/>
                <a:ea typeface="Calibri"/>
                <a:cs typeface="Calibri"/>
              </a:rPr>
              <a:t>neighbours</a:t>
            </a:r>
            <a:r>
              <a:rPr sz="2100" b="0" dirty="0">
                <a:solidFill>
                  <a:srgbClr val="111111"/>
                </a:solidFill>
                <a:latin typeface="Calibri"/>
                <a:ea typeface="Calibri"/>
                <a:cs typeface="Calibri"/>
              </a:rPr>
              <a:t>.</a:t>
            </a:r>
          </a:p>
          <a:p>
            <a:endParaRPr sz="2100" b="0" dirty="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dirty="0">
                <a:solidFill>
                  <a:srgbClr val="111111"/>
                </a:solidFill>
                <a:latin typeface="Calibri"/>
                <a:ea typeface="Calibri"/>
                <a:cs typeface="Calibri"/>
              </a:rPr>
              <a:t>Feature scaling changes which observations are close.</a:t>
            </a:r>
          </a:p>
        </p:txBody>
      </p:sp>
    </p:spTree>
    <p:extLst>
      <p:ext uri="{BB962C8B-B14F-4D97-AF65-F5344CB8AC3E}">
        <p14:creationId xmlns:p14="http://schemas.microsoft.com/office/powerpoint/2010/main" val="2727871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378F1-A28C-4519-B4F5-082134439B16}"/>
              </a:ext>
            </a:extLst>
          </p:cNvPr>
          <p:cNvPicPr>
            <a:picLocks noChangeAspect="1"/>
          </p:cNvPicPr>
          <p:nvPr/>
        </p:nvPicPr>
        <p:blipFill>
          <a:blip r:embed="rId3"/>
          <a:stretch>
            <a:fillRect/>
          </a:stretch>
        </p:blipFill>
        <p:spPr>
          <a:xfrm>
            <a:off x="4476750" y="1524000"/>
            <a:ext cx="3857625" cy="4095750"/>
          </a:xfrm>
          <a:prstGeom prst="rect">
            <a:avLst/>
          </a:prstGeom>
        </p:spPr>
      </p:pic>
      <p:sp>
        <p:nvSpPr>
          <p:cNvPr id="5" name="title">
            <a:extLst>
              <a:ext uri="{FF2B5EF4-FFF2-40B4-BE49-F238E27FC236}">
                <a16:creationId xmlns:a16="http://schemas.microsoft.com/office/drawing/2014/main" id="{59F9D0EB-510A-4854-B54F-CD49D9322D31}"/>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Decision tree</a:t>
            </a:r>
          </a:p>
        </p:txBody>
      </p:sp>
      <p:sp>
        <p:nvSpPr>
          <p:cNvPr id="6" name="explanation">
            <a:extLst>
              <a:ext uri="{FF2B5EF4-FFF2-40B4-BE49-F238E27FC236}">
                <a16:creationId xmlns:a16="http://schemas.microsoft.com/office/drawing/2014/main" id="{E8EE9E57-4E0F-46C6-B54A-2B3DA4C1F564}"/>
              </a:ext>
            </a:extLst>
          </p:cNvPr>
          <p:cNvSpPr>
            <a:spLocks noGrp="1"/>
          </p:cNvSpPr>
          <p:nvPr/>
        </p:nvSpPr>
        <p:spPr>
          <a:xfrm>
            <a:off x="571500" y="1666875"/>
            <a:ext cx="3381375" cy="39052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Split observations using a sequence of feature thresholds.</a:t>
            </a:r>
          </a:p>
          <a:p>
            <a:endParaRPr sz="2100" b="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Each leaf predicts a class.</a:t>
            </a:r>
          </a:p>
          <a:p>
            <a:endParaRPr sz="2100" b="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 deep tree can fit training noise. Tree depth controls complexity.</a:t>
            </a:r>
          </a:p>
        </p:txBody>
      </p:sp>
      <p:sp>
        <p:nvSpPr>
          <p:cNvPr id="7" name="credit">
            <a:extLst>
              <a:ext uri="{FF2B5EF4-FFF2-40B4-BE49-F238E27FC236}">
                <a16:creationId xmlns:a16="http://schemas.microsoft.com/office/drawing/2014/main" id="{DEC18F38-6ADF-4081-89C4-710486385682}"/>
              </a:ext>
            </a:extLst>
          </p:cNvPr>
          <p:cNvSpPr>
            <a:spLocks noGrp="1"/>
          </p:cNvSpPr>
          <p:nvPr/>
        </p:nvSpPr>
        <p:spPr>
          <a:xfrm>
            <a:off x="5857643" y="5762625"/>
            <a:ext cx="4572000" cy="285750"/>
          </a:xfrm>
          <a:prstGeom prst="rect">
            <a:avLst/>
          </a:prstGeom>
          <a:noFill/>
          <a:ln w="0">
            <a:noFill/>
            <a:prstDash val="solid"/>
          </a:ln>
        </p:spPr>
        <p:txBody>
          <a:bodyPr lIns="0" tIns="0" rIns="0" bIns="0" anchor="t">
            <a:noAutofit/>
          </a:bodyPr>
          <a:lstStyle>
            <a:defPPr algn="l">
              <a:defRPr sz="1200" b="0">
                <a:solidFill>
                  <a:srgbClr val="111111"/>
                </a:solidFill>
                <a:latin typeface="Calibri"/>
                <a:ea typeface="Calibri"/>
                <a:cs typeface="Calibri"/>
              </a:defRPr>
            </a:defPPr>
            <a:lvl1pPr algn="l">
              <a:defRPr sz="1200" b="0">
                <a:solidFill>
                  <a:srgbClr val="111111"/>
                </a:solidFill>
                <a:latin typeface="Calibri"/>
                <a:ea typeface="Calibri"/>
                <a:cs typeface="Calibri"/>
              </a:defRPr>
            </a:lvl1pPr>
            <a:lvl2pPr algn="l">
              <a:defRPr sz="1200" b="0">
                <a:solidFill>
                  <a:srgbClr val="111111"/>
                </a:solidFill>
                <a:latin typeface="Calibri"/>
                <a:ea typeface="Calibri"/>
                <a:cs typeface="Calibri"/>
              </a:defRPr>
            </a:lvl2pPr>
            <a:lvl3pPr algn="l">
              <a:defRPr sz="1200" b="0">
                <a:solidFill>
                  <a:srgbClr val="111111"/>
                </a:solidFill>
                <a:latin typeface="Calibri"/>
                <a:ea typeface="Calibri"/>
                <a:cs typeface="Calibri"/>
              </a:defRPr>
            </a:lvl3pPr>
            <a:lvl4pPr algn="l">
              <a:defRPr sz="1200" b="0">
                <a:solidFill>
                  <a:srgbClr val="111111"/>
                </a:solidFill>
                <a:latin typeface="Calibri"/>
                <a:ea typeface="Calibri"/>
                <a:cs typeface="Calibri"/>
              </a:defRPr>
            </a:lvl4pPr>
            <a:lvl5pPr algn="l">
              <a:defRPr sz="1200" b="0">
                <a:solidFill>
                  <a:srgbClr val="111111"/>
                </a:solidFill>
                <a:latin typeface="Calibri"/>
                <a:ea typeface="Calibri"/>
                <a:cs typeface="Calibri"/>
              </a:defRPr>
            </a:lvl5pPr>
            <a:lvl6pPr algn="l">
              <a:defRPr sz="1200" b="0">
                <a:solidFill>
                  <a:srgbClr val="111111"/>
                </a:solidFill>
                <a:latin typeface="Calibri"/>
                <a:ea typeface="Calibri"/>
                <a:cs typeface="Calibri"/>
              </a:defRPr>
            </a:lvl6pPr>
            <a:lvl7pPr algn="l">
              <a:defRPr sz="1200" b="0">
                <a:solidFill>
                  <a:srgbClr val="111111"/>
                </a:solidFill>
                <a:latin typeface="Calibri"/>
                <a:ea typeface="Calibri"/>
                <a:cs typeface="Calibri"/>
              </a:defRPr>
            </a:lvl7pPr>
            <a:lvl8pPr algn="l">
              <a:defRPr sz="1200" b="0">
                <a:solidFill>
                  <a:srgbClr val="111111"/>
                </a:solidFill>
                <a:latin typeface="Calibri"/>
                <a:ea typeface="Calibri"/>
                <a:cs typeface="Calibri"/>
              </a:defRPr>
            </a:lvl8pPr>
            <a:lvl9pPr algn="l">
              <a:defRPr sz="1200" b="0">
                <a:solidFill>
                  <a:srgbClr val="111111"/>
                </a:solidFill>
                <a:latin typeface="Calibri"/>
                <a:ea typeface="Calibri"/>
                <a:cs typeface="Calibri"/>
              </a:defRPr>
            </a:lvl9pPr>
          </a:lstStyle>
          <a:p>
            <a:pPr algn="l">
              <a:defRPr sz="1200" b="0">
                <a:solidFill>
                  <a:srgbClr val="111111"/>
                </a:solidFill>
                <a:latin typeface="Calibri"/>
                <a:ea typeface="Calibri"/>
                <a:cs typeface="Calibri"/>
              </a:defRPr>
            </a:pPr>
            <a:r>
              <a:rPr sz="1200" b="0" dirty="0" err="1">
                <a:solidFill>
                  <a:srgbClr val="111111"/>
                </a:solidFill>
                <a:latin typeface="Calibri"/>
                <a:ea typeface="Calibri"/>
                <a:cs typeface="Calibri"/>
              </a:rPr>
              <a:t>doi.org</a:t>
            </a:r>
            <a:r>
              <a:rPr sz="1200" b="0" dirty="0">
                <a:solidFill>
                  <a:srgbClr val="111111"/>
                </a:solidFill>
                <a:latin typeface="Calibri"/>
                <a:ea typeface="Calibri"/>
                <a:cs typeface="Calibri"/>
              </a:rPr>
              <a:t>/10.1016/j.wnsx.2019.100012</a:t>
            </a:r>
          </a:p>
        </p:txBody>
      </p:sp>
    </p:spTree>
    <p:extLst>
      <p:ext uri="{BB962C8B-B14F-4D97-AF65-F5344CB8AC3E}">
        <p14:creationId xmlns:p14="http://schemas.microsoft.com/office/powerpoint/2010/main" val="3563637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9847002-18F9-4C51-B424-8CB2BD6C6FE1}"/>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Support vector machine</a:t>
            </a:r>
          </a:p>
        </p:txBody>
      </p:sp>
      <p:sp>
        <p:nvSpPr>
          <p:cNvPr id="2" name="explanation">
            <a:extLst>
              <a:ext uri="{FF2B5EF4-FFF2-40B4-BE49-F238E27FC236}">
                <a16:creationId xmlns:a16="http://schemas.microsoft.com/office/drawing/2014/main" id="{197FBB8D-97A1-4BF2-B63A-2ED4F6DDCDE7}"/>
              </a:ext>
            </a:extLst>
          </p:cNvPr>
          <p:cNvSpPr>
            <a:spLocks noGrp="1"/>
          </p:cNvSpPr>
          <p:nvPr/>
        </p:nvSpPr>
        <p:spPr>
          <a:xfrm>
            <a:off x="571500" y="1619250"/>
            <a:ext cx="3381375" cy="4429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A linear SVM separates classes with a large margin.</a:t>
            </a:r>
          </a:p>
          <a:p>
            <a:endParaRPr sz="2025" b="0">
              <a:solidFill>
                <a:srgbClr val="111111"/>
              </a:solidFill>
              <a:latin typeface="Calibri"/>
              <a:ea typeface="Calibri"/>
              <a:cs typeface="Calibri"/>
            </a:endParaRP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Kernels allow curved boundaries. Our script uses the RBF kernel.</a:t>
            </a:r>
          </a:p>
          <a:p>
            <a:endParaRPr sz="2025" b="0">
              <a:solidFill>
                <a:srgbClr val="111111"/>
              </a:solidFill>
              <a:latin typeface="Calibri"/>
              <a:ea typeface="Calibri"/>
              <a:cs typeface="Calibri"/>
            </a:endParaRP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C controls regularisation. RBF gamma controls how far each observation influences the boundary.</a:t>
            </a:r>
          </a:p>
        </p:txBody>
      </p:sp>
      <p:pic>
        <p:nvPicPr>
          <p:cNvPr id="3" name="Picture 2">
            <a:extLst>
              <a:ext uri="{FF2B5EF4-FFF2-40B4-BE49-F238E27FC236}">
                <a16:creationId xmlns:a16="http://schemas.microsoft.com/office/drawing/2014/main" id="{2645CD9D-55CC-46A3-9DA0-C489FA16842D}"/>
              </a:ext>
            </a:extLst>
          </p:cNvPr>
          <p:cNvPicPr>
            <a:picLocks noChangeAspect="1"/>
          </p:cNvPicPr>
          <p:nvPr/>
        </p:nvPicPr>
        <p:blipFill>
          <a:blip r:embed="rId3"/>
          <a:stretch/>
        </p:blipFill>
        <p:spPr>
          <a:xfrm>
            <a:off x="4238625" y="2174875"/>
            <a:ext cx="4476750" cy="2984500"/>
          </a:xfrm>
          <a:prstGeom prst="rect">
            <a:avLst/>
          </a:prstGeom>
        </p:spPr>
      </p:pic>
    </p:spTree>
    <p:extLst>
      <p:ext uri="{BB962C8B-B14F-4D97-AF65-F5344CB8AC3E}">
        <p14:creationId xmlns:p14="http://schemas.microsoft.com/office/powerpoint/2010/main" val="42849674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03607DE1-C1F5-42AA-A16B-0D15C2577717}"/>
              </a:ext>
            </a:extLst>
          </p:cNvPr>
          <p:cNvPicPr>
            <a:picLocks noChangeAspect="1"/>
          </p:cNvPicPr>
          <p:nvPr/>
        </p:nvPicPr>
        <p:blipFill>
          <a:blip r:embed="rId3"/>
          <a:stretch>
            <a:fillRect/>
          </a:stretch>
        </p:blipFill>
        <p:spPr>
          <a:xfrm>
            <a:off x="4048125" y="1666875"/>
            <a:ext cx="4851710" cy="3714750"/>
          </a:xfrm>
          <a:prstGeom prst="rect">
            <a:avLst/>
          </a:prstGeom>
        </p:spPr>
      </p:pic>
      <p:sp>
        <p:nvSpPr>
          <p:cNvPr id="2051" name="title">
            <a:extLst>
              <a:ext uri="{FF2B5EF4-FFF2-40B4-BE49-F238E27FC236}">
                <a16:creationId xmlns:a16="http://schemas.microsoft.com/office/drawing/2014/main" id="{63FF63C8-84D6-47A7-A77C-97D464058790}"/>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Random forest</a:t>
            </a:r>
          </a:p>
        </p:txBody>
      </p:sp>
      <p:sp>
        <p:nvSpPr>
          <p:cNvPr id="2052" name="explanation">
            <a:extLst>
              <a:ext uri="{FF2B5EF4-FFF2-40B4-BE49-F238E27FC236}">
                <a16:creationId xmlns:a16="http://schemas.microsoft.com/office/drawing/2014/main" id="{56248685-5C7D-416A-AF19-A0662EE58EED}"/>
              </a:ext>
            </a:extLst>
          </p:cNvPr>
          <p:cNvSpPr>
            <a:spLocks noGrp="1"/>
          </p:cNvSpPr>
          <p:nvPr/>
        </p:nvSpPr>
        <p:spPr>
          <a:xfrm>
            <a:off x="571500" y="1666875"/>
            <a:ext cx="3476625" cy="41910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Fit many trees using bootstrap samples and random feature subsets.</a:t>
            </a:r>
          </a:p>
          <a:p>
            <a:endParaRPr sz="2025" b="0">
              <a:solidFill>
                <a:srgbClr val="111111"/>
              </a:solidFill>
              <a:latin typeface="Calibri"/>
              <a:ea typeface="Calibri"/>
              <a:cs typeface="Calibri"/>
            </a:endParaRP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Combine tree probabilities for classification, or average predictions for regression.</a:t>
            </a:r>
          </a:p>
          <a:p>
            <a:endParaRPr sz="2025" b="0">
              <a:solidFill>
                <a:srgbClr val="111111"/>
              </a:solidFill>
              <a:latin typeface="Calibri"/>
              <a:ea typeface="Calibri"/>
              <a:cs typeface="Calibri"/>
            </a:endParaRP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Often more stable than one tree, but can still overfit.</a:t>
            </a:r>
          </a:p>
        </p:txBody>
      </p:sp>
    </p:spTree>
    <p:extLst>
      <p:ext uri="{BB962C8B-B14F-4D97-AF65-F5344CB8AC3E}">
        <p14:creationId xmlns:p14="http://schemas.microsoft.com/office/powerpoint/2010/main" val="2562139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9BBA2112-5715-4C78-90E7-6188A6540E78}"/>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Evaluating classification</a:t>
            </a:r>
          </a:p>
        </p:txBody>
      </p:sp>
      <p:sp>
        <p:nvSpPr>
          <p:cNvPr id="2" name="body-0">
            <a:extLst>
              <a:ext uri="{FF2B5EF4-FFF2-40B4-BE49-F238E27FC236}">
                <a16:creationId xmlns:a16="http://schemas.microsoft.com/office/drawing/2014/main" id="{17548B0E-EF2F-4284-95EF-CF3F3B562282}"/>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Accuracy: proportion of all observations classified correctly.</a:t>
            </a:r>
          </a:p>
        </p:txBody>
      </p:sp>
      <p:sp>
        <p:nvSpPr>
          <p:cNvPr id="3" name="body-1">
            <a:extLst>
              <a:ext uri="{FF2B5EF4-FFF2-40B4-BE49-F238E27FC236}">
                <a16:creationId xmlns:a16="http://schemas.microsoft.com/office/drawing/2014/main" id="{A3C3E9AD-5435-4A11-9AEE-69C938F57FAC}"/>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Sensitivity: proportion of malignant samples detected.</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Specificity: proportion of benign samples correctly excluded.</a:t>
            </a:r>
          </a:p>
        </p:txBody>
      </p:sp>
      <p:sp>
        <p:nvSpPr>
          <p:cNvPr id="4" name="body-2">
            <a:extLst>
              <a:ext uri="{FF2B5EF4-FFF2-40B4-BE49-F238E27FC236}">
                <a16:creationId xmlns:a16="http://schemas.microsoft.com/office/drawing/2014/main" id="{43F97C2C-5534-421A-9AE7-7EA65DCD1503}"/>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ROC AUC: how well scores rank malignant above benign samples across classification thresholds.</a:t>
            </a:r>
          </a:p>
        </p:txBody>
      </p:sp>
      <p:sp>
        <p:nvSpPr>
          <p:cNvPr id="5" name="body-3">
            <a:extLst>
              <a:ext uri="{FF2B5EF4-FFF2-40B4-BE49-F238E27FC236}">
                <a16:creationId xmlns:a16="http://schemas.microsoft.com/office/drawing/2014/main" id="{8E4172E7-4932-477D-AEB5-C0AFF63427D2}"/>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Inspect the confusion matrix and class balance.</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A high accuracy can hide missed malignant samples.</a:t>
            </a:r>
          </a:p>
        </p:txBody>
      </p:sp>
    </p:spTree>
    <p:extLst>
      <p:ext uri="{BB962C8B-B14F-4D97-AF65-F5344CB8AC3E}">
        <p14:creationId xmlns:p14="http://schemas.microsoft.com/office/powerpoint/2010/main" val="11388231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0B37E85-C747-4255-B7E8-15299AABAA54}"/>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Classification practical: workflow</a:t>
            </a:r>
          </a:p>
        </p:txBody>
      </p:sp>
      <p:sp>
        <p:nvSpPr>
          <p:cNvPr id="2" name="body-0">
            <a:extLst>
              <a:ext uri="{FF2B5EF4-FFF2-40B4-BE49-F238E27FC236}">
                <a16:creationId xmlns:a16="http://schemas.microsoft.com/office/drawing/2014/main" id="{F5DBC5EB-E054-4607-9FC8-8B36B994CB10}"/>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1. Explore the data and split by sample ID.</a:t>
            </a:r>
          </a:p>
        </p:txBody>
      </p:sp>
      <p:sp>
        <p:nvSpPr>
          <p:cNvPr id="3" name="body-1">
            <a:extLst>
              <a:ext uri="{FF2B5EF4-FFF2-40B4-BE49-F238E27FC236}">
                <a16:creationId xmlns:a16="http://schemas.microsoft.com/office/drawing/2014/main" id="{1BBF5D2C-6E5B-4CEE-A69E-E8E9FAD352CB}"/>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2. Compare complete pipelines using five-fold CV.</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Include a simple baseline that predicts the majority class.</a:t>
            </a:r>
          </a:p>
        </p:txBody>
      </p:sp>
      <p:sp>
        <p:nvSpPr>
          <p:cNvPr id="4" name="body-2">
            <a:extLst>
              <a:ext uri="{FF2B5EF4-FFF2-40B4-BE49-F238E27FC236}">
                <a16:creationId xmlns:a16="http://schemas.microsoft.com/office/drawing/2014/main" id="{AE1ABC1A-96A7-4266-A02F-AECCAC067B2B}"/>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3. Select the model with the highest mean CV ROC AUC, then refit it on all training observations.</a:t>
            </a:r>
          </a:p>
        </p:txBody>
      </p:sp>
      <p:sp>
        <p:nvSpPr>
          <p:cNvPr id="5" name="body-3">
            <a:extLst>
              <a:ext uri="{FF2B5EF4-FFF2-40B4-BE49-F238E27FC236}">
                <a16:creationId xmlns:a16="http://schemas.microsoft.com/office/drawing/2014/main" id="{DC8B4961-BD45-4170-800C-BD192F360D89}"/>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4. Evaluate on the test set and save the whole pipeline.</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Inspect errors and predictive feature importance.</a:t>
            </a:r>
          </a:p>
        </p:txBody>
      </p:sp>
    </p:spTree>
    <p:extLst>
      <p:ext uri="{BB962C8B-B14F-4D97-AF65-F5344CB8AC3E}">
        <p14:creationId xmlns:p14="http://schemas.microsoft.com/office/powerpoint/2010/main" val="132139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02069AE5-EAC4-4E7E-AF23-0AD915AAB850}"/>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Classification practical</a:t>
            </a:r>
          </a:p>
        </p:txBody>
      </p:sp>
      <p:sp>
        <p:nvSpPr>
          <p:cNvPr id="2" name="body-0">
            <a:extLst>
              <a:ext uri="{FF2B5EF4-FFF2-40B4-BE49-F238E27FC236}">
                <a16:creationId xmlns:a16="http://schemas.microsoft.com/office/drawing/2014/main" id="{547CB267-F432-4522-8091-053D56A11F7D}"/>
              </a:ext>
            </a:extLst>
          </p:cNvPr>
          <p:cNvSpPr>
            <a:spLocks noGrp="1"/>
          </p:cNvSpPr>
          <p:nvPr/>
        </p:nvSpPr>
        <p:spPr>
          <a:xfrm>
            <a:off x="619125" y="1543050"/>
            <a:ext cx="7905750" cy="11430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Open ML_Python_day1_classification.py</a:t>
            </a:r>
          </a:p>
        </p:txBody>
      </p:sp>
      <p:sp>
        <p:nvSpPr>
          <p:cNvPr id="3" name="body-1">
            <a:extLst>
              <a:ext uri="{FF2B5EF4-FFF2-40B4-BE49-F238E27FC236}">
                <a16:creationId xmlns:a16="http://schemas.microsoft.com/office/drawing/2014/main" id="{8AD97AD7-03E4-4723-8EA9-BC24A2844E86}"/>
              </a:ext>
            </a:extLst>
          </p:cNvPr>
          <p:cNvSpPr>
            <a:spLocks noGrp="1"/>
          </p:cNvSpPr>
          <p:nvPr/>
        </p:nvSpPr>
        <p:spPr>
          <a:xfrm>
            <a:off x="619125" y="2781300"/>
            <a:ext cx="7905750" cy="11430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Run the numbered sections and inspect the outputs.</a:t>
            </a:r>
          </a:p>
        </p:txBody>
      </p:sp>
      <p:sp>
        <p:nvSpPr>
          <p:cNvPr id="4" name="body-2">
            <a:extLst>
              <a:ext uri="{FF2B5EF4-FFF2-40B4-BE49-F238E27FC236}">
                <a16:creationId xmlns:a16="http://schemas.microsoft.com/office/drawing/2014/main" id="{E78AB96F-0AFB-481C-B753-8C0A369638DD}"/>
              </a:ext>
            </a:extLst>
          </p:cNvPr>
          <p:cNvSpPr>
            <a:spLocks noGrp="1"/>
          </p:cNvSpPr>
          <p:nvPr/>
        </p:nvSpPr>
        <p:spPr>
          <a:xfrm>
            <a:off x="619125" y="4019550"/>
            <a:ext cx="7905750" cy="11430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dirty="0">
                <a:solidFill>
                  <a:srgbClr val="111111"/>
                </a:solidFill>
                <a:latin typeface="Calibri"/>
                <a:ea typeface="Calibri"/>
                <a:cs typeface="Calibri"/>
              </a:rPr>
              <a:t>Questions</a:t>
            </a:r>
          </a:p>
          <a:p>
            <a:pPr algn="l">
              <a:defRPr sz="2100" b="0">
                <a:solidFill>
                  <a:srgbClr val="111111"/>
                </a:solidFill>
                <a:latin typeface="Calibri"/>
                <a:ea typeface="Calibri"/>
                <a:cs typeface="Calibri"/>
              </a:defRPr>
            </a:pPr>
            <a:r>
              <a:rPr sz="2100" b="0" dirty="0">
                <a:solidFill>
                  <a:srgbClr val="111111"/>
                </a:solidFill>
                <a:latin typeface="Calibri"/>
                <a:ea typeface="Calibri"/>
                <a:cs typeface="Calibri"/>
              </a:rPr>
              <a:t>Does every model beat the baseline?</a:t>
            </a:r>
          </a:p>
          <a:p>
            <a:pPr algn="l">
              <a:defRPr sz="2100" b="0">
                <a:solidFill>
                  <a:srgbClr val="111111"/>
                </a:solidFill>
                <a:latin typeface="Calibri"/>
                <a:ea typeface="Calibri"/>
                <a:cs typeface="Calibri"/>
              </a:defRPr>
            </a:pPr>
            <a:r>
              <a:rPr sz="2100" b="0" dirty="0">
                <a:solidFill>
                  <a:srgbClr val="111111"/>
                </a:solidFill>
                <a:latin typeface="Calibri"/>
                <a:ea typeface="Calibri"/>
                <a:cs typeface="Calibri"/>
              </a:rPr>
              <a:t>Which errors are false negatives?</a:t>
            </a:r>
          </a:p>
        </p:txBody>
      </p:sp>
    </p:spTree>
    <p:extLst>
      <p:ext uri="{BB962C8B-B14F-4D97-AF65-F5344CB8AC3E}">
        <p14:creationId xmlns:p14="http://schemas.microsoft.com/office/powerpoint/2010/main" val="17520662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A3EC2151-57BC-4D1C-AEBF-A5B0BF1A2086}"/>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Supervised learning: regression</a:t>
            </a:r>
          </a:p>
        </p:txBody>
      </p:sp>
      <p:sp>
        <p:nvSpPr>
          <p:cNvPr id="2" name="body-0">
            <a:extLst>
              <a:ext uri="{FF2B5EF4-FFF2-40B4-BE49-F238E27FC236}">
                <a16:creationId xmlns:a16="http://schemas.microsoft.com/office/drawing/2014/main" id="{B268F9D6-ABEC-4F47-9569-7F0B844FDF6A}"/>
              </a:ext>
            </a:extLst>
          </p:cNvPr>
          <p:cNvSpPr>
            <a:spLocks noGrp="1"/>
          </p:cNvSpPr>
          <p:nvPr/>
        </p:nvSpPr>
        <p:spPr>
          <a:xfrm>
            <a:off x="619125" y="1543050"/>
            <a:ext cx="7905750" cy="1381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Question: how much, or how many?</a:t>
            </a:r>
          </a:p>
        </p:txBody>
      </p:sp>
      <p:sp>
        <p:nvSpPr>
          <p:cNvPr id="3" name="body-1">
            <a:extLst>
              <a:ext uri="{FF2B5EF4-FFF2-40B4-BE49-F238E27FC236}">
                <a16:creationId xmlns:a16="http://schemas.microsoft.com/office/drawing/2014/main" id="{F6E9E9D4-724C-4917-A398-9097C92B8201}"/>
              </a:ext>
            </a:extLst>
          </p:cNvPr>
          <p:cNvSpPr>
            <a:spLocks noGrp="1"/>
          </p:cNvSpPr>
          <p:nvPr/>
        </p:nvSpPr>
        <p:spPr>
          <a:xfrm>
            <a:off x="619125" y="3019425"/>
            <a:ext cx="7905750" cy="1381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The target is a numerical quantity.</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Today: a disease-progression score at one year.</a:t>
            </a:r>
          </a:p>
        </p:txBody>
      </p:sp>
      <p:sp>
        <p:nvSpPr>
          <p:cNvPr id="4" name="body-2">
            <a:extLst>
              <a:ext uri="{FF2B5EF4-FFF2-40B4-BE49-F238E27FC236}">
                <a16:creationId xmlns:a16="http://schemas.microsoft.com/office/drawing/2014/main" id="{8B62833E-8101-4699-A019-9F2E05A251CE}"/>
              </a:ext>
            </a:extLst>
          </p:cNvPr>
          <p:cNvSpPr>
            <a:spLocks noGrp="1"/>
          </p:cNvSpPr>
          <p:nvPr/>
        </p:nvSpPr>
        <p:spPr>
          <a:xfrm>
            <a:off x="619125" y="4495800"/>
            <a:ext cx="7905750" cy="1381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Compare linear regression and regularised linear models with KNN, a decision tree, SVR and random forest.</a:t>
            </a:r>
          </a:p>
        </p:txBody>
      </p:sp>
    </p:spTree>
    <p:extLst>
      <p:ext uri="{BB962C8B-B14F-4D97-AF65-F5344CB8AC3E}">
        <p14:creationId xmlns:p14="http://schemas.microsoft.com/office/powerpoint/2010/main" val="4146414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7B141EA-6C4E-414C-9B9F-8FF3ED9297DD}"/>
              </a:ext>
            </a:extLst>
          </p:cNvPr>
          <p:cNvPicPr>
            <a:picLocks noGrp="1" noChangeAspect="1"/>
          </p:cNvPicPr>
          <p:nvPr>
            <p:ph idx="1"/>
          </p:nvPr>
        </p:nvPicPr>
        <p:blipFill>
          <a:blip r:embed="rId3"/>
          <a:stretch>
            <a:fillRect/>
          </a:stretch>
        </p:blipFill>
        <p:spPr>
          <a:xfrm>
            <a:off x="4572000" y="2000250"/>
            <a:ext cx="3905250" cy="3238500"/>
          </a:xfrm>
        </p:spPr>
      </p:pic>
      <p:sp>
        <p:nvSpPr>
          <p:cNvPr id="6" name="title">
            <a:extLst>
              <a:ext uri="{FF2B5EF4-FFF2-40B4-BE49-F238E27FC236}">
                <a16:creationId xmlns:a16="http://schemas.microsoft.com/office/drawing/2014/main" id="{5F4AA450-A02B-4C2E-ABBF-0E009580A526}"/>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Linear regression</a:t>
            </a:r>
          </a:p>
        </p:txBody>
      </p:sp>
      <p:sp>
        <p:nvSpPr>
          <p:cNvPr id="7" name="explanation">
            <a:extLst>
              <a:ext uri="{FF2B5EF4-FFF2-40B4-BE49-F238E27FC236}">
                <a16:creationId xmlns:a16="http://schemas.microsoft.com/office/drawing/2014/main" id="{59D1FF53-651C-465D-B713-576B6FA376FE}"/>
              </a:ext>
            </a:extLst>
          </p:cNvPr>
          <p:cNvSpPr>
            <a:spLocks noGrp="1"/>
          </p:cNvSpPr>
          <p:nvPr/>
        </p:nvSpPr>
        <p:spPr>
          <a:xfrm>
            <a:off x="571500" y="1638300"/>
            <a:ext cx="3714750" cy="39052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Predict a numerical outcome using a weighted sum of the input features.</a:t>
            </a:r>
          </a:p>
          <a:p>
            <a:endParaRPr sz="2100" b="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Coefficients describe associations conditional on the other predictors.</a:t>
            </a:r>
          </a:p>
          <a:p>
            <a:endParaRPr sz="2100" b="0">
              <a:solidFill>
                <a:srgbClr val="111111"/>
              </a:solidFill>
              <a:latin typeface="Calibri"/>
              <a:ea typeface="Calibri"/>
              <a:cs typeface="Calibri"/>
            </a:endParaRP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 useful starting point and benchmark.</a:t>
            </a:r>
          </a:p>
        </p:txBody>
      </p:sp>
    </p:spTree>
    <p:extLst>
      <p:ext uri="{BB962C8B-B14F-4D97-AF65-F5344CB8AC3E}">
        <p14:creationId xmlns:p14="http://schemas.microsoft.com/office/powerpoint/2010/main" val="500348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5BEC8509-5172-4A52-A8CF-E09DFA793F1C}"/>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Regularised linear models</a:t>
            </a:r>
          </a:p>
        </p:txBody>
      </p:sp>
      <p:sp>
        <p:nvSpPr>
          <p:cNvPr id="2" name="body-0">
            <a:extLst>
              <a:ext uri="{FF2B5EF4-FFF2-40B4-BE49-F238E27FC236}">
                <a16:creationId xmlns:a16="http://schemas.microsoft.com/office/drawing/2014/main" id="{B6C7072E-5064-460D-AAD2-A42FDBAE3F42}"/>
              </a:ext>
            </a:extLst>
          </p:cNvPr>
          <p:cNvSpPr>
            <a:spLocks noGrp="1"/>
          </p:cNvSpPr>
          <p:nvPr/>
        </p:nvSpPr>
        <p:spPr>
          <a:xfrm>
            <a:off x="619125" y="1543050"/>
            <a:ext cx="7905750" cy="10191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Ridge (L2)</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Shrinks coefficients. Useful when predictors are correlated.</a:t>
            </a:r>
          </a:p>
        </p:txBody>
      </p:sp>
      <p:sp>
        <p:nvSpPr>
          <p:cNvPr id="3" name="body-1">
            <a:extLst>
              <a:ext uri="{FF2B5EF4-FFF2-40B4-BE49-F238E27FC236}">
                <a16:creationId xmlns:a16="http://schemas.microsoft.com/office/drawing/2014/main" id="{43564D10-00F6-43F7-83C5-30F5B354E362}"/>
              </a:ext>
            </a:extLst>
          </p:cNvPr>
          <p:cNvSpPr>
            <a:spLocks noGrp="1"/>
          </p:cNvSpPr>
          <p:nvPr/>
        </p:nvSpPr>
        <p:spPr>
          <a:xfrm>
            <a:off x="619125" y="2657475"/>
            <a:ext cx="7905750" cy="10191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Lasso (L1)</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Can set some coefficients to zero, producing a smaller model.</a:t>
            </a:r>
          </a:p>
        </p:txBody>
      </p:sp>
      <p:sp>
        <p:nvSpPr>
          <p:cNvPr id="4" name="body-2">
            <a:extLst>
              <a:ext uri="{FF2B5EF4-FFF2-40B4-BE49-F238E27FC236}">
                <a16:creationId xmlns:a16="http://schemas.microsoft.com/office/drawing/2014/main" id="{EBED9C3F-DC38-46C8-BC41-2639B296C602}"/>
              </a:ext>
            </a:extLst>
          </p:cNvPr>
          <p:cNvSpPr>
            <a:spLocks noGrp="1"/>
          </p:cNvSpPr>
          <p:nvPr/>
        </p:nvSpPr>
        <p:spPr>
          <a:xfrm>
            <a:off x="619125" y="3771900"/>
            <a:ext cx="7905750" cy="10191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Elastic Net</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Combines L1 and L2 penalties.</a:t>
            </a:r>
          </a:p>
        </p:txBody>
      </p:sp>
      <p:sp>
        <p:nvSpPr>
          <p:cNvPr id="5" name="body-3">
            <a:extLst>
              <a:ext uri="{FF2B5EF4-FFF2-40B4-BE49-F238E27FC236}">
                <a16:creationId xmlns:a16="http://schemas.microsoft.com/office/drawing/2014/main" id="{8C5F03FA-8D30-4324-AA40-B9079366AD68}"/>
              </a:ext>
            </a:extLst>
          </p:cNvPr>
          <p:cNvSpPr>
            <a:spLocks noGrp="1"/>
          </p:cNvSpPr>
          <p:nvPr/>
        </p:nvSpPr>
        <p:spPr>
          <a:xfrm>
            <a:off x="619125" y="4886325"/>
            <a:ext cx="7905750" cy="10191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Scale predictors first. Alpha controls penalty strength.</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Choose settings using training cross-validation.</a:t>
            </a:r>
          </a:p>
        </p:txBody>
      </p:sp>
    </p:spTree>
    <p:extLst>
      <p:ext uri="{BB962C8B-B14F-4D97-AF65-F5344CB8AC3E}">
        <p14:creationId xmlns:p14="http://schemas.microsoft.com/office/powerpoint/2010/main" val="15458933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2E244816-3681-4367-842F-6D2C72F5A159}"/>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Other regression models</a:t>
            </a:r>
          </a:p>
        </p:txBody>
      </p:sp>
      <p:sp>
        <p:nvSpPr>
          <p:cNvPr id="2" name="body-0">
            <a:extLst>
              <a:ext uri="{FF2B5EF4-FFF2-40B4-BE49-F238E27FC236}">
                <a16:creationId xmlns:a16="http://schemas.microsoft.com/office/drawing/2014/main" id="{2AFCC401-3B74-4918-BF87-9ACC4B62D996}"/>
              </a:ext>
            </a:extLst>
          </p:cNvPr>
          <p:cNvSpPr>
            <a:spLocks noGrp="1"/>
          </p:cNvSpPr>
          <p:nvPr/>
        </p:nvSpPr>
        <p:spPr>
          <a:xfrm>
            <a:off x="619125" y="1543050"/>
            <a:ext cx="7905750" cy="9810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KNN: average outcomes among nearby observations.</a:t>
            </a:r>
          </a:p>
        </p:txBody>
      </p:sp>
      <p:sp>
        <p:nvSpPr>
          <p:cNvPr id="3" name="body-1">
            <a:extLst>
              <a:ext uri="{FF2B5EF4-FFF2-40B4-BE49-F238E27FC236}">
                <a16:creationId xmlns:a16="http://schemas.microsoft.com/office/drawing/2014/main" id="{3D445E56-1044-449C-8CA5-DF6F4D5DC5D8}"/>
              </a:ext>
            </a:extLst>
          </p:cNvPr>
          <p:cNvSpPr>
            <a:spLocks noGrp="1"/>
          </p:cNvSpPr>
          <p:nvPr/>
        </p:nvSpPr>
        <p:spPr>
          <a:xfrm>
            <a:off x="619125" y="2619375"/>
            <a:ext cx="7905750" cy="9810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Decision tree: split the data into regions and predict a value in each leaf.</a:t>
            </a:r>
          </a:p>
        </p:txBody>
      </p:sp>
      <p:sp>
        <p:nvSpPr>
          <p:cNvPr id="4" name="body-2">
            <a:extLst>
              <a:ext uri="{FF2B5EF4-FFF2-40B4-BE49-F238E27FC236}">
                <a16:creationId xmlns:a16="http://schemas.microsoft.com/office/drawing/2014/main" id="{C7F62C27-0217-4E36-B6CF-B6DDD6BD124A}"/>
              </a:ext>
            </a:extLst>
          </p:cNvPr>
          <p:cNvSpPr>
            <a:spLocks noGrp="1"/>
          </p:cNvSpPr>
          <p:nvPr/>
        </p:nvSpPr>
        <p:spPr>
          <a:xfrm>
            <a:off x="619125" y="3695700"/>
            <a:ext cx="7905750" cy="9810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SVR: fit a function with a tolerance around the predictions. Kernels can model nonlinear patterns.</a:t>
            </a:r>
          </a:p>
        </p:txBody>
      </p:sp>
      <p:sp>
        <p:nvSpPr>
          <p:cNvPr id="5" name="body-3">
            <a:extLst>
              <a:ext uri="{FF2B5EF4-FFF2-40B4-BE49-F238E27FC236}">
                <a16:creationId xmlns:a16="http://schemas.microsoft.com/office/drawing/2014/main" id="{EBB9B366-C7CB-4A8D-93B8-C98BD2BAA04F}"/>
              </a:ext>
            </a:extLst>
          </p:cNvPr>
          <p:cNvSpPr>
            <a:spLocks noGrp="1"/>
          </p:cNvSpPr>
          <p:nvPr/>
        </p:nvSpPr>
        <p:spPr>
          <a:xfrm>
            <a:off x="619125" y="4772025"/>
            <a:ext cx="7905750" cy="98107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Random forest: average predictions from many trees.</a:t>
            </a:r>
          </a:p>
        </p:txBody>
      </p:sp>
    </p:spTree>
    <p:extLst>
      <p:ext uri="{BB962C8B-B14F-4D97-AF65-F5344CB8AC3E}">
        <p14:creationId xmlns:p14="http://schemas.microsoft.com/office/powerpoint/2010/main" val="36522090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6577D298-A703-45FD-BB84-D2B2F3725808}"/>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Diabetes progression dataset</a:t>
            </a:r>
          </a:p>
        </p:txBody>
      </p:sp>
      <p:sp>
        <p:nvSpPr>
          <p:cNvPr id="2" name="body-0">
            <a:extLst>
              <a:ext uri="{FF2B5EF4-FFF2-40B4-BE49-F238E27FC236}">
                <a16:creationId xmlns:a16="http://schemas.microsoft.com/office/drawing/2014/main" id="{5F2F1B79-90D8-432F-8DDD-161AE4DDD169}"/>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442 patients with diabetes, ten baseline predictors.</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One observation per patient.</a:t>
            </a:r>
          </a:p>
        </p:txBody>
      </p:sp>
      <p:sp>
        <p:nvSpPr>
          <p:cNvPr id="3" name="body-1">
            <a:extLst>
              <a:ext uri="{FF2B5EF4-FFF2-40B4-BE49-F238E27FC236}">
                <a16:creationId xmlns:a16="http://schemas.microsoft.com/office/drawing/2014/main" id="{B9002984-FEDA-495E-8E11-3858A2AAE2AD}"/>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Predictors: age, sex, BMI, blood pressure and six serum measurements.</a:t>
            </a:r>
          </a:p>
        </p:txBody>
      </p:sp>
      <p:sp>
        <p:nvSpPr>
          <p:cNvPr id="4" name="body-2">
            <a:extLst>
              <a:ext uri="{FF2B5EF4-FFF2-40B4-BE49-F238E27FC236}">
                <a16:creationId xmlns:a16="http://schemas.microsoft.com/office/drawing/2014/main" id="{F0AD1368-971A-4382-BEE6-3C4F22E02917}"/>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Target: quantitative disease-progression score one year after baseline. This is not HbA1c or a risk percentage.</a:t>
            </a:r>
          </a:p>
        </p:txBody>
      </p:sp>
      <p:sp>
        <p:nvSpPr>
          <p:cNvPr id="5" name="body-3">
            <a:extLst>
              <a:ext uri="{FF2B5EF4-FFF2-40B4-BE49-F238E27FC236}">
                <a16:creationId xmlns:a16="http://schemas.microsoft.com/office/drawing/2014/main" id="{3AF3AB4B-2AEA-4B51-A9D5-EB25376D4491}"/>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Local CSV: diabetes_regression.csv</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Exported from scikit-learn with scaled=False.</a:t>
            </a:r>
          </a:p>
        </p:txBody>
      </p:sp>
    </p:spTree>
    <p:extLst>
      <p:ext uri="{BB962C8B-B14F-4D97-AF65-F5344CB8AC3E}">
        <p14:creationId xmlns:p14="http://schemas.microsoft.com/office/powerpoint/2010/main" val="33664225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itle">
            <a:extLst>
              <a:ext uri="{FF2B5EF4-FFF2-40B4-BE49-F238E27FC236}">
                <a16:creationId xmlns:a16="http://schemas.microsoft.com/office/drawing/2014/main" id="{F4459F31-AD53-4032-90A3-10428A9E0D57}"/>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Understanding the diabetes predictors</a:t>
            </a:r>
          </a:p>
        </p:txBody>
      </p:sp>
      <p:sp>
        <p:nvSpPr>
          <p:cNvPr id="2" name="code-0">
            <a:extLst>
              <a:ext uri="{FF2B5EF4-FFF2-40B4-BE49-F238E27FC236}">
                <a16:creationId xmlns:a16="http://schemas.microsoft.com/office/drawing/2014/main" id="{235E834E-75D2-4078-A305-ADEE2A330E49}"/>
              </a:ext>
            </a:extLst>
          </p:cNvPr>
          <p:cNvSpPr>
            <a:spLocks noGrp="1"/>
          </p:cNvSpPr>
          <p:nvPr/>
        </p:nvSpPr>
        <p:spPr>
          <a:xfrm>
            <a:off x="619125" y="1524000"/>
            <a:ext cx="1524000" cy="523875"/>
          </a:xfrm>
          <a:prstGeom prst="rect">
            <a:avLst/>
          </a:prstGeom>
          <a:noFill/>
          <a:ln w="0">
            <a:noFill/>
            <a:prstDash val="solid"/>
          </a:ln>
        </p:spPr>
        <p:txBody>
          <a:bodyPr lIns="0" tIns="0" rIns="0" bIns="0" anchor="t">
            <a:noAutofit/>
          </a:bodyPr>
          <a:lstStyle>
            <a:defPPr algn="l">
              <a:defRPr sz="2025" b="1">
                <a:solidFill>
                  <a:srgbClr val="111111"/>
                </a:solidFill>
                <a:latin typeface="Calibri"/>
                <a:ea typeface="Calibri"/>
                <a:cs typeface="Calibri"/>
              </a:defRPr>
            </a:defPPr>
            <a:lvl1pPr algn="l">
              <a:defRPr sz="2025" b="1">
                <a:solidFill>
                  <a:srgbClr val="111111"/>
                </a:solidFill>
                <a:latin typeface="Calibri"/>
                <a:ea typeface="Calibri"/>
                <a:cs typeface="Calibri"/>
              </a:defRPr>
            </a:lvl1pPr>
            <a:lvl2pPr algn="l">
              <a:defRPr sz="2025" b="1">
                <a:solidFill>
                  <a:srgbClr val="111111"/>
                </a:solidFill>
                <a:latin typeface="Calibri"/>
                <a:ea typeface="Calibri"/>
                <a:cs typeface="Calibri"/>
              </a:defRPr>
            </a:lvl2pPr>
            <a:lvl3pPr algn="l">
              <a:defRPr sz="2025" b="1">
                <a:solidFill>
                  <a:srgbClr val="111111"/>
                </a:solidFill>
                <a:latin typeface="Calibri"/>
                <a:ea typeface="Calibri"/>
                <a:cs typeface="Calibri"/>
              </a:defRPr>
            </a:lvl3pPr>
            <a:lvl4pPr algn="l">
              <a:defRPr sz="2025" b="1">
                <a:solidFill>
                  <a:srgbClr val="111111"/>
                </a:solidFill>
                <a:latin typeface="Calibri"/>
                <a:ea typeface="Calibri"/>
                <a:cs typeface="Calibri"/>
              </a:defRPr>
            </a:lvl4pPr>
            <a:lvl5pPr algn="l">
              <a:defRPr sz="2025" b="1">
                <a:solidFill>
                  <a:srgbClr val="111111"/>
                </a:solidFill>
                <a:latin typeface="Calibri"/>
                <a:ea typeface="Calibri"/>
                <a:cs typeface="Calibri"/>
              </a:defRPr>
            </a:lvl5pPr>
            <a:lvl6pPr algn="l">
              <a:defRPr sz="2025" b="1">
                <a:solidFill>
                  <a:srgbClr val="111111"/>
                </a:solidFill>
                <a:latin typeface="Calibri"/>
                <a:ea typeface="Calibri"/>
                <a:cs typeface="Calibri"/>
              </a:defRPr>
            </a:lvl6pPr>
            <a:lvl7pPr algn="l">
              <a:defRPr sz="2025" b="1">
                <a:solidFill>
                  <a:srgbClr val="111111"/>
                </a:solidFill>
                <a:latin typeface="Calibri"/>
                <a:ea typeface="Calibri"/>
                <a:cs typeface="Calibri"/>
              </a:defRPr>
            </a:lvl7pPr>
            <a:lvl8pPr algn="l">
              <a:defRPr sz="2025" b="1">
                <a:solidFill>
                  <a:srgbClr val="111111"/>
                </a:solidFill>
                <a:latin typeface="Calibri"/>
                <a:ea typeface="Calibri"/>
                <a:cs typeface="Calibri"/>
              </a:defRPr>
            </a:lvl8pPr>
            <a:lvl9pPr algn="l">
              <a:defRPr sz="2025" b="1">
                <a:solidFill>
                  <a:srgbClr val="111111"/>
                </a:solidFill>
                <a:latin typeface="Calibri"/>
                <a:ea typeface="Calibri"/>
                <a:cs typeface="Calibri"/>
              </a:defRPr>
            </a:lvl9pPr>
          </a:lstStyle>
          <a:p>
            <a:pPr algn="l">
              <a:defRPr sz="2025" b="1">
                <a:solidFill>
                  <a:srgbClr val="111111"/>
                </a:solidFill>
                <a:latin typeface="Calibri"/>
                <a:ea typeface="Calibri"/>
                <a:cs typeface="Calibri"/>
              </a:defRPr>
            </a:pPr>
            <a:r>
              <a:rPr sz="2025" b="1">
                <a:solidFill>
                  <a:srgbClr val="111111"/>
                </a:solidFill>
                <a:latin typeface="Calibri"/>
                <a:ea typeface="Calibri"/>
                <a:cs typeface="Calibri"/>
              </a:rPr>
              <a:t>age, sex</a:t>
            </a:r>
          </a:p>
        </p:txBody>
      </p:sp>
      <p:sp>
        <p:nvSpPr>
          <p:cNvPr id="3" name="desc-0">
            <a:extLst>
              <a:ext uri="{FF2B5EF4-FFF2-40B4-BE49-F238E27FC236}">
                <a16:creationId xmlns:a16="http://schemas.microsoft.com/office/drawing/2014/main" id="{9E8F6F17-0F3B-4F99-B237-6F8648BDF820}"/>
              </a:ext>
            </a:extLst>
          </p:cNvPr>
          <p:cNvSpPr>
            <a:spLocks noGrp="1"/>
          </p:cNvSpPr>
          <p:nvPr/>
        </p:nvSpPr>
        <p:spPr>
          <a:xfrm>
            <a:off x="2286000" y="1524000"/>
            <a:ext cx="6191250" cy="619125"/>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Age and a coded sex variable</a:t>
            </a:r>
          </a:p>
        </p:txBody>
      </p:sp>
      <p:sp>
        <p:nvSpPr>
          <p:cNvPr id="4" name="code-1">
            <a:extLst>
              <a:ext uri="{FF2B5EF4-FFF2-40B4-BE49-F238E27FC236}">
                <a16:creationId xmlns:a16="http://schemas.microsoft.com/office/drawing/2014/main" id="{0710D209-6A06-4533-8A49-811D9BB2BD80}"/>
              </a:ext>
            </a:extLst>
          </p:cNvPr>
          <p:cNvSpPr>
            <a:spLocks noGrp="1"/>
          </p:cNvSpPr>
          <p:nvPr/>
        </p:nvSpPr>
        <p:spPr>
          <a:xfrm>
            <a:off x="619125" y="2257425"/>
            <a:ext cx="1524000" cy="523875"/>
          </a:xfrm>
          <a:prstGeom prst="rect">
            <a:avLst/>
          </a:prstGeom>
          <a:noFill/>
          <a:ln w="0">
            <a:noFill/>
            <a:prstDash val="solid"/>
          </a:ln>
        </p:spPr>
        <p:txBody>
          <a:bodyPr lIns="0" tIns="0" rIns="0" bIns="0" anchor="t">
            <a:noAutofit/>
          </a:bodyPr>
          <a:lstStyle>
            <a:defPPr algn="l">
              <a:defRPr sz="2025" b="1">
                <a:solidFill>
                  <a:srgbClr val="111111"/>
                </a:solidFill>
                <a:latin typeface="Calibri"/>
                <a:ea typeface="Calibri"/>
                <a:cs typeface="Calibri"/>
              </a:defRPr>
            </a:defPPr>
            <a:lvl1pPr algn="l">
              <a:defRPr sz="2025" b="1">
                <a:solidFill>
                  <a:srgbClr val="111111"/>
                </a:solidFill>
                <a:latin typeface="Calibri"/>
                <a:ea typeface="Calibri"/>
                <a:cs typeface="Calibri"/>
              </a:defRPr>
            </a:lvl1pPr>
            <a:lvl2pPr algn="l">
              <a:defRPr sz="2025" b="1">
                <a:solidFill>
                  <a:srgbClr val="111111"/>
                </a:solidFill>
                <a:latin typeface="Calibri"/>
                <a:ea typeface="Calibri"/>
                <a:cs typeface="Calibri"/>
              </a:defRPr>
            </a:lvl2pPr>
            <a:lvl3pPr algn="l">
              <a:defRPr sz="2025" b="1">
                <a:solidFill>
                  <a:srgbClr val="111111"/>
                </a:solidFill>
                <a:latin typeface="Calibri"/>
                <a:ea typeface="Calibri"/>
                <a:cs typeface="Calibri"/>
              </a:defRPr>
            </a:lvl3pPr>
            <a:lvl4pPr algn="l">
              <a:defRPr sz="2025" b="1">
                <a:solidFill>
                  <a:srgbClr val="111111"/>
                </a:solidFill>
                <a:latin typeface="Calibri"/>
                <a:ea typeface="Calibri"/>
                <a:cs typeface="Calibri"/>
              </a:defRPr>
            </a:lvl4pPr>
            <a:lvl5pPr algn="l">
              <a:defRPr sz="2025" b="1">
                <a:solidFill>
                  <a:srgbClr val="111111"/>
                </a:solidFill>
                <a:latin typeface="Calibri"/>
                <a:ea typeface="Calibri"/>
                <a:cs typeface="Calibri"/>
              </a:defRPr>
            </a:lvl5pPr>
            <a:lvl6pPr algn="l">
              <a:defRPr sz="2025" b="1">
                <a:solidFill>
                  <a:srgbClr val="111111"/>
                </a:solidFill>
                <a:latin typeface="Calibri"/>
                <a:ea typeface="Calibri"/>
                <a:cs typeface="Calibri"/>
              </a:defRPr>
            </a:lvl6pPr>
            <a:lvl7pPr algn="l">
              <a:defRPr sz="2025" b="1">
                <a:solidFill>
                  <a:srgbClr val="111111"/>
                </a:solidFill>
                <a:latin typeface="Calibri"/>
                <a:ea typeface="Calibri"/>
                <a:cs typeface="Calibri"/>
              </a:defRPr>
            </a:lvl7pPr>
            <a:lvl8pPr algn="l">
              <a:defRPr sz="2025" b="1">
                <a:solidFill>
                  <a:srgbClr val="111111"/>
                </a:solidFill>
                <a:latin typeface="Calibri"/>
                <a:ea typeface="Calibri"/>
                <a:cs typeface="Calibri"/>
              </a:defRPr>
            </a:lvl8pPr>
            <a:lvl9pPr algn="l">
              <a:defRPr sz="2025" b="1">
                <a:solidFill>
                  <a:srgbClr val="111111"/>
                </a:solidFill>
                <a:latin typeface="Calibri"/>
                <a:ea typeface="Calibri"/>
                <a:cs typeface="Calibri"/>
              </a:defRPr>
            </a:lvl9pPr>
          </a:lstStyle>
          <a:p>
            <a:pPr algn="l">
              <a:defRPr sz="2025" b="1">
                <a:solidFill>
                  <a:srgbClr val="111111"/>
                </a:solidFill>
                <a:latin typeface="Calibri"/>
                <a:ea typeface="Calibri"/>
                <a:cs typeface="Calibri"/>
              </a:defRPr>
            </a:pPr>
            <a:r>
              <a:rPr sz="2025" b="1">
                <a:solidFill>
                  <a:srgbClr val="111111"/>
                </a:solidFill>
                <a:latin typeface="Calibri"/>
                <a:ea typeface="Calibri"/>
                <a:cs typeface="Calibri"/>
              </a:rPr>
              <a:t>bmi, bp</a:t>
            </a:r>
          </a:p>
        </p:txBody>
      </p:sp>
      <p:sp>
        <p:nvSpPr>
          <p:cNvPr id="5" name="desc-1">
            <a:extLst>
              <a:ext uri="{FF2B5EF4-FFF2-40B4-BE49-F238E27FC236}">
                <a16:creationId xmlns:a16="http://schemas.microsoft.com/office/drawing/2014/main" id="{1794CF43-CA46-4BF2-A380-4198E2FC077F}"/>
              </a:ext>
            </a:extLst>
          </p:cNvPr>
          <p:cNvSpPr>
            <a:spLocks noGrp="1"/>
          </p:cNvSpPr>
          <p:nvPr/>
        </p:nvSpPr>
        <p:spPr>
          <a:xfrm>
            <a:off x="2286000" y="2257425"/>
            <a:ext cx="6191250" cy="619125"/>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Body mass index and average blood pressure</a:t>
            </a:r>
          </a:p>
        </p:txBody>
      </p:sp>
      <p:sp>
        <p:nvSpPr>
          <p:cNvPr id="6" name="code-2">
            <a:extLst>
              <a:ext uri="{FF2B5EF4-FFF2-40B4-BE49-F238E27FC236}">
                <a16:creationId xmlns:a16="http://schemas.microsoft.com/office/drawing/2014/main" id="{F786E5AF-582A-4C4B-8D26-5330BDC0FCB4}"/>
              </a:ext>
            </a:extLst>
          </p:cNvPr>
          <p:cNvSpPr>
            <a:spLocks noGrp="1"/>
          </p:cNvSpPr>
          <p:nvPr/>
        </p:nvSpPr>
        <p:spPr>
          <a:xfrm>
            <a:off x="619125" y="2990850"/>
            <a:ext cx="1524000" cy="523875"/>
          </a:xfrm>
          <a:prstGeom prst="rect">
            <a:avLst/>
          </a:prstGeom>
          <a:noFill/>
          <a:ln w="0">
            <a:noFill/>
            <a:prstDash val="solid"/>
          </a:ln>
        </p:spPr>
        <p:txBody>
          <a:bodyPr lIns="0" tIns="0" rIns="0" bIns="0" anchor="t">
            <a:noAutofit/>
          </a:bodyPr>
          <a:lstStyle>
            <a:defPPr algn="l">
              <a:defRPr sz="2025" b="1">
                <a:solidFill>
                  <a:srgbClr val="111111"/>
                </a:solidFill>
                <a:latin typeface="Calibri"/>
                <a:ea typeface="Calibri"/>
                <a:cs typeface="Calibri"/>
              </a:defRPr>
            </a:defPPr>
            <a:lvl1pPr algn="l">
              <a:defRPr sz="2025" b="1">
                <a:solidFill>
                  <a:srgbClr val="111111"/>
                </a:solidFill>
                <a:latin typeface="Calibri"/>
                <a:ea typeface="Calibri"/>
                <a:cs typeface="Calibri"/>
              </a:defRPr>
            </a:lvl1pPr>
            <a:lvl2pPr algn="l">
              <a:defRPr sz="2025" b="1">
                <a:solidFill>
                  <a:srgbClr val="111111"/>
                </a:solidFill>
                <a:latin typeface="Calibri"/>
                <a:ea typeface="Calibri"/>
                <a:cs typeface="Calibri"/>
              </a:defRPr>
            </a:lvl2pPr>
            <a:lvl3pPr algn="l">
              <a:defRPr sz="2025" b="1">
                <a:solidFill>
                  <a:srgbClr val="111111"/>
                </a:solidFill>
                <a:latin typeface="Calibri"/>
                <a:ea typeface="Calibri"/>
                <a:cs typeface="Calibri"/>
              </a:defRPr>
            </a:lvl3pPr>
            <a:lvl4pPr algn="l">
              <a:defRPr sz="2025" b="1">
                <a:solidFill>
                  <a:srgbClr val="111111"/>
                </a:solidFill>
                <a:latin typeface="Calibri"/>
                <a:ea typeface="Calibri"/>
                <a:cs typeface="Calibri"/>
              </a:defRPr>
            </a:lvl4pPr>
            <a:lvl5pPr algn="l">
              <a:defRPr sz="2025" b="1">
                <a:solidFill>
                  <a:srgbClr val="111111"/>
                </a:solidFill>
                <a:latin typeface="Calibri"/>
                <a:ea typeface="Calibri"/>
                <a:cs typeface="Calibri"/>
              </a:defRPr>
            </a:lvl5pPr>
            <a:lvl6pPr algn="l">
              <a:defRPr sz="2025" b="1">
                <a:solidFill>
                  <a:srgbClr val="111111"/>
                </a:solidFill>
                <a:latin typeface="Calibri"/>
                <a:ea typeface="Calibri"/>
                <a:cs typeface="Calibri"/>
              </a:defRPr>
            </a:lvl6pPr>
            <a:lvl7pPr algn="l">
              <a:defRPr sz="2025" b="1">
                <a:solidFill>
                  <a:srgbClr val="111111"/>
                </a:solidFill>
                <a:latin typeface="Calibri"/>
                <a:ea typeface="Calibri"/>
                <a:cs typeface="Calibri"/>
              </a:defRPr>
            </a:lvl7pPr>
            <a:lvl8pPr algn="l">
              <a:defRPr sz="2025" b="1">
                <a:solidFill>
                  <a:srgbClr val="111111"/>
                </a:solidFill>
                <a:latin typeface="Calibri"/>
                <a:ea typeface="Calibri"/>
                <a:cs typeface="Calibri"/>
              </a:defRPr>
            </a:lvl8pPr>
            <a:lvl9pPr algn="l">
              <a:defRPr sz="2025" b="1">
                <a:solidFill>
                  <a:srgbClr val="111111"/>
                </a:solidFill>
                <a:latin typeface="Calibri"/>
                <a:ea typeface="Calibri"/>
                <a:cs typeface="Calibri"/>
              </a:defRPr>
            </a:lvl9pPr>
          </a:lstStyle>
          <a:p>
            <a:pPr algn="l">
              <a:defRPr sz="2025" b="1">
                <a:solidFill>
                  <a:srgbClr val="111111"/>
                </a:solidFill>
                <a:latin typeface="Calibri"/>
                <a:ea typeface="Calibri"/>
                <a:cs typeface="Calibri"/>
              </a:defRPr>
            </a:pPr>
            <a:r>
              <a:rPr sz="2025" b="1">
                <a:solidFill>
                  <a:srgbClr val="111111"/>
                </a:solidFill>
                <a:latin typeface="Calibri"/>
                <a:ea typeface="Calibri"/>
                <a:cs typeface="Calibri"/>
              </a:rPr>
              <a:t>s1, s2</a:t>
            </a:r>
          </a:p>
        </p:txBody>
      </p:sp>
      <p:sp>
        <p:nvSpPr>
          <p:cNvPr id="7" name="desc-2">
            <a:extLst>
              <a:ext uri="{FF2B5EF4-FFF2-40B4-BE49-F238E27FC236}">
                <a16:creationId xmlns:a16="http://schemas.microsoft.com/office/drawing/2014/main" id="{D1476E5C-B79B-4388-BAB0-38812E167345}"/>
              </a:ext>
            </a:extLst>
          </p:cNvPr>
          <p:cNvSpPr>
            <a:spLocks noGrp="1"/>
          </p:cNvSpPr>
          <p:nvPr/>
        </p:nvSpPr>
        <p:spPr>
          <a:xfrm>
            <a:off x="2286000" y="2990850"/>
            <a:ext cx="6191250" cy="619125"/>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Total serum cholesterol and LDL</a:t>
            </a:r>
          </a:p>
        </p:txBody>
      </p:sp>
      <p:sp>
        <p:nvSpPr>
          <p:cNvPr id="8" name="code-3">
            <a:extLst>
              <a:ext uri="{FF2B5EF4-FFF2-40B4-BE49-F238E27FC236}">
                <a16:creationId xmlns:a16="http://schemas.microsoft.com/office/drawing/2014/main" id="{AB79F1CC-6B27-42F7-83C8-EF86CBE0C35D}"/>
              </a:ext>
            </a:extLst>
          </p:cNvPr>
          <p:cNvSpPr>
            <a:spLocks noGrp="1"/>
          </p:cNvSpPr>
          <p:nvPr/>
        </p:nvSpPr>
        <p:spPr>
          <a:xfrm>
            <a:off x="619125" y="3724275"/>
            <a:ext cx="1524000" cy="523875"/>
          </a:xfrm>
          <a:prstGeom prst="rect">
            <a:avLst/>
          </a:prstGeom>
          <a:noFill/>
          <a:ln w="0">
            <a:noFill/>
            <a:prstDash val="solid"/>
          </a:ln>
        </p:spPr>
        <p:txBody>
          <a:bodyPr lIns="0" tIns="0" rIns="0" bIns="0" anchor="t">
            <a:noAutofit/>
          </a:bodyPr>
          <a:lstStyle>
            <a:defPPr algn="l">
              <a:defRPr sz="2025" b="1">
                <a:solidFill>
                  <a:srgbClr val="111111"/>
                </a:solidFill>
                <a:latin typeface="Calibri"/>
                <a:ea typeface="Calibri"/>
                <a:cs typeface="Calibri"/>
              </a:defRPr>
            </a:defPPr>
            <a:lvl1pPr algn="l">
              <a:defRPr sz="2025" b="1">
                <a:solidFill>
                  <a:srgbClr val="111111"/>
                </a:solidFill>
                <a:latin typeface="Calibri"/>
                <a:ea typeface="Calibri"/>
                <a:cs typeface="Calibri"/>
              </a:defRPr>
            </a:lvl1pPr>
            <a:lvl2pPr algn="l">
              <a:defRPr sz="2025" b="1">
                <a:solidFill>
                  <a:srgbClr val="111111"/>
                </a:solidFill>
                <a:latin typeface="Calibri"/>
                <a:ea typeface="Calibri"/>
                <a:cs typeface="Calibri"/>
              </a:defRPr>
            </a:lvl2pPr>
            <a:lvl3pPr algn="l">
              <a:defRPr sz="2025" b="1">
                <a:solidFill>
                  <a:srgbClr val="111111"/>
                </a:solidFill>
                <a:latin typeface="Calibri"/>
                <a:ea typeface="Calibri"/>
                <a:cs typeface="Calibri"/>
              </a:defRPr>
            </a:lvl3pPr>
            <a:lvl4pPr algn="l">
              <a:defRPr sz="2025" b="1">
                <a:solidFill>
                  <a:srgbClr val="111111"/>
                </a:solidFill>
                <a:latin typeface="Calibri"/>
                <a:ea typeface="Calibri"/>
                <a:cs typeface="Calibri"/>
              </a:defRPr>
            </a:lvl4pPr>
            <a:lvl5pPr algn="l">
              <a:defRPr sz="2025" b="1">
                <a:solidFill>
                  <a:srgbClr val="111111"/>
                </a:solidFill>
                <a:latin typeface="Calibri"/>
                <a:ea typeface="Calibri"/>
                <a:cs typeface="Calibri"/>
              </a:defRPr>
            </a:lvl5pPr>
            <a:lvl6pPr algn="l">
              <a:defRPr sz="2025" b="1">
                <a:solidFill>
                  <a:srgbClr val="111111"/>
                </a:solidFill>
                <a:latin typeface="Calibri"/>
                <a:ea typeface="Calibri"/>
                <a:cs typeface="Calibri"/>
              </a:defRPr>
            </a:lvl6pPr>
            <a:lvl7pPr algn="l">
              <a:defRPr sz="2025" b="1">
                <a:solidFill>
                  <a:srgbClr val="111111"/>
                </a:solidFill>
                <a:latin typeface="Calibri"/>
                <a:ea typeface="Calibri"/>
                <a:cs typeface="Calibri"/>
              </a:defRPr>
            </a:lvl7pPr>
            <a:lvl8pPr algn="l">
              <a:defRPr sz="2025" b="1">
                <a:solidFill>
                  <a:srgbClr val="111111"/>
                </a:solidFill>
                <a:latin typeface="Calibri"/>
                <a:ea typeface="Calibri"/>
                <a:cs typeface="Calibri"/>
              </a:defRPr>
            </a:lvl8pPr>
            <a:lvl9pPr algn="l">
              <a:defRPr sz="2025" b="1">
                <a:solidFill>
                  <a:srgbClr val="111111"/>
                </a:solidFill>
                <a:latin typeface="Calibri"/>
                <a:ea typeface="Calibri"/>
                <a:cs typeface="Calibri"/>
              </a:defRPr>
            </a:lvl9pPr>
          </a:lstStyle>
          <a:p>
            <a:pPr algn="l">
              <a:defRPr sz="2025" b="1">
                <a:solidFill>
                  <a:srgbClr val="111111"/>
                </a:solidFill>
                <a:latin typeface="Calibri"/>
                <a:ea typeface="Calibri"/>
                <a:cs typeface="Calibri"/>
              </a:defRPr>
            </a:pPr>
            <a:r>
              <a:rPr sz="2025" b="1">
                <a:solidFill>
                  <a:srgbClr val="111111"/>
                </a:solidFill>
                <a:latin typeface="Calibri"/>
                <a:ea typeface="Calibri"/>
                <a:cs typeface="Calibri"/>
              </a:rPr>
              <a:t>s3, s4</a:t>
            </a:r>
          </a:p>
        </p:txBody>
      </p:sp>
      <p:sp>
        <p:nvSpPr>
          <p:cNvPr id="9" name="desc-3">
            <a:extLst>
              <a:ext uri="{FF2B5EF4-FFF2-40B4-BE49-F238E27FC236}">
                <a16:creationId xmlns:a16="http://schemas.microsoft.com/office/drawing/2014/main" id="{778592F8-CA97-412B-9D6E-3AC3C29FCDC4}"/>
              </a:ext>
            </a:extLst>
          </p:cNvPr>
          <p:cNvSpPr>
            <a:spLocks noGrp="1"/>
          </p:cNvSpPr>
          <p:nvPr/>
        </p:nvSpPr>
        <p:spPr>
          <a:xfrm>
            <a:off x="2286000" y="3724275"/>
            <a:ext cx="6191250" cy="619125"/>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HDL and total-cholesterol / HDL ratio</a:t>
            </a:r>
          </a:p>
        </p:txBody>
      </p:sp>
      <p:sp>
        <p:nvSpPr>
          <p:cNvPr id="10" name="code-4">
            <a:extLst>
              <a:ext uri="{FF2B5EF4-FFF2-40B4-BE49-F238E27FC236}">
                <a16:creationId xmlns:a16="http://schemas.microsoft.com/office/drawing/2014/main" id="{35D10E44-6449-4B5D-BC79-50EE56662E4E}"/>
              </a:ext>
            </a:extLst>
          </p:cNvPr>
          <p:cNvSpPr>
            <a:spLocks noGrp="1"/>
          </p:cNvSpPr>
          <p:nvPr/>
        </p:nvSpPr>
        <p:spPr>
          <a:xfrm>
            <a:off x="619125" y="4457700"/>
            <a:ext cx="1524000" cy="523875"/>
          </a:xfrm>
          <a:prstGeom prst="rect">
            <a:avLst/>
          </a:prstGeom>
          <a:noFill/>
          <a:ln w="0">
            <a:noFill/>
            <a:prstDash val="solid"/>
          </a:ln>
        </p:spPr>
        <p:txBody>
          <a:bodyPr lIns="0" tIns="0" rIns="0" bIns="0" anchor="t">
            <a:noAutofit/>
          </a:bodyPr>
          <a:lstStyle>
            <a:defPPr algn="l">
              <a:defRPr sz="2025" b="1">
                <a:solidFill>
                  <a:srgbClr val="111111"/>
                </a:solidFill>
                <a:latin typeface="Calibri"/>
                <a:ea typeface="Calibri"/>
                <a:cs typeface="Calibri"/>
              </a:defRPr>
            </a:defPPr>
            <a:lvl1pPr algn="l">
              <a:defRPr sz="2025" b="1">
                <a:solidFill>
                  <a:srgbClr val="111111"/>
                </a:solidFill>
                <a:latin typeface="Calibri"/>
                <a:ea typeface="Calibri"/>
                <a:cs typeface="Calibri"/>
              </a:defRPr>
            </a:lvl1pPr>
            <a:lvl2pPr algn="l">
              <a:defRPr sz="2025" b="1">
                <a:solidFill>
                  <a:srgbClr val="111111"/>
                </a:solidFill>
                <a:latin typeface="Calibri"/>
                <a:ea typeface="Calibri"/>
                <a:cs typeface="Calibri"/>
              </a:defRPr>
            </a:lvl2pPr>
            <a:lvl3pPr algn="l">
              <a:defRPr sz="2025" b="1">
                <a:solidFill>
                  <a:srgbClr val="111111"/>
                </a:solidFill>
                <a:latin typeface="Calibri"/>
                <a:ea typeface="Calibri"/>
                <a:cs typeface="Calibri"/>
              </a:defRPr>
            </a:lvl3pPr>
            <a:lvl4pPr algn="l">
              <a:defRPr sz="2025" b="1">
                <a:solidFill>
                  <a:srgbClr val="111111"/>
                </a:solidFill>
                <a:latin typeface="Calibri"/>
                <a:ea typeface="Calibri"/>
                <a:cs typeface="Calibri"/>
              </a:defRPr>
            </a:lvl4pPr>
            <a:lvl5pPr algn="l">
              <a:defRPr sz="2025" b="1">
                <a:solidFill>
                  <a:srgbClr val="111111"/>
                </a:solidFill>
                <a:latin typeface="Calibri"/>
                <a:ea typeface="Calibri"/>
                <a:cs typeface="Calibri"/>
              </a:defRPr>
            </a:lvl5pPr>
            <a:lvl6pPr algn="l">
              <a:defRPr sz="2025" b="1">
                <a:solidFill>
                  <a:srgbClr val="111111"/>
                </a:solidFill>
                <a:latin typeface="Calibri"/>
                <a:ea typeface="Calibri"/>
                <a:cs typeface="Calibri"/>
              </a:defRPr>
            </a:lvl6pPr>
            <a:lvl7pPr algn="l">
              <a:defRPr sz="2025" b="1">
                <a:solidFill>
                  <a:srgbClr val="111111"/>
                </a:solidFill>
                <a:latin typeface="Calibri"/>
                <a:ea typeface="Calibri"/>
                <a:cs typeface="Calibri"/>
              </a:defRPr>
            </a:lvl7pPr>
            <a:lvl8pPr algn="l">
              <a:defRPr sz="2025" b="1">
                <a:solidFill>
                  <a:srgbClr val="111111"/>
                </a:solidFill>
                <a:latin typeface="Calibri"/>
                <a:ea typeface="Calibri"/>
                <a:cs typeface="Calibri"/>
              </a:defRPr>
            </a:lvl8pPr>
            <a:lvl9pPr algn="l">
              <a:defRPr sz="2025" b="1">
                <a:solidFill>
                  <a:srgbClr val="111111"/>
                </a:solidFill>
                <a:latin typeface="Calibri"/>
                <a:ea typeface="Calibri"/>
                <a:cs typeface="Calibri"/>
              </a:defRPr>
            </a:lvl9pPr>
          </a:lstStyle>
          <a:p>
            <a:pPr algn="l">
              <a:defRPr sz="2025" b="1">
                <a:solidFill>
                  <a:srgbClr val="111111"/>
                </a:solidFill>
                <a:latin typeface="Calibri"/>
                <a:ea typeface="Calibri"/>
                <a:cs typeface="Calibri"/>
              </a:defRPr>
            </a:pPr>
            <a:r>
              <a:rPr sz="2025" b="1">
                <a:solidFill>
                  <a:srgbClr val="111111"/>
                </a:solidFill>
                <a:latin typeface="Calibri"/>
                <a:ea typeface="Calibri"/>
                <a:cs typeface="Calibri"/>
              </a:rPr>
              <a:t>s5, s6</a:t>
            </a:r>
          </a:p>
        </p:txBody>
      </p:sp>
      <p:sp>
        <p:nvSpPr>
          <p:cNvPr id="11" name="desc-4">
            <a:extLst>
              <a:ext uri="{FF2B5EF4-FFF2-40B4-BE49-F238E27FC236}">
                <a16:creationId xmlns:a16="http://schemas.microsoft.com/office/drawing/2014/main" id="{6CF8967B-E2B9-4B0D-9F15-8F916FFE5885}"/>
              </a:ext>
            </a:extLst>
          </p:cNvPr>
          <p:cNvSpPr>
            <a:spLocks noGrp="1"/>
          </p:cNvSpPr>
          <p:nvPr/>
        </p:nvSpPr>
        <p:spPr>
          <a:xfrm>
            <a:off x="2286000" y="4457700"/>
            <a:ext cx="6191250" cy="619125"/>
          </a:xfrm>
          <a:prstGeom prst="rect">
            <a:avLst/>
          </a:prstGeom>
          <a:noFill/>
          <a:ln w="0">
            <a:noFill/>
            <a:prstDash val="solid"/>
          </a:ln>
        </p:spPr>
        <p:txBody>
          <a:bodyPr lIns="0" tIns="0" rIns="0" bIns="0" anchor="t">
            <a:noAutofit/>
          </a:bodyPr>
          <a:lstStyle>
            <a:defPPr algn="l">
              <a:defRPr sz="1950" b="0">
                <a:solidFill>
                  <a:srgbClr val="111111"/>
                </a:solidFill>
                <a:latin typeface="Calibri"/>
                <a:ea typeface="Calibri"/>
                <a:cs typeface="Calibri"/>
              </a:defRPr>
            </a:defPPr>
            <a:lvl1pPr algn="l">
              <a:defRPr sz="1950" b="0">
                <a:solidFill>
                  <a:srgbClr val="111111"/>
                </a:solidFill>
                <a:latin typeface="Calibri"/>
                <a:ea typeface="Calibri"/>
                <a:cs typeface="Calibri"/>
              </a:defRPr>
            </a:lvl1pPr>
            <a:lvl2pPr algn="l">
              <a:defRPr sz="1950" b="0">
                <a:solidFill>
                  <a:srgbClr val="111111"/>
                </a:solidFill>
                <a:latin typeface="Calibri"/>
                <a:ea typeface="Calibri"/>
                <a:cs typeface="Calibri"/>
              </a:defRPr>
            </a:lvl2pPr>
            <a:lvl3pPr algn="l">
              <a:defRPr sz="1950" b="0">
                <a:solidFill>
                  <a:srgbClr val="111111"/>
                </a:solidFill>
                <a:latin typeface="Calibri"/>
                <a:ea typeface="Calibri"/>
                <a:cs typeface="Calibri"/>
              </a:defRPr>
            </a:lvl3pPr>
            <a:lvl4pPr algn="l">
              <a:defRPr sz="1950" b="0">
                <a:solidFill>
                  <a:srgbClr val="111111"/>
                </a:solidFill>
                <a:latin typeface="Calibri"/>
                <a:ea typeface="Calibri"/>
                <a:cs typeface="Calibri"/>
              </a:defRPr>
            </a:lvl4pPr>
            <a:lvl5pPr algn="l">
              <a:defRPr sz="1950" b="0">
                <a:solidFill>
                  <a:srgbClr val="111111"/>
                </a:solidFill>
                <a:latin typeface="Calibri"/>
                <a:ea typeface="Calibri"/>
                <a:cs typeface="Calibri"/>
              </a:defRPr>
            </a:lvl5pPr>
            <a:lvl6pPr algn="l">
              <a:defRPr sz="1950" b="0">
                <a:solidFill>
                  <a:srgbClr val="111111"/>
                </a:solidFill>
                <a:latin typeface="Calibri"/>
                <a:ea typeface="Calibri"/>
                <a:cs typeface="Calibri"/>
              </a:defRPr>
            </a:lvl6pPr>
            <a:lvl7pPr algn="l">
              <a:defRPr sz="1950" b="0">
                <a:solidFill>
                  <a:srgbClr val="111111"/>
                </a:solidFill>
                <a:latin typeface="Calibri"/>
                <a:ea typeface="Calibri"/>
                <a:cs typeface="Calibri"/>
              </a:defRPr>
            </a:lvl7pPr>
            <a:lvl8pPr algn="l">
              <a:defRPr sz="1950" b="0">
                <a:solidFill>
                  <a:srgbClr val="111111"/>
                </a:solidFill>
                <a:latin typeface="Calibri"/>
                <a:ea typeface="Calibri"/>
                <a:cs typeface="Calibri"/>
              </a:defRPr>
            </a:lvl8pPr>
            <a:lvl9pPr algn="l">
              <a:defRPr sz="1950" b="0">
                <a:solidFill>
                  <a:srgbClr val="111111"/>
                </a:solidFill>
                <a:latin typeface="Calibri"/>
                <a:ea typeface="Calibri"/>
                <a:cs typeface="Calibri"/>
              </a:defRPr>
            </a:lvl9pPr>
          </a:lstStyle>
          <a:p>
            <a:pPr algn="l">
              <a:defRPr sz="1950" b="0">
                <a:solidFill>
                  <a:srgbClr val="111111"/>
                </a:solidFill>
                <a:latin typeface="Calibri"/>
                <a:ea typeface="Calibri"/>
                <a:cs typeface="Calibri"/>
              </a:defRPr>
            </a:pPr>
            <a:r>
              <a:rPr sz="1950" b="0">
                <a:solidFill>
                  <a:srgbClr val="111111"/>
                </a:solidFill>
                <a:latin typeface="Calibri"/>
                <a:ea typeface="Calibri"/>
                <a:cs typeface="Calibri"/>
              </a:rPr>
              <a:t>Source triglyceride-related measure and blood sugar</a:t>
            </a:r>
          </a:p>
        </p:txBody>
      </p:sp>
      <p:sp>
        <p:nvSpPr>
          <p:cNvPr id="12" name="warning">
            <a:extLst>
              <a:ext uri="{FF2B5EF4-FFF2-40B4-BE49-F238E27FC236}">
                <a16:creationId xmlns:a16="http://schemas.microsoft.com/office/drawing/2014/main" id="{36259700-8873-4906-9799-EFE7EB9DEB90}"/>
              </a:ext>
            </a:extLst>
          </p:cNvPr>
          <p:cNvSpPr>
            <a:spLocks noGrp="1"/>
          </p:cNvSpPr>
          <p:nvPr/>
        </p:nvSpPr>
        <p:spPr>
          <a:xfrm>
            <a:off x="619125" y="5638800"/>
            <a:ext cx="7905750" cy="762000"/>
          </a:xfrm>
          <a:prstGeom prst="rect">
            <a:avLst/>
          </a:prstGeom>
          <a:noFill/>
          <a:ln w="0">
            <a:noFill/>
            <a:prstDash val="solid"/>
          </a:ln>
        </p:spPr>
        <p:txBody>
          <a:bodyPr lIns="0" tIns="0" rIns="0" bIns="0" anchor="t">
            <a:noAutofit/>
          </a:bodyPr>
          <a:lstStyle>
            <a:defPPr algn="l">
              <a:defRPr sz="1875" b="0">
                <a:solidFill>
                  <a:srgbClr val="111111"/>
                </a:solidFill>
                <a:latin typeface="Calibri"/>
                <a:ea typeface="Calibri"/>
                <a:cs typeface="Calibri"/>
              </a:defRPr>
            </a:defPPr>
            <a:lvl1pPr algn="l">
              <a:defRPr sz="1875" b="0">
                <a:solidFill>
                  <a:srgbClr val="111111"/>
                </a:solidFill>
                <a:latin typeface="Calibri"/>
                <a:ea typeface="Calibri"/>
                <a:cs typeface="Calibri"/>
              </a:defRPr>
            </a:lvl1pPr>
            <a:lvl2pPr algn="l">
              <a:defRPr sz="1875" b="0">
                <a:solidFill>
                  <a:srgbClr val="111111"/>
                </a:solidFill>
                <a:latin typeface="Calibri"/>
                <a:ea typeface="Calibri"/>
                <a:cs typeface="Calibri"/>
              </a:defRPr>
            </a:lvl2pPr>
            <a:lvl3pPr algn="l">
              <a:defRPr sz="1875" b="0">
                <a:solidFill>
                  <a:srgbClr val="111111"/>
                </a:solidFill>
                <a:latin typeface="Calibri"/>
                <a:ea typeface="Calibri"/>
                <a:cs typeface="Calibri"/>
              </a:defRPr>
            </a:lvl3pPr>
            <a:lvl4pPr algn="l">
              <a:defRPr sz="1875" b="0">
                <a:solidFill>
                  <a:srgbClr val="111111"/>
                </a:solidFill>
                <a:latin typeface="Calibri"/>
                <a:ea typeface="Calibri"/>
                <a:cs typeface="Calibri"/>
              </a:defRPr>
            </a:lvl4pPr>
            <a:lvl5pPr algn="l">
              <a:defRPr sz="1875" b="0">
                <a:solidFill>
                  <a:srgbClr val="111111"/>
                </a:solidFill>
                <a:latin typeface="Calibri"/>
                <a:ea typeface="Calibri"/>
                <a:cs typeface="Calibri"/>
              </a:defRPr>
            </a:lvl5pPr>
            <a:lvl6pPr algn="l">
              <a:defRPr sz="1875" b="0">
                <a:solidFill>
                  <a:srgbClr val="111111"/>
                </a:solidFill>
                <a:latin typeface="Calibri"/>
                <a:ea typeface="Calibri"/>
                <a:cs typeface="Calibri"/>
              </a:defRPr>
            </a:lvl6pPr>
            <a:lvl7pPr algn="l">
              <a:defRPr sz="1875" b="0">
                <a:solidFill>
                  <a:srgbClr val="111111"/>
                </a:solidFill>
                <a:latin typeface="Calibri"/>
                <a:ea typeface="Calibri"/>
                <a:cs typeface="Calibri"/>
              </a:defRPr>
            </a:lvl7pPr>
            <a:lvl8pPr algn="l">
              <a:defRPr sz="1875" b="0">
                <a:solidFill>
                  <a:srgbClr val="111111"/>
                </a:solidFill>
                <a:latin typeface="Calibri"/>
                <a:ea typeface="Calibri"/>
                <a:cs typeface="Calibri"/>
              </a:defRPr>
            </a:lvl8pPr>
            <a:lvl9pPr algn="l">
              <a:defRPr sz="1875" b="0">
                <a:solidFill>
                  <a:srgbClr val="111111"/>
                </a:solidFill>
                <a:latin typeface="Calibri"/>
                <a:ea typeface="Calibri"/>
                <a:cs typeface="Calibri"/>
              </a:defRPr>
            </a:lvl9pPr>
          </a:lstStyle>
          <a:p>
            <a:pPr algn="l">
              <a:defRPr sz="1875" b="0">
                <a:solidFill>
                  <a:srgbClr val="111111"/>
                </a:solidFill>
                <a:latin typeface="Calibri"/>
                <a:ea typeface="Calibri"/>
                <a:cs typeface="Calibri"/>
              </a:defRPr>
            </a:pPr>
            <a:r>
              <a:rPr sz="1875" b="0">
                <a:solidFill>
                  <a:srgbClr val="111111"/>
                </a:solidFill>
                <a:latin typeface="Calibri"/>
                <a:ea typeface="Calibri"/>
                <a:cs typeface="Calibri"/>
              </a:rPr>
              <a:t>Use the source definitions in DATASETS.md.</a:t>
            </a:r>
          </a:p>
          <a:p>
            <a:pPr algn="l">
              <a:defRPr sz="1875" b="0">
                <a:solidFill>
                  <a:srgbClr val="111111"/>
                </a:solidFill>
                <a:latin typeface="Calibri"/>
                <a:ea typeface="Calibri"/>
                <a:cs typeface="Calibri"/>
              </a:defRPr>
            </a:pPr>
            <a:r>
              <a:rPr sz="1875" b="0">
                <a:solidFill>
                  <a:srgbClr val="111111"/>
                </a:solidFill>
                <a:latin typeface="Calibri"/>
                <a:ea typeface="Calibri"/>
                <a:cs typeface="Calibri"/>
              </a:rPr>
              <a:t>Do not infer clinical thresholds from this teaching dataset.</a:t>
            </a:r>
          </a:p>
        </p:txBody>
      </p:sp>
    </p:spTree>
    <p:extLst>
      <p:ext uri="{BB962C8B-B14F-4D97-AF65-F5344CB8AC3E}">
        <p14:creationId xmlns:p14="http://schemas.microsoft.com/office/powerpoint/2010/main" val="16129836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E5CCCDC4-E8BB-4A7C-84F2-662B5EE51285}"/>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Evaluating regression</a:t>
            </a:r>
          </a:p>
        </p:txBody>
      </p:sp>
      <p:sp>
        <p:nvSpPr>
          <p:cNvPr id="2" name="body-0">
            <a:extLst>
              <a:ext uri="{FF2B5EF4-FFF2-40B4-BE49-F238E27FC236}">
                <a16:creationId xmlns:a16="http://schemas.microsoft.com/office/drawing/2014/main" id="{284D2DF8-CD8B-4A0A-BE39-4062D6BE82BD}"/>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MAE: average absolute prediction error.</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Easy to interpret in the target’s units.</a:t>
            </a:r>
          </a:p>
        </p:txBody>
      </p:sp>
      <p:sp>
        <p:nvSpPr>
          <p:cNvPr id="3" name="body-1">
            <a:extLst>
              <a:ext uri="{FF2B5EF4-FFF2-40B4-BE49-F238E27FC236}">
                <a16:creationId xmlns:a16="http://schemas.microsoft.com/office/drawing/2014/main" id="{51964033-BD1C-4C71-A73E-BCEF464E8369}"/>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RMSE: gives greater weight to large prediction errors.</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Lower MAE and RMSE are better.</a:t>
            </a:r>
          </a:p>
        </p:txBody>
      </p:sp>
      <p:sp>
        <p:nvSpPr>
          <p:cNvPr id="4" name="body-2">
            <a:extLst>
              <a:ext uri="{FF2B5EF4-FFF2-40B4-BE49-F238E27FC236}">
                <a16:creationId xmlns:a16="http://schemas.microsoft.com/office/drawing/2014/main" id="{50771CDE-F06A-4076-B670-521909C941B3}"/>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R²: 1 is perfect; values can be negative.</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It is a score, not a percentage of correct predictions.</a:t>
            </a:r>
          </a:p>
        </p:txBody>
      </p:sp>
      <p:sp>
        <p:nvSpPr>
          <p:cNvPr id="5" name="body-3">
            <a:extLst>
              <a:ext uri="{FF2B5EF4-FFF2-40B4-BE49-F238E27FC236}">
                <a16:creationId xmlns:a16="http://schemas.microsoft.com/office/drawing/2014/main" id="{DD7199BD-236F-431A-9982-2060E6728588}"/>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Compare with the training-mean baseline.</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Inspect observed vs predicted values and residuals.</a:t>
            </a:r>
          </a:p>
        </p:txBody>
      </p:sp>
    </p:spTree>
    <p:extLst>
      <p:ext uri="{BB962C8B-B14F-4D97-AF65-F5344CB8AC3E}">
        <p14:creationId xmlns:p14="http://schemas.microsoft.com/office/powerpoint/2010/main" val="1832482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EF4B8D6-E456-452D-9947-86A4104C79D9}"/>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Regression practical: workflow</a:t>
            </a:r>
          </a:p>
        </p:txBody>
      </p:sp>
      <p:sp>
        <p:nvSpPr>
          <p:cNvPr id="2" name="body-0">
            <a:extLst>
              <a:ext uri="{FF2B5EF4-FFF2-40B4-BE49-F238E27FC236}">
                <a16:creationId xmlns:a16="http://schemas.microsoft.com/office/drawing/2014/main" id="{11EACF3A-1217-4849-8036-44F83931F527}"/>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1. Split patients into training and test sets.</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Explore training correlations without selecting on the test set.</a:t>
            </a:r>
          </a:p>
        </p:txBody>
      </p:sp>
      <p:sp>
        <p:nvSpPr>
          <p:cNvPr id="3" name="body-1">
            <a:extLst>
              <a:ext uri="{FF2B5EF4-FFF2-40B4-BE49-F238E27FC236}">
                <a16:creationId xmlns:a16="http://schemas.microsoft.com/office/drawing/2014/main" id="{04FDCE57-1F85-4D88-A483-1EB075D3E70F}"/>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2. Compare scaled pipelines with five-fold CV.</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Include a baseline that predicts the training mean.</a:t>
            </a:r>
          </a:p>
        </p:txBody>
      </p:sp>
      <p:sp>
        <p:nvSpPr>
          <p:cNvPr id="4" name="body-2">
            <a:extLst>
              <a:ext uri="{FF2B5EF4-FFF2-40B4-BE49-F238E27FC236}">
                <a16:creationId xmlns:a16="http://schemas.microsoft.com/office/drawing/2014/main" id="{465D771A-D25B-4B9D-80CA-974A5B37334C}"/>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3. Select the model with the lowest mean CV RMSE.</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Refit on all training patients.</a:t>
            </a:r>
          </a:p>
        </p:txBody>
      </p:sp>
      <p:sp>
        <p:nvSpPr>
          <p:cNvPr id="5" name="body-3">
            <a:extLst>
              <a:ext uri="{FF2B5EF4-FFF2-40B4-BE49-F238E27FC236}">
                <a16:creationId xmlns:a16="http://schemas.microsoft.com/office/drawing/2014/main" id="{617ECBF3-9C8E-415F-B3D4-7B8A444F76AB}"/>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4. Evaluate RMSE, MAE and R² on the test set.</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Inspect predictions, residuals and feature importance.</a:t>
            </a:r>
          </a:p>
        </p:txBody>
      </p:sp>
    </p:spTree>
    <p:extLst>
      <p:ext uri="{BB962C8B-B14F-4D97-AF65-F5344CB8AC3E}">
        <p14:creationId xmlns:p14="http://schemas.microsoft.com/office/powerpoint/2010/main" val="16280882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188F43EC-5BAF-4980-A6AF-5FFD707D24D0}"/>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Regression practical</a:t>
            </a:r>
          </a:p>
        </p:txBody>
      </p:sp>
      <p:sp>
        <p:nvSpPr>
          <p:cNvPr id="2" name="body-0">
            <a:extLst>
              <a:ext uri="{FF2B5EF4-FFF2-40B4-BE49-F238E27FC236}">
                <a16:creationId xmlns:a16="http://schemas.microsoft.com/office/drawing/2014/main" id="{856919CF-E2E8-4C37-928C-52791A8754F0}"/>
              </a:ext>
            </a:extLst>
          </p:cNvPr>
          <p:cNvSpPr>
            <a:spLocks noGrp="1"/>
          </p:cNvSpPr>
          <p:nvPr/>
        </p:nvSpPr>
        <p:spPr>
          <a:xfrm>
            <a:off x="619125" y="1543050"/>
            <a:ext cx="7905750" cy="11430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Open ML_Python_day1_regression.py</a:t>
            </a:r>
          </a:p>
        </p:txBody>
      </p:sp>
      <p:sp>
        <p:nvSpPr>
          <p:cNvPr id="3" name="body-1">
            <a:extLst>
              <a:ext uri="{FF2B5EF4-FFF2-40B4-BE49-F238E27FC236}">
                <a16:creationId xmlns:a16="http://schemas.microsoft.com/office/drawing/2014/main" id="{F8B331C7-9221-4988-B7FE-54C06112D989}"/>
              </a:ext>
            </a:extLst>
          </p:cNvPr>
          <p:cNvSpPr>
            <a:spLocks noGrp="1"/>
          </p:cNvSpPr>
          <p:nvPr/>
        </p:nvSpPr>
        <p:spPr>
          <a:xfrm>
            <a:off x="619125" y="2781300"/>
            <a:ext cx="7905750" cy="11430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Run the numbered sections and inspect the outputs.</a:t>
            </a:r>
          </a:p>
        </p:txBody>
      </p:sp>
      <p:sp>
        <p:nvSpPr>
          <p:cNvPr id="4" name="body-2">
            <a:extLst>
              <a:ext uri="{FF2B5EF4-FFF2-40B4-BE49-F238E27FC236}">
                <a16:creationId xmlns:a16="http://schemas.microsoft.com/office/drawing/2014/main" id="{FCCAAFA1-A53D-4C26-A2E4-3365A498ED1A}"/>
              </a:ext>
            </a:extLst>
          </p:cNvPr>
          <p:cNvSpPr>
            <a:spLocks noGrp="1"/>
          </p:cNvSpPr>
          <p:nvPr/>
        </p:nvSpPr>
        <p:spPr>
          <a:xfrm>
            <a:off x="619125" y="4019550"/>
            <a:ext cx="7905750" cy="114300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Questions</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Does the model beat the mean-prediction baseline?</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Are predictions worse at the extremes?</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Does the most complex model perform best?</a:t>
            </a:r>
          </a:p>
        </p:txBody>
      </p:sp>
    </p:spTree>
    <p:extLst>
      <p:ext uri="{BB962C8B-B14F-4D97-AF65-F5344CB8AC3E}">
        <p14:creationId xmlns:p14="http://schemas.microsoft.com/office/powerpoint/2010/main" val="11829519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CA9C4291-E480-4249-8638-09026A4E9A47}"/>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What to take away</a:t>
            </a:r>
          </a:p>
        </p:txBody>
      </p:sp>
      <p:sp>
        <p:nvSpPr>
          <p:cNvPr id="2" name="body-0">
            <a:extLst>
              <a:ext uri="{FF2B5EF4-FFF2-40B4-BE49-F238E27FC236}">
                <a16:creationId xmlns:a16="http://schemas.microsoft.com/office/drawing/2014/main" id="{C66262CF-F919-4D30-91FA-9B82C17222F9}"/>
              </a:ext>
            </a:extLst>
          </p:cNvPr>
          <p:cNvSpPr>
            <a:spLocks noGrp="1"/>
          </p:cNvSpPr>
          <p:nvPr/>
        </p:nvSpPr>
        <p:spPr>
          <a:xfrm>
            <a:off x="619125" y="15430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Define the prediction question, observation and target.</a:t>
            </a:r>
          </a:p>
        </p:txBody>
      </p:sp>
      <p:sp>
        <p:nvSpPr>
          <p:cNvPr id="3" name="body-1">
            <a:extLst>
              <a:ext uri="{FF2B5EF4-FFF2-40B4-BE49-F238E27FC236}">
                <a16:creationId xmlns:a16="http://schemas.microsoft.com/office/drawing/2014/main" id="{C1C6462D-5ABE-414E-B510-121115F46491}"/>
              </a:ext>
            </a:extLst>
          </p:cNvPr>
          <p:cNvSpPr>
            <a:spLocks noGrp="1"/>
          </p:cNvSpPr>
          <p:nvPr/>
        </p:nvSpPr>
        <p:spPr>
          <a:xfrm>
            <a:off x="619125" y="26479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Keep related observations together and fit preprocessing inside training folds.</a:t>
            </a:r>
          </a:p>
        </p:txBody>
      </p:sp>
      <p:sp>
        <p:nvSpPr>
          <p:cNvPr id="4" name="body-2">
            <a:extLst>
              <a:ext uri="{FF2B5EF4-FFF2-40B4-BE49-F238E27FC236}">
                <a16:creationId xmlns:a16="http://schemas.microsoft.com/office/drawing/2014/main" id="{94E953CF-1431-4C7A-AFD3-B478FC094B31}"/>
              </a:ext>
            </a:extLst>
          </p:cNvPr>
          <p:cNvSpPr>
            <a:spLocks noGrp="1"/>
          </p:cNvSpPr>
          <p:nvPr/>
        </p:nvSpPr>
        <p:spPr>
          <a:xfrm>
            <a:off x="619125" y="37528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Compare with a baseline using training cross-validation.</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Evaluate the selected pipeline on held-out data.</a:t>
            </a:r>
          </a:p>
        </p:txBody>
      </p:sp>
      <p:sp>
        <p:nvSpPr>
          <p:cNvPr id="5" name="body-3">
            <a:extLst>
              <a:ext uri="{FF2B5EF4-FFF2-40B4-BE49-F238E27FC236}">
                <a16:creationId xmlns:a16="http://schemas.microsoft.com/office/drawing/2014/main" id="{F4EBCEEC-E927-4EA6-942B-C96257376773}"/>
              </a:ext>
            </a:extLst>
          </p:cNvPr>
          <p:cNvSpPr>
            <a:spLocks noGrp="1"/>
          </p:cNvSpPr>
          <p:nvPr/>
        </p:nvSpPr>
        <p:spPr>
          <a:xfrm>
            <a:off x="619125" y="48577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Feature importance describes predictive behaviour.</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It does not establish a biological or clinical cause.</a:t>
            </a:r>
          </a:p>
        </p:txBody>
      </p:sp>
    </p:spTree>
    <p:extLst>
      <p:ext uri="{BB962C8B-B14F-4D97-AF65-F5344CB8AC3E}">
        <p14:creationId xmlns:p14="http://schemas.microsoft.com/office/powerpoint/2010/main" val="232901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E8E937AE-8419-4F8F-BBEC-F880C419308E}"/>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Backup: feature selection and regularisation</a:t>
            </a:r>
          </a:p>
        </p:txBody>
      </p:sp>
      <p:sp>
        <p:nvSpPr>
          <p:cNvPr id="2" name="body-0">
            <a:extLst>
              <a:ext uri="{FF2B5EF4-FFF2-40B4-BE49-F238E27FC236}">
                <a16:creationId xmlns:a16="http://schemas.microsoft.com/office/drawing/2014/main" id="{4E488B5D-0EE3-4CEE-A1CC-961D57DA382C}"/>
              </a:ext>
            </a:extLst>
          </p:cNvPr>
          <p:cNvSpPr>
            <a:spLocks noGrp="1"/>
          </p:cNvSpPr>
          <p:nvPr/>
        </p:nvSpPr>
        <p:spPr>
          <a:xfrm>
            <a:off x="619125" y="1543050"/>
            <a:ext cx="7905750" cy="1524000"/>
          </a:xfrm>
          <a:prstGeom prst="rect">
            <a:avLst/>
          </a:prstGeom>
          <a:noFill/>
          <a:ln w="0">
            <a:noFill/>
            <a:prstDash val="solid"/>
          </a:ln>
        </p:spPr>
        <p:txBody>
          <a:bodyPr lIns="0" tIns="0" rIns="0" bIns="0" anchor="t">
            <a:noAutofit/>
          </a:bodyPr>
          <a:lstStyle>
            <a:defPPr algn="l">
              <a:defRPr sz="2250" b="0">
                <a:solidFill>
                  <a:srgbClr val="111111"/>
                </a:solidFill>
                <a:latin typeface="Calibri"/>
                <a:ea typeface="Calibri"/>
                <a:cs typeface="Calibri"/>
              </a:defRPr>
            </a:defPPr>
            <a:lvl1pPr algn="l">
              <a:defRPr sz="2250" b="0">
                <a:solidFill>
                  <a:srgbClr val="111111"/>
                </a:solidFill>
                <a:latin typeface="Calibri"/>
                <a:ea typeface="Calibri"/>
                <a:cs typeface="Calibri"/>
              </a:defRPr>
            </a:lvl1pPr>
            <a:lvl2pPr algn="l">
              <a:defRPr sz="2250" b="0">
                <a:solidFill>
                  <a:srgbClr val="111111"/>
                </a:solidFill>
                <a:latin typeface="Calibri"/>
                <a:ea typeface="Calibri"/>
                <a:cs typeface="Calibri"/>
              </a:defRPr>
            </a:lvl2pPr>
            <a:lvl3pPr algn="l">
              <a:defRPr sz="2250" b="0">
                <a:solidFill>
                  <a:srgbClr val="111111"/>
                </a:solidFill>
                <a:latin typeface="Calibri"/>
                <a:ea typeface="Calibri"/>
                <a:cs typeface="Calibri"/>
              </a:defRPr>
            </a:lvl3pPr>
            <a:lvl4pPr algn="l">
              <a:defRPr sz="2250" b="0">
                <a:solidFill>
                  <a:srgbClr val="111111"/>
                </a:solidFill>
                <a:latin typeface="Calibri"/>
                <a:ea typeface="Calibri"/>
                <a:cs typeface="Calibri"/>
              </a:defRPr>
            </a:lvl4pPr>
            <a:lvl5pPr algn="l">
              <a:defRPr sz="2250" b="0">
                <a:solidFill>
                  <a:srgbClr val="111111"/>
                </a:solidFill>
                <a:latin typeface="Calibri"/>
                <a:ea typeface="Calibri"/>
                <a:cs typeface="Calibri"/>
              </a:defRPr>
            </a:lvl5pPr>
            <a:lvl6pPr algn="l">
              <a:defRPr sz="2250" b="0">
                <a:solidFill>
                  <a:srgbClr val="111111"/>
                </a:solidFill>
                <a:latin typeface="Calibri"/>
                <a:ea typeface="Calibri"/>
                <a:cs typeface="Calibri"/>
              </a:defRPr>
            </a:lvl6pPr>
            <a:lvl7pPr algn="l">
              <a:defRPr sz="2250" b="0">
                <a:solidFill>
                  <a:srgbClr val="111111"/>
                </a:solidFill>
                <a:latin typeface="Calibri"/>
                <a:ea typeface="Calibri"/>
                <a:cs typeface="Calibri"/>
              </a:defRPr>
            </a:lvl7pPr>
            <a:lvl8pPr algn="l">
              <a:defRPr sz="2250" b="0">
                <a:solidFill>
                  <a:srgbClr val="111111"/>
                </a:solidFill>
                <a:latin typeface="Calibri"/>
                <a:ea typeface="Calibri"/>
                <a:cs typeface="Calibri"/>
              </a:defRPr>
            </a:lvl8pPr>
            <a:lvl9pPr algn="l">
              <a:defRPr sz="2250" b="0">
                <a:solidFill>
                  <a:srgbClr val="111111"/>
                </a:solidFill>
                <a:latin typeface="Calibri"/>
                <a:ea typeface="Calibri"/>
                <a:cs typeface="Calibri"/>
              </a:defRPr>
            </a:lvl9pPr>
          </a:lstStyle>
          <a:p>
            <a:pPr algn="l">
              <a:defRPr sz="2250" b="0">
                <a:solidFill>
                  <a:srgbClr val="111111"/>
                </a:solidFill>
                <a:latin typeface="Calibri"/>
                <a:ea typeface="Calibri"/>
                <a:cs typeface="Calibri"/>
              </a:defRPr>
            </a:pPr>
            <a:r>
              <a:rPr sz="2250" b="0">
                <a:solidFill>
                  <a:srgbClr val="111111"/>
                </a:solidFill>
                <a:latin typeface="Calibri"/>
                <a:ea typeface="Calibri"/>
                <a:cs typeface="Calibri"/>
              </a:rPr>
              <a:t>Optional material for questions and further study.</a:t>
            </a:r>
          </a:p>
        </p:txBody>
      </p:sp>
      <p:sp>
        <p:nvSpPr>
          <p:cNvPr id="3" name="body-1">
            <a:extLst>
              <a:ext uri="{FF2B5EF4-FFF2-40B4-BE49-F238E27FC236}">
                <a16:creationId xmlns:a16="http://schemas.microsoft.com/office/drawing/2014/main" id="{E8BB733E-40C0-419C-BF42-949B9E4CC8B0}"/>
              </a:ext>
            </a:extLst>
          </p:cNvPr>
          <p:cNvSpPr>
            <a:spLocks noGrp="1"/>
          </p:cNvSpPr>
          <p:nvPr/>
        </p:nvSpPr>
        <p:spPr>
          <a:xfrm>
            <a:off x="619125" y="3162300"/>
            <a:ext cx="7905750" cy="1524000"/>
          </a:xfrm>
          <a:prstGeom prst="rect">
            <a:avLst/>
          </a:prstGeom>
          <a:noFill/>
          <a:ln w="0">
            <a:noFill/>
            <a:prstDash val="solid"/>
          </a:ln>
        </p:spPr>
        <p:txBody>
          <a:bodyPr lIns="0" tIns="0" rIns="0" bIns="0" anchor="t">
            <a:noAutofit/>
          </a:bodyPr>
          <a:lstStyle>
            <a:defPPr algn="l">
              <a:defRPr sz="2250" b="0">
                <a:solidFill>
                  <a:srgbClr val="111111"/>
                </a:solidFill>
                <a:latin typeface="Calibri"/>
                <a:ea typeface="Calibri"/>
                <a:cs typeface="Calibri"/>
              </a:defRPr>
            </a:defPPr>
            <a:lvl1pPr algn="l">
              <a:defRPr sz="2250" b="0">
                <a:solidFill>
                  <a:srgbClr val="111111"/>
                </a:solidFill>
                <a:latin typeface="Calibri"/>
                <a:ea typeface="Calibri"/>
                <a:cs typeface="Calibri"/>
              </a:defRPr>
            </a:lvl1pPr>
            <a:lvl2pPr algn="l">
              <a:defRPr sz="2250" b="0">
                <a:solidFill>
                  <a:srgbClr val="111111"/>
                </a:solidFill>
                <a:latin typeface="Calibri"/>
                <a:ea typeface="Calibri"/>
                <a:cs typeface="Calibri"/>
              </a:defRPr>
            </a:lvl2pPr>
            <a:lvl3pPr algn="l">
              <a:defRPr sz="2250" b="0">
                <a:solidFill>
                  <a:srgbClr val="111111"/>
                </a:solidFill>
                <a:latin typeface="Calibri"/>
                <a:ea typeface="Calibri"/>
                <a:cs typeface="Calibri"/>
              </a:defRPr>
            </a:lvl3pPr>
            <a:lvl4pPr algn="l">
              <a:defRPr sz="2250" b="0">
                <a:solidFill>
                  <a:srgbClr val="111111"/>
                </a:solidFill>
                <a:latin typeface="Calibri"/>
                <a:ea typeface="Calibri"/>
                <a:cs typeface="Calibri"/>
              </a:defRPr>
            </a:lvl4pPr>
            <a:lvl5pPr algn="l">
              <a:defRPr sz="2250" b="0">
                <a:solidFill>
                  <a:srgbClr val="111111"/>
                </a:solidFill>
                <a:latin typeface="Calibri"/>
                <a:ea typeface="Calibri"/>
                <a:cs typeface="Calibri"/>
              </a:defRPr>
            </a:lvl5pPr>
            <a:lvl6pPr algn="l">
              <a:defRPr sz="2250" b="0">
                <a:solidFill>
                  <a:srgbClr val="111111"/>
                </a:solidFill>
                <a:latin typeface="Calibri"/>
                <a:ea typeface="Calibri"/>
                <a:cs typeface="Calibri"/>
              </a:defRPr>
            </a:lvl6pPr>
            <a:lvl7pPr algn="l">
              <a:defRPr sz="2250" b="0">
                <a:solidFill>
                  <a:srgbClr val="111111"/>
                </a:solidFill>
                <a:latin typeface="Calibri"/>
                <a:ea typeface="Calibri"/>
                <a:cs typeface="Calibri"/>
              </a:defRPr>
            </a:lvl7pPr>
            <a:lvl8pPr algn="l">
              <a:defRPr sz="2250" b="0">
                <a:solidFill>
                  <a:srgbClr val="111111"/>
                </a:solidFill>
                <a:latin typeface="Calibri"/>
                <a:ea typeface="Calibri"/>
                <a:cs typeface="Calibri"/>
              </a:defRPr>
            </a:lvl8pPr>
            <a:lvl9pPr algn="l">
              <a:defRPr sz="2250" b="0">
                <a:solidFill>
                  <a:srgbClr val="111111"/>
                </a:solidFill>
                <a:latin typeface="Calibri"/>
                <a:ea typeface="Calibri"/>
                <a:cs typeface="Calibri"/>
              </a:defRPr>
            </a:lvl9pPr>
          </a:lstStyle>
          <a:p>
            <a:pPr algn="l">
              <a:defRPr sz="2250" b="0">
                <a:solidFill>
                  <a:srgbClr val="111111"/>
                </a:solidFill>
                <a:latin typeface="Calibri"/>
                <a:ea typeface="Calibri"/>
                <a:cs typeface="Calibri"/>
              </a:defRPr>
            </a:pPr>
            <a:r>
              <a:rPr sz="2250" b="0">
                <a:solidFill>
                  <a:srgbClr val="111111"/>
                </a:solidFill>
                <a:latin typeface="Calibri"/>
                <a:ea typeface="Calibri"/>
                <a:cs typeface="Calibri"/>
              </a:rPr>
              <a:t>The main practicals keep all features by default.</a:t>
            </a:r>
          </a:p>
          <a:p>
            <a:pPr algn="l">
              <a:defRPr sz="2250" b="0">
                <a:solidFill>
                  <a:srgbClr val="111111"/>
                </a:solidFill>
                <a:latin typeface="Calibri"/>
                <a:ea typeface="Calibri"/>
                <a:cs typeface="Calibri"/>
              </a:defRPr>
            </a:pPr>
            <a:r>
              <a:rPr sz="2250" b="0">
                <a:solidFill>
                  <a:srgbClr val="111111"/>
                </a:solidFill>
                <a:latin typeface="Calibri"/>
                <a:ea typeface="Calibri"/>
                <a:cs typeface="Calibri"/>
              </a:rPr>
              <a:t>Try a smaller subset using training cross-validation.</a:t>
            </a:r>
          </a:p>
        </p:txBody>
      </p:sp>
    </p:spTree>
    <p:extLst>
      <p:ext uri="{BB962C8B-B14F-4D97-AF65-F5344CB8AC3E}">
        <p14:creationId xmlns:p14="http://schemas.microsoft.com/office/powerpoint/2010/main" val="764692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6F6F9F-7488-4893-A545-398BF7A9B8B4}"/>
              </a:ext>
            </a:extLst>
          </p:cNvPr>
          <p:cNvPicPr>
            <a:picLocks noChangeAspect="1"/>
          </p:cNvPicPr>
          <p:nvPr/>
        </p:nvPicPr>
        <p:blipFill>
          <a:blip r:embed="rId3"/>
          <a:stretch>
            <a:fillRect/>
          </a:stretch>
        </p:blipFill>
        <p:spPr>
          <a:xfrm>
            <a:off x="857250" y="1428750"/>
            <a:ext cx="7429500" cy="4429125"/>
          </a:xfrm>
          <a:prstGeom prst="rect">
            <a:avLst/>
          </a:prstGeom>
        </p:spPr>
      </p:pic>
      <p:sp>
        <p:nvSpPr>
          <p:cNvPr id="7" name="title">
            <a:extLst>
              <a:ext uri="{FF2B5EF4-FFF2-40B4-BE49-F238E27FC236}">
                <a16:creationId xmlns:a16="http://schemas.microsoft.com/office/drawing/2014/main" id="{F8EC6912-5E2F-4466-89B9-618AE30CFCA0}"/>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Overview of ML algorithms</a:t>
            </a:r>
          </a:p>
        </p:txBody>
      </p:sp>
      <p:sp>
        <p:nvSpPr>
          <p:cNvPr id="8" name="credit">
            <a:extLst>
              <a:ext uri="{FF2B5EF4-FFF2-40B4-BE49-F238E27FC236}">
                <a16:creationId xmlns:a16="http://schemas.microsoft.com/office/drawing/2014/main" id="{443FD131-2A55-4190-B87A-08C21D55C1C5}"/>
              </a:ext>
            </a:extLst>
          </p:cNvPr>
          <p:cNvSpPr>
            <a:spLocks noGrp="1"/>
          </p:cNvSpPr>
          <p:nvPr/>
        </p:nvSpPr>
        <p:spPr>
          <a:xfrm>
            <a:off x="809625" y="6115050"/>
            <a:ext cx="7620000" cy="285750"/>
          </a:xfrm>
          <a:prstGeom prst="rect">
            <a:avLst/>
          </a:prstGeom>
          <a:noFill/>
          <a:ln w="0">
            <a:noFill/>
            <a:prstDash val="solid"/>
          </a:ln>
        </p:spPr>
        <p:txBody>
          <a:bodyPr lIns="0" tIns="0" rIns="0" bIns="0" anchor="t">
            <a:noAutofit/>
          </a:bodyPr>
          <a:lstStyle>
            <a:defPPr algn="l">
              <a:defRPr sz="1350" b="0">
                <a:solidFill>
                  <a:srgbClr val="111111"/>
                </a:solidFill>
                <a:latin typeface="Calibri"/>
                <a:ea typeface="Calibri"/>
                <a:cs typeface="Calibri"/>
              </a:defRPr>
            </a:defPPr>
            <a:lvl1pPr algn="l">
              <a:defRPr sz="1350" b="0">
                <a:solidFill>
                  <a:srgbClr val="111111"/>
                </a:solidFill>
                <a:latin typeface="Calibri"/>
                <a:ea typeface="Calibri"/>
                <a:cs typeface="Calibri"/>
              </a:defRPr>
            </a:lvl1pPr>
            <a:lvl2pPr algn="l">
              <a:defRPr sz="1350" b="0">
                <a:solidFill>
                  <a:srgbClr val="111111"/>
                </a:solidFill>
                <a:latin typeface="Calibri"/>
                <a:ea typeface="Calibri"/>
                <a:cs typeface="Calibri"/>
              </a:defRPr>
            </a:lvl2pPr>
            <a:lvl3pPr algn="l">
              <a:defRPr sz="1350" b="0">
                <a:solidFill>
                  <a:srgbClr val="111111"/>
                </a:solidFill>
                <a:latin typeface="Calibri"/>
                <a:ea typeface="Calibri"/>
                <a:cs typeface="Calibri"/>
              </a:defRPr>
            </a:lvl3pPr>
            <a:lvl4pPr algn="l">
              <a:defRPr sz="1350" b="0">
                <a:solidFill>
                  <a:srgbClr val="111111"/>
                </a:solidFill>
                <a:latin typeface="Calibri"/>
                <a:ea typeface="Calibri"/>
                <a:cs typeface="Calibri"/>
              </a:defRPr>
            </a:lvl4pPr>
            <a:lvl5pPr algn="l">
              <a:defRPr sz="1350" b="0">
                <a:solidFill>
                  <a:srgbClr val="111111"/>
                </a:solidFill>
                <a:latin typeface="Calibri"/>
                <a:ea typeface="Calibri"/>
                <a:cs typeface="Calibri"/>
              </a:defRPr>
            </a:lvl5pPr>
            <a:lvl6pPr algn="l">
              <a:defRPr sz="1350" b="0">
                <a:solidFill>
                  <a:srgbClr val="111111"/>
                </a:solidFill>
                <a:latin typeface="Calibri"/>
                <a:ea typeface="Calibri"/>
                <a:cs typeface="Calibri"/>
              </a:defRPr>
            </a:lvl6pPr>
            <a:lvl7pPr algn="l">
              <a:defRPr sz="1350" b="0">
                <a:solidFill>
                  <a:srgbClr val="111111"/>
                </a:solidFill>
                <a:latin typeface="Calibri"/>
                <a:ea typeface="Calibri"/>
                <a:cs typeface="Calibri"/>
              </a:defRPr>
            </a:lvl7pPr>
            <a:lvl8pPr algn="l">
              <a:defRPr sz="1350" b="0">
                <a:solidFill>
                  <a:srgbClr val="111111"/>
                </a:solidFill>
                <a:latin typeface="Calibri"/>
                <a:ea typeface="Calibri"/>
                <a:cs typeface="Calibri"/>
              </a:defRPr>
            </a:lvl8pPr>
            <a:lvl9pPr algn="l">
              <a:defRPr sz="1350" b="0">
                <a:solidFill>
                  <a:srgbClr val="111111"/>
                </a:solidFill>
                <a:latin typeface="Calibri"/>
                <a:ea typeface="Calibri"/>
                <a:cs typeface="Calibri"/>
              </a:defRPr>
            </a:lvl9pPr>
          </a:lstStyle>
          <a:p>
            <a:pPr algn="l">
              <a:defRPr sz="1350" b="0">
                <a:solidFill>
                  <a:srgbClr val="111111"/>
                </a:solidFill>
                <a:latin typeface="Calibri"/>
                <a:ea typeface="Calibri"/>
                <a:cs typeface="Calibri"/>
              </a:defRPr>
            </a:pPr>
            <a:r>
              <a:rPr sz="1350" b="0">
                <a:solidFill>
                  <a:srgbClr val="111111"/>
                </a:solidFill>
                <a:latin typeface="Calibri"/>
                <a:ea typeface="Calibri"/>
                <a:cs typeface="Calibri"/>
              </a:rPr>
              <a:t>Reference map: machinelearningmastery.com</a:t>
            </a:r>
          </a:p>
        </p:txBody>
      </p:sp>
    </p:spTree>
    <p:extLst>
      <p:ext uri="{BB962C8B-B14F-4D97-AF65-F5344CB8AC3E}">
        <p14:creationId xmlns:p14="http://schemas.microsoft.com/office/powerpoint/2010/main" val="690194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88E52E72-8506-478D-B8CF-C51AAA52508B}"/>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Classification and regression</a:t>
            </a:r>
          </a:p>
        </p:txBody>
      </p:sp>
      <p:sp>
        <p:nvSpPr>
          <p:cNvPr id="2" name="body-0">
            <a:extLst>
              <a:ext uri="{FF2B5EF4-FFF2-40B4-BE49-F238E27FC236}">
                <a16:creationId xmlns:a16="http://schemas.microsoft.com/office/drawing/2014/main" id="{55FA434B-444C-4554-AAAB-188CC37B6EEF}"/>
              </a:ext>
            </a:extLst>
          </p:cNvPr>
          <p:cNvSpPr>
            <a:spLocks noGrp="1"/>
          </p:cNvSpPr>
          <p:nvPr/>
        </p:nvSpPr>
        <p:spPr>
          <a:xfrm>
            <a:off x="619125" y="1543050"/>
            <a:ext cx="7905750" cy="1381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Classification predicts a category.</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Example: benign or malignant.</a:t>
            </a:r>
          </a:p>
        </p:txBody>
      </p:sp>
      <p:sp>
        <p:nvSpPr>
          <p:cNvPr id="3" name="body-1">
            <a:extLst>
              <a:ext uri="{FF2B5EF4-FFF2-40B4-BE49-F238E27FC236}">
                <a16:creationId xmlns:a16="http://schemas.microsoft.com/office/drawing/2014/main" id="{539B4AFB-CD81-4A76-A2F1-EC139C9F1CF2}"/>
              </a:ext>
            </a:extLst>
          </p:cNvPr>
          <p:cNvSpPr>
            <a:spLocks noGrp="1"/>
          </p:cNvSpPr>
          <p:nvPr/>
        </p:nvSpPr>
        <p:spPr>
          <a:xfrm>
            <a:off x="619125" y="3019425"/>
            <a:ext cx="7905750" cy="1381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Regression predicts a numerical outcome.</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Example: progression score at one year.</a:t>
            </a:r>
          </a:p>
        </p:txBody>
      </p:sp>
      <p:sp>
        <p:nvSpPr>
          <p:cNvPr id="4" name="body-2">
            <a:extLst>
              <a:ext uri="{FF2B5EF4-FFF2-40B4-BE49-F238E27FC236}">
                <a16:creationId xmlns:a16="http://schemas.microsoft.com/office/drawing/2014/main" id="{8E133345-BCFA-4D15-BF6E-D89827ED0730}"/>
              </a:ext>
            </a:extLst>
          </p:cNvPr>
          <p:cNvSpPr>
            <a:spLocks noGrp="1"/>
          </p:cNvSpPr>
          <p:nvPr/>
        </p:nvSpPr>
        <p:spPr>
          <a:xfrm>
            <a:off x="619125" y="4495800"/>
            <a:ext cx="7905750" cy="1381125"/>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Both need suitable validation, a simple baseline and an independent assessment on held-out observations.</a:t>
            </a:r>
          </a:p>
        </p:txBody>
      </p:sp>
    </p:spTree>
    <p:extLst>
      <p:ext uri="{BB962C8B-B14F-4D97-AF65-F5344CB8AC3E}">
        <p14:creationId xmlns:p14="http://schemas.microsoft.com/office/powerpoint/2010/main" val="36523710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B52BFB9F-673D-40DB-85A5-25DDDB93DB20}"/>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Filter methods</a:t>
            </a:r>
          </a:p>
        </p:txBody>
      </p:sp>
      <p:sp>
        <p:nvSpPr>
          <p:cNvPr id="2" name="body-0">
            <a:extLst>
              <a:ext uri="{FF2B5EF4-FFF2-40B4-BE49-F238E27FC236}">
                <a16:creationId xmlns:a16="http://schemas.microsoft.com/office/drawing/2014/main" id="{DD476745-5D9C-4342-A428-D7177F1D6CC6}"/>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Score predictors without repeatedly fitting the final model.</a:t>
            </a:r>
          </a:p>
        </p:txBody>
      </p:sp>
      <p:sp>
        <p:nvSpPr>
          <p:cNvPr id="3" name="body-1">
            <a:extLst>
              <a:ext uri="{FF2B5EF4-FFF2-40B4-BE49-F238E27FC236}">
                <a16:creationId xmlns:a16="http://schemas.microsoft.com/office/drawing/2014/main" id="{14D13652-557C-41FF-9B2A-06655FCA53BE}"/>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Regression example: correlation or an F-test.</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Classification example: ANOVA F-test.</a:t>
            </a:r>
          </a:p>
        </p:txBody>
      </p:sp>
      <p:sp>
        <p:nvSpPr>
          <p:cNvPr id="4" name="body-2">
            <a:extLst>
              <a:ext uri="{FF2B5EF4-FFF2-40B4-BE49-F238E27FC236}">
                <a16:creationId xmlns:a16="http://schemas.microsoft.com/office/drawing/2014/main" id="{73A81668-FF3C-447D-93C1-0F6357A1B4AC}"/>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Fast, but univariate scores can miss interactions or select several correlated predictors.</a:t>
            </a:r>
          </a:p>
        </p:txBody>
      </p:sp>
      <p:sp>
        <p:nvSpPr>
          <p:cNvPr id="5" name="body-3">
            <a:extLst>
              <a:ext uri="{FF2B5EF4-FFF2-40B4-BE49-F238E27FC236}">
                <a16:creationId xmlns:a16="http://schemas.microsoft.com/office/drawing/2014/main" id="{CB290CF6-187C-414B-9F33-88A0127553EA}"/>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In the scripts: SelectKBest inside the pipeline.</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Use k="all" first, then compare a smaller k using CV.</a:t>
            </a:r>
          </a:p>
        </p:txBody>
      </p:sp>
    </p:spTree>
    <p:extLst>
      <p:ext uri="{BB962C8B-B14F-4D97-AF65-F5344CB8AC3E}">
        <p14:creationId xmlns:p14="http://schemas.microsoft.com/office/powerpoint/2010/main" val="6678441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96CA01CE-70DB-4F4E-A0CA-96B43C3DB4DC}"/>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Wrapper methods</a:t>
            </a:r>
          </a:p>
        </p:txBody>
      </p:sp>
      <p:sp>
        <p:nvSpPr>
          <p:cNvPr id="2" name="body-0">
            <a:extLst>
              <a:ext uri="{FF2B5EF4-FFF2-40B4-BE49-F238E27FC236}">
                <a16:creationId xmlns:a16="http://schemas.microsoft.com/office/drawing/2014/main" id="{574F4BB5-30C1-4521-8D11-A44CF960EA42}"/>
              </a:ext>
            </a:extLst>
          </p:cNvPr>
          <p:cNvSpPr>
            <a:spLocks noGrp="1"/>
          </p:cNvSpPr>
          <p:nvPr/>
        </p:nvSpPr>
        <p:spPr>
          <a:xfrm>
            <a:off x="619125" y="15430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Evaluate feature subsets using a predictive model.</a:t>
            </a:r>
          </a:p>
        </p:txBody>
      </p:sp>
      <p:sp>
        <p:nvSpPr>
          <p:cNvPr id="3" name="body-1">
            <a:extLst>
              <a:ext uri="{FF2B5EF4-FFF2-40B4-BE49-F238E27FC236}">
                <a16:creationId xmlns:a16="http://schemas.microsoft.com/office/drawing/2014/main" id="{C2C07B01-FB9B-4DAE-B9B0-6CC8DD8E0AEA}"/>
              </a:ext>
            </a:extLst>
          </p:cNvPr>
          <p:cNvSpPr>
            <a:spLocks noGrp="1"/>
          </p:cNvSpPr>
          <p:nvPr/>
        </p:nvSpPr>
        <p:spPr>
          <a:xfrm>
            <a:off x="619125" y="26098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The search repeatedly fits models, making it more computationally expensive than a simple filter.</a:t>
            </a:r>
          </a:p>
        </p:txBody>
      </p:sp>
      <p:sp>
        <p:nvSpPr>
          <p:cNvPr id="4" name="body-2">
            <a:extLst>
              <a:ext uri="{FF2B5EF4-FFF2-40B4-BE49-F238E27FC236}">
                <a16:creationId xmlns:a16="http://schemas.microsoft.com/office/drawing/2014/main" id="{AB47D657-0BAE-4134-A1E7-570769369874}"/>
              </a:ext>
            </a:extLst>
          </p:cNvPr>
          <p:cNvSpPr>
            <a:spLocks noGrp="1"/>
          </p:cNvSpPr>
          <p:nvPr/>
        </p:nvSpPr>
        <p:spPr>
          <a:xfrm>
            <a:off x="619125" y="36766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Performance depends on the model and validation design. More searching can overfit validation results.</a:t>
            </a:r>
          </a:p>
        </p:txBody>
      </p:sp>
      <p:sp>
        <p:nvSpPr>
          <p:cNvPr id="5" name="body-3">
            <a:extLst>
              <a:ext uri="{FF2B5EF4-FFF2-40B4-BE49-F238E27FC236}">
                <a16:creationId xmlns:a16="http://schemas.microsoft.com/office/drawing/2014/main" id="{4B21FD35-2BFE-49EA-A1B4-1E581A1F7242}"/>
              </a:ext>
            </a:extLst>
          </p:cNvPr>
          <p:cNvSpPr>
            <a:spLocks noGrp="1"/>
          </p:cNvSpPr>
          <p:nvPr/>
        </p:nvSpPr>
        <p:spPr>
          <a:xfrm>
            <a:off x="619125" y="4743450"/>
            <a:ext cx="7905750" cy="9715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Feature selection must be repeated within each training fold. It must not see the test set.</a:t>
            </a:r>
          </a:p>
        </p:txBody>
      </p:sp>
    </p:spTree>
    <p:extLst>
      <p:ext uri="{BB962C8B-B14F-4D97-AF65-F5344CB8AC3E}">
        <p14:creationId xmlns:p14="http://schemas.microsoft.com/office/powerpoint/2010/main" val="377094318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09AB12B1-9B3E-4933-8063-67E3771E5247}"/>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Examples of wrapper methods</a:t>
            </a:r>
          </a:p>
        </p:txBody>
      </p:sp>
      <p:sp>
        <p:nvSpPr>
          <p:cNvPr id="2" name="body-0">
            <a:extLst>
              <a:ext uri="{FF2B5EF4-FFF2-40B4-BE49-F238E27FC236}">
                <a16:creationId xmlns:a16="http://schemas.microsoft.com/office/drawing/2014/main" id="{ACE1EC02-FC41-4E18-8440-D9A912F6A000}"/>
              </a:ext>
            </a:extLst>
          </p:cNvPr>
          <p:cNvSpPr>
            <a:spLocks noGrp="1"/>
          </p:cNvSpPr>
          <p:nvPr/>
        </p:nvSpPr>
        <p:spPr>
          <a:xfrm>
            <a:off x="619125" y="1543050"/>
            <a:ext cx="7905750" cy="147637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Forward selection</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Start with no predictors and add them according to a scoring criterion.</a:t>
            </a:r>
          </a:p>
        </p:txBody>
      </p:sp>
      <p:sp>
        <p:nvSpPr>
          <p:cNvPr id="3" name="body-1">
            <a:extLst>
              <a:ext uri="{FF2B5EF4-FFF2-40B4-BE49-F238E27FC236}">
                <a16:creationId xmlns:a16="http://schemas.microsoft.com/office/drawing/2014/main" id="{69B7CB83-72CD-4CF5-8E54-6463524C99A2}"/>
              </a:ext>
            </a:extLst>
          </p:cNvPr>
          <p:cNvSpPr>
            <a:spLocks noGrp="1"/>
          </p:cNvSpPr>
          <p:nvPr/>
        </p:nvSpPr>
        <p:spPr>
          <a:xfrm>
            <a:off x="619125" y="3114675"/>
            <a:ext cx="7905750" cy="147637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Backward selection</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Start with all predictors and remove them according to a scoring criterion.</a:t>
            </a:r>
          </a:p>
        </p:txBody>
      </p:sp>
      <p:sp>
        <p:nvSpPr>
          <p:cNvPr id="4" name="body-2">
            <a:extLst>
              <a:ext uri="{FF2B5EF4-FFF2-40B4-BE49-F238E27FC236}">
                <a16:creationId xmlns:a16="http://schemas.microsoft.com/office/drawing/2014/main" id="{60DFF955-0D9F-408E-8A4E-3C9FEE8DF719}"/>
              </a:ext>
            </a:extLst>
          </p:cNvPr>
          <p:cNvSpPr>
            <a:spLocks noGrp="1"/>
          </p:cNvSpPr>
          <p:nvPr/>
        </p:nvSpPr>
        <p:spPr>
          <a:xfrm>
            <a:off x="619125" y="4686300"/>
            <a:ext cx="7905750" cy="147637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Recursive feature elimination (RFE)</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Fit an estimator, remove the least important predictors and repeat until the chosen subset size is reached.</a:t>
            </a:r>
          </a:p>
        </p:txBody>
      </p:sp>
    </p:spTree>
    <p:extLst>
      <p:ext uri="{BB962C8B-B14F-4D97-AF65-F5344CB8AC3E}">
        <p14:creationId xmlns:p14="http://schemas.microsoft.com/office/powerpoint/2010/main" val="37320296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8D1896E6-CC3F-431E-B827-8397CB8B36E8}"/>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Embedded methods</a:t>
            </a:r>
          </a:p>
        </p:txBody>
      </p:sp>
      <p:sp>
        <p:nvSpPr>
          <p:cNvPr id="2" name="body-0">
            <a:extLst>
              <a:ext uri="{FF2B5EF4-FFF2-40B4-BE49-F238E27FC236}">
                <a16:creationId xmlns:a16="http://schemas.microsoft.com/office/drawing/2014/main" id="{7F914688-9FDB-4CE3-A289-A5BEC82B5612}"/>
              </a:ext>
            </a:extLst>
          </p:cNvPr>
          <p:cNvSpPr>
            <a:spLocks noGrp="1"/>
          </p:cNvSpPr>
          <p:nvPr/>
        </p:nvSpPr>
        <p:spPr>
          <a:xfrm>
            <a:off x="619125" y="1543050"/>
            <a:ext cx="7905750" cy="9906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Selection occurs as part of fitting a model.</a:t>
            </a:r>
          </a:p>
        </p:txBody>
      </p:sp>
      <p:sp>
        <p:nvSpPr>
          <p:cNvPr id="3" name="body-1">
            <a:extLst>
              <a:ext uri="{FF2B5EF4-FFF2-40B4-BE49-F238E27FC236}">
                <a16:creationId xmlns:a16="http://schemas.microsoft.com/office/drawing/2014/main" id="{D0F95846-6492-4EE1-9AC5-241E2BBC311B}"/>
              </a:ext>
            </a:extLst>
          </p:cNvPr>
          <p:cNvSpPr>
            <a:spLocks noGrp="1"/>
          </p:cNvSpPr>
          <p:nvPr/>
        </p:nvSpPr>
        <p:spPr>
          <a:xfrm>
            <a:off x="619125" y="2628900"/>
            <a:ext cx="7905750" cy="9906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Lasso and Elastic Net can produce zero coefficients.</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The selected subset depends on penalty strength.</a:t>
            </a:r>
          </a:p>
        </p:txBody>
      </p:sp>
      <p:sp>
        <p:nvSpPr>
          <p:cNvPr id="4" name="body-2">
            <a:extLst>
              <a:ext uri="{FF2B5EF4-FFF2-40B4-BE49-F238E27FC236}">
                <a16:creationId xmlns:a16="http://schemas.microsoft.com/office/drawing/2014/main" id="{D68B2238-688B-4560-A07B-3E1EE653D68F}"/>
              </a:ext>
            </a:extLst>
          </p:cNvPr>
          <p:cNvSpPr>
            <a:spLocks noGrp="1"/>
          </p:cNvSpPr>
          <p:nvPr/>
        </p:nvSpPr>
        <p:spPr>
          <a:xfrm>
            <a:off x="619125" y="3714750"/>
            <a:ext cx="7905750" cy="9906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Ridge usually shrinks coefficients without making them exactly zero, so it is not normally a feature selector.</a:t>
            </a:r>
          </a:p>
        </p:txBody>
      </p:sp>
      <p:sp>
        <p:nvSpPr>
          <p:cNvPr id="5" name="body-3">
            <a:extLst>
              <a:ext uri="{FF2B5EF4-FFF2-40B4-BE49-F238E27FC236}">
                <a16:creationId xmlns:a16="http://schemas.microsoft.com/office/drawing/2014/main" id="{E77CB5BA-8F40-42A6-9D8A-641F9BD4B1DB}"/>
              </a:ext>
            </a:extLst>
          </p:cNvPr>
          <p:cNvSpPr>
            <a:spLocks noGrp="1"/>
          </p:cNvSpPr>
          <p:nvPr/>
        </p:nvSpPr>
        <p:spPr>
          <a:xfrm>
            <a:off x="619125" y="4800600"/>
            <a:ext cx="7905750" cy="990600"/>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Tree importance can support a separate selection step.</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An importance ranking alone does not remove predictors.</a:t>
            </a:r>
          </a:p>
        </p:txBody>
      </p:sp>
    </p:spTree>
    <p:extLst>
      <p:ext uri="{BB962C8B-B14F-4D97-AF65-F5344CB8AC3E}">
        <p14:creationId xmlns:p14="http://schemas.microsoft.com/office/powerpoint/2010/main" val="17311370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2F38B006-AE1B-4BAD-BAA4-10EFF59EEE84}"/>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L1 and L2 regularisation</a:t>
            </a:r>
          </a:p>
        </p:txBody>
      </p:sp>
      <p:sp>
        <p:nvSpPr>
          <p:cNvPr id="2" name="body-0">
            <a:extLst>
              <a:ext uri="{FF2B5EF4-FFF2-40B4-BE49-F238E27FC236}">
                <a16:creationId xmlns:a16="http://schemas.microsoft.com/office/drawing/2014/main" id="{92A26993-D7F5-4E90-9C52-A2636FED93B3}"/>
              </a:ext>
            </a:extLst>
          </p:cNvPr>
          <p:cNvSpPr>
            <a:spLocks noGrp="1"/>
          </p:cNvSpPr>
          <p:nvPr/>
        </p:nvSpPr>
        <p:spPr>
          <a:xfrm>
            <a:off x="619125" y="15430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L1 penalty: sum of absolute coefficient values.</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Can set some coefficients to zero.</a:t>
            </a:r>
          </a:p>
        </p:txBody>
      </p:sp>
      <p:sp>
        <p:nvSpPr>
          <p:cNvPr id="3" name="body-1">
            <a:extLst>
              <a:ext uri="{FF2B5EF4-FFF2-40B4-BE49-F238E27FC236}">
                <a16:creationId xmlns:a16="http://schemas.microsoft.com/office/drawing/2014/main" id="{4522F60F-94E1-4099-94A1-5655E2496715}"/>
              </a:ext>
            </a:extLst>
          </p:cNvPr>
          <p:cNvSpPr>
            <a:spLocks noGrp="1"/>
          </p:cNvSpPr>
          <p:nvPr/>
        </p:nvSpPr>
        <p:spPr>
          <a:xfrm>
            <a:off x="619125" y="26479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L2 penalty: sum of squared coefficient values.</a:t>
            </a:r>
          </a:p>
          <a:p>
            <a:pPr algn="l">
              <a:defRPr sz="2100" b="0">
                <a:solidFill>
                  <a:srgbClr val="111111"/>
                </a:solidFill>
                <a:latin typeface="Calibri"/>
                <a:ea typeface="Calibri"/>
                <a:cs typeface="Calibri"/>
              </a:defRPr>
            </a:pPr>
            <a:r>
              <a:rPr sz="2100" b="0">
                <a:solidFill>
                  <a:srgbClr val="111111"/>
                </a:solidFill>
                <a:latin typeface="Calibri"/>
                <a:ea typeface="Calibri"/>
                <a:cs typeface="Calibri"/>
              </a:rPr>
              <a:t>Shrinks coefficients and can stabilise correlated predictors.</a:t>
            </a:r>
          </a:p>
        </p:txBody>
      </p:sp>
      <p:sp>
        <p:nvSpPr>
          <p:cNvPr id="4" name="body-2">
            <a:extLst>
              <a:ext uri="{FF2B5EF4-FFF2-40B4-BE49-F238E27FC236}">
                <a16:creationId xmlns:a16="http://schemas.microsoft.com/office/drawing/2014/main" id="{BC41F412-33C9-441C-9762-993A2A66DD23}"/>
              </a:ext>
            </a:extLst>
          </p:cNvPr>
          <p:cNvSpPr>
            <a:spLocks noGrp="1"/>
          </p:cNvSpPr>
          <p:nvPr/>
        </p:nvSpPr>
        <p:spPr>
          <a:xfrm>
            <a:off x="619125" y="37528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Elastic Net combines the two penalties.</a:t>
            </a:r>
          </a:p>
        </p:txBody>
      </p:sp>
      <p:sp>
        <p:nvSpPr>
          <p:cNvPr id="5" name="body-3">
            <a:extLst>
              <a:ext uri="{FF2B5EF4-FFF2-40B4-BE49-F238E27FC236}">
                <a16:creationId xmlns:a16="http://schemas.microsoft.com/office/drawing/2014/main" id="{F86BA2BD-2AB5-4F76-8B1C-64564326C75D}"/>
              </a:ext>
            </a:extLst>
          </p:cNvPr>
          <p:cNvSpPr>
            <a:spLocks noGrp="1"/>
          </p:cNvSpPr>
          <p:nvPr/>
        </p:nvSpPr>
        <p:spPr>
          <a:xfrm>
            <a:off x="619125" y="4857750"/>
            <a:ext cx="7905750" cy="1009650"/>
          </a:xfrm>
          <a:prstGeom prst="rect">
            <a:avLst/>
          </a:prstGeom>
          <a:noFill/>
          <a:ln w="0">
            <a:noFill/>
            <a:prstDash val="solid"/>
          </a:ln>
        </p:spPr>
        <p:txBody>
          <a:bodyPr lIns="0" tIns="0" rIns="0" bIns="0" anchor="t">
            <a:noAutofit/>
          </a:bodyPr>
          <a:lstStyle>
            <a:defPPr algn="l">
              <a:defRPr sz="2100" b="0">
                <a:solidFill>
                  <a:srgbClr val="111111"/>
                </a:solidFill>
                <a:latin typeface="Calibri"/>
                <a:ea typeface="Calibri"/>
                <a:cs typeface="Calibri"/>
              </a:defRPr>
            </a:defPPr>
            <a:lvl1pPr algn="l">
              <a:defRPr sz="2100" b="0">
                <a:solidFill>
                  <a:srgbClr val="111111"/>
                </a:solidFill>
                <a:latin typeface="Calibri"/>
                <a:ea typeface="Calibri"/>
                <a:cs typeface="Calibri"/>
              </a:defRPr>
            </a:lvl1pPr>
            <a:lvl2pPr algn="l">
              <a:defRPr sz="2100" b="0">
                <a:solidFill>
                  <a:srgbClr val="111111"/>
                </a:solidFill>
                <a:latin typeface="Calibri"/>
                <a:ea typeface="Calibri"/>
                <a:cs typeface="Calibri"/>
              </a:defRPr>
            </a:lvl2pPr>
            <a:lvl3pPr algn="l">
              <a:defRPr sz="2100" b="0">
                <a:solidFill>
                  <a:srgbClr val="111111"/>
                </a:solidFill>
                <a:latin typeface="Calibri"/>
                <a:ea typeface="Calibri"/>
                <a:cs typeface="Calibri"/>
              </a:defRPr>
            </a:lvl3pPr>
            <a:lvl4pPr algn="l">
              <a:defRPr sz="2100" b="0">
                <a:solidFill>
                  <a:srgbClr val="111111"/>
                </a:solidFill>
                <a:latin typeface="Calibri"/>
                <a:ea typeface="Calibri"/>
                <a:cs typeface="Calibri"/>
              </a:defRPr>
            </a:lvl4pPr>
            <a:lvl5pPr algn="l">
              <a:defRPr sz="2100" b="0">
                <a:solidFill>
                  <a:srgbClr val="111111"/>
                </a:solidFill>
                <a:latin typeface="Calibri"/>
                <a:ea typeface="Calibri"/>
                <a:cs typeface="Calibri"/>
              </a:defRPr>
            </a:lvl5pPr>
            <a:lvl6pPr algn="l">
              <a:defRPr sz="2100" b="0">
                <a:solidFill>
                  <a:srgbClr val="111111"/>
                </a:solidFill>
                <a:latin typeface="Calibri"/>
                <a:ea typeface="Calibri"/>
                <a:cs typeface="Calibri"/>
              </a:defRPr>
            </a:lvl6pPr>
            <a:lvl7pPr algn="l">
              <a:defRPr sz="2100" b="0">
                <a:solidFill>
                  <a:srgbClr val="111111"/>
                </a:solidFill>
                <a:latin typeface="Calibri"/>
                <a:ea typeface="Calibri"/>
                <a:cs typeface="Calibri"/>
              </a:defRPr>
            </a:lvl7pPr>
            <a:lvl8pPr algn="l">
              <a:defRPr sz="2100" b="0">
                <a:solidFill>
                  <a:srgbClr val="111111"/>
                </a:solidFill>
                <a:latin typeface="Calibri"/>
                <a:ea typeface="Calibri"/>
                <a:cs typeface="Calibri"/>
              </a:defRPr>
            </a:lvl8pPr>
            <a:lvl9pPr algn="l">
              <a:defRPr sz="2100" b="0">
                <a:solidFill>
                  <a:srgbClr val="111111"/>
                </a:solidFill>
                <a:latin typeface="Calibri"/>
                <a:ea typeface="Calibri"/>
                <a:cs typeface="Calibri"/>
              </a:defRPr>
            </a:lvl9pPr>
          </a:lstStyle>
          <a:p>
            <a:pPr algn="l">
              <a:defRPr sz="2100" b="0">
                <a:solidFill>
                  <a:srgbClr val="111111"/>
                </a:solidFill>
                <a:latin typeface="Calibri"/>
                <a:ea typeface="Calibri"/>
                <a:cs typeface="Calibri"/>
              </a:defRPr>
            </a:pPr>
            <a:r>
              <a:rPr sz="2100" b="0">
                <a:solidFill>
                  <a:srgbClr val="111111"/>
                </a:solidFill>
                <a:latin typeface="Calibri"/>
                <a:ea typeface="Calibri"/>
                <a:cs typeface="Calibri"/>
              </a:rPr>
              <a:t>Penalty strength is a model setting. Standardise predictors and compare settings using training CV.</a:t>
            </a:r>
          </a:p>
        </p:txBody>
      </p:sp>
    </p:spTree>
    <p:extLst>
      <p:ext uri="{BB962C8B-B14F-4D97-AF65-F5344CB8AC3E}">
        <p14:creationId xmlns:p14="http://schemas.microsoft.com/office/powerpoint/2010/main" val="15995851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66057EFD-ECF9-48A2-B0D0-ED76687EE454}"/>
              </a:ext>
            </a:extLst>
          </p:cNvPr>
          <p:cNvSpPr>
            <a:spLocks noGrp="1"/>
          </p:cNvSpPr>
          <p:nvPr/>
        </p:nvSpPr>
        <p:spPr>
          <a:xfrm>
            <a:off x="571500" y="457200"/>
            <a:ext cx="8001000" cy="781050"/>
          </a:xfrm>
          <a:prstGeom prst="rect">
            <a:avLst/>
          </a:prstGeom>
          <a:noFill/>
          <a:ln w="0">
            <a:noFill/>
            <a:prstDash val="solid"/>
          </a:ln>
        </p:spPr>
        <p:txBody>
          <a:bodyPr lIns="0" tIns="0" rIns="0" bIns="0" anchor="t">
            <a:noAutofit/>
          </a:bodyPr>
          <a:lstStyle>
            <a:defPPr algn="l">
              <a:defRPr sz="2700" b="0">
                <a:solidFill>
                  <a:srgbClr val="111111"/>
                </a:solidFill>
                <a:latin typeface="Calibri"/>
                <a:ea typeface="Calibri"/>
                <a:cs typeface="Calibri"/>
              </a:defRPr>
            </a:defPPr>
            <a:lvl1pPr algn="l">
              <a:defRPr sz="2700" b="0">
                <a:solidFill>
                  <a:srgbClr val="111111"/>
                </a:solidFill>
                <a:latin typeface="Calibri"/>
                <a:ea typeface="Calibri"/>
                <a:cs typeface="Calibri"/>
              </a:defRPr>
            </a:lvl1pPr>
            <a:lvl2pPr algn="l">
              <a:defRPr sz="2700" b="0">
                <a:solidFill>
                  <a:srgbClr val="111111"/>
                </a:solidFill>
                <a:latin typeface="Calibri"/>
                <a:ea typeface="Calibri"/>
                <a:cs typeface="Calibri"/>
              </a:defRPr>
            </a:lvl2pPr>
            <a:lvl3pPr algn="l">
              <a:defRPr sz="2700" b="0">
                <a:solidFill>
                  <a:srgbClr val="111111"/>
                </a:solidFill>
                <a:latin typeface="Calibri"/>
                <a:ea typeface="Calibri"/>
                <a:cs typeface="Calibri"/>
              </a:defRPr>
            </a:lvl3pPr>
            <a:lvl4pPr algn="l">
              <a:defRPr sz="2700" b="0">
                <a:solidFill>
                  <a:srgbClr val="111111"/>
                </a:solidFill>
                <a:latin typeface="Calibri"/>
                <a:ea typeface="Calibri"/>
                <a:cs typeface="Calibri"/>
              </a:defRPr>
            </a:lvl4pPr>
            <a:lvl5pPr algn="l">
              <a:defRPr sz="2700" b="0">
                <a:solidFill>
                  <a:srgbClr val="111111"/>
                </a:solidFill>
                <a:latin typeface="Calibri"/>
                <a:ea typeface="Calibri"/>
                <a:cs typeface="Calibri"/>
              </a:defRPr>
            </a:lvl5pPr>
            <a:lvl6pPr algn="l">
              <a:defRPr sz="2700" b="0">
                <a:solidFill>
                  <a:srgbClr val="111111"/>
                </a:solidFill>
                <a:latin typeface="Calibri"/>
                <a:ea typeface="Calibri"/>
                <a:cs typeface="Calibri"/>
              </a:defRPr>
            </a:lvl6pPr>
            <a:lvl7pPr algn="l">
              <a:defRPr sz="2700" b="0">
                <a:solidFill>
                  <a:srgbClr val="111111"/>
                </a:solidFill>
                <a:latin typeface="Calibri"/>
                <a:ea typeface="Calibri"/>
                <a:cs typeface="Calibri"/>
              </a:defRPr>
            </a:lvl7pPr>
            <a:lvl8pPr algn="l">
              <a:defRPr sz="2700" b="0">
                <a:solidFill>
                  <a:srgbClr val="111111"/>
                </a:solidFill>
                <a:latin typeface="Calibri"/>
                <a:ea typeface="Calibri"/>
                <a:cs typeface="Calibri"/>
              </a:defRPr>
            </a:lvl8pPr>
            <a:lvl9pPr algn="l">
              <a:defRPr sz="2700" b="0">
                <a:solidFill>
                  <a:srgbClr val="111111"/>
                </a:solidFill>
                <a:latin typeface="Calibri"/>
                <a:ea typeface="Calibri"/>
                <a:cs typeface="Calibri"/>
              </a:defRPr>
            </a:lvl9pPr>
          </a:lstStyle>
          <a:p>
            <a:pPr algn="l">
              <a:defRPr sz="2700" b="0">
                <a:solidFill>
                  <a:srgbClr val="111111"/>
                </a:solidFill>
                <a:latin typeface="Calibri"/>
                <a:ea typeface="Calibri"/>
                <a:cs typeface="Calibri"/>
              </a:defRPr>
            </a:pPr>
            <a:r>
              <a:rPr sz="2700" b="0">
                <a:solidFill>
                  <a:srgbClr val="111111"/>
                </a:solidFill>
                <a:latin typeface="Calibri"/>
                <a:ea typeface="Calibri"/>
                <a:cs typeface="Calibri"/>
              </a:rPr>
              <a:t>Further practice and reading</a:t>
            </a:r>
          </a:p>
        </p:txBody>
      </p:sp>
      <p:sp>
        <p:nvSpPr>
          <p:cNvPr id="2" name="body-0">
            <a:extLst>
              <a:ext uri="{FF2B5EF4-FFF2-40B4-BE49-F238E27FC236}">
                <a16:creationId xmlns:a16="http://schemas.microsoft.com/office/drawing/2014/main" id="{73488179-A104-46B3-B496-5C21C77C093A}"/>
              </a:ext>
            </a:extLst>
          </p:cNvPr>
          <p:cNvSpPr>
            <a:spLocks noGrp="1"/>
          </p:cNvSpPr>
          <p:nvPr/>
        </p:nvSpPr>
        <p:spPr>
          <a:xfrm>
            <a:off x="619125" y="154305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scikit-learn user guide</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scikit-learn.org/stable/user_guide.html</a:t>
            </a:r>
          </a:p>
        </p:txBody>
      </p:sp>
      <p:sp>
        <p:nvSpPr>
          <p:cNvPr id="3" name="body-1">
            <a:extLst>
              <a:ext uri="{FF2B5EF4-FFF2-40B4-BE49-F238E27FC236}">
                <a16:creationId xmlns:a16="http://schemas.microsoft.com/office/drawing/2014/main" id="{4BB702EB-3D58-414E-84BA-F0A0379F75E2}"/>
              </a:ext>
            </a:extLst>
          </p:cNvPr>
          <p:cNvSpPr>
            <a:spLocks noGrp="1"/>
          </p:cNvSpPr>
          <p:nvPr/>
        </p:nvSpPr>
        <p:spPr>
          <a:xfrm>
            <a:off x="619125" y="263842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Common pitfalls: preprocessing and data leakage</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scikit-learn.org/stable/common_pitfalls.html</a:t>
            </a:r>
          </a:p>
        </p:txBody>
      </p:sp>
      <p:sp>
        <p:nvSpPr>
          <p:cNvPr id="4" name="body-2">
            <a:extLst>
              <a:ext uri="{FF2B5EF4-FFF2-40B4-BE49-F238E27FC236}">
                <a16:creationId xmlns:a16="http://schemas.microsoft.com/office/drawing/2014/main" id="{DA7CB0B7-8BBA-4867-8C2B-14F052E87E4F}"/>
              </a:ext>
            </a:extLst>
          </p:cNvPr>
          <p:cNvSpPr>
            <a:spLocks noGrp="1"/>
          </p:cNvSpPr>
          <p:nvPr/>
        </p:nvSpPr>
        <p:spPr>
          <a:xfrm>
            <a:off x="619125" y="3733800"/>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Hands-On Machine Learning with Scikit-Learn, Keras, and TensorFlow — Aurélien Géron</a:t>
            </a:r>
          </a:p>
        </p:txBody>
      </p:sp>
      <p:sp>
        <p:nvSpPr>
          <p:cNvPr id="5" name="body-3">
            <a:extLst>
              <a:ext uri="{FF2B5EF4-FFF2-40B4-BE49-F238E27FC236}">
                <a16:creationId xmlns:a16="http://schemas.microsoft.com/office/drawing/2014/main" id="{73B629A5-2D4F-478B-BA65-97EE0CE72C36}"/>
              </a:ext>
            </a:extLst>
          </p:cNvPr>
          <p:cNvSpPr>
            <a:spLocks noGrp="1"/>
          </p:cNvSpPr>
          <p:nvPr/>
        </p:nvSpPr>
        <p:spPr>
          <a:xfrm>
            <a:off x="619125" y="4829175"/>
            <a:ext cx="7905750" cy="1000125"/>
          </a:xfrm>
          <a:prstGeom prst="rect">
            <a:avLst/>
          </a:prstGeom>
          <a:noFill/>
          <a:ln w="0">
            <a:noFill/>
            <a:prstDash val="solid"/>
          </a:ln>
        </p:spPr>
        <p:txBody>
          <a:bodyPr lIns="0" tIns="0" rIns="0" bIns="0" anchor="t">
            <a:noAutofit/>
          </a:bodyPr>
          <a:lstStyle>
            <a:defPPr algn="l">
              <a:defRPr sz="2025" b="0">
                <a:solidFill>
                  <a:srgbClr val="111111"/>
                </a:solidFill>
                <a:latin typeface="Calibri"/>
                <a:ea typeface="Calibri"/>
                <a:cs typeface="Calibri"/>
              </a:defRPr>
            </a:defPPr>
            <a:lvl1pPr algn="l">
              <a:defRPr sz="2025" b="0">
                <a:solidFill>
                  <a:srgbClr val="111111"/>
                </a:solidFill>
                <a:latin typeface="Calibri"/>
                <a:ea typeface="Calibri"/>
                <a:cs typeface="Calibri"/>
              </a:defRPr>
            </a:lvl1pPr>
            <a:lvl2pPr algn="l">
              <a:defRPr sz="2025" b="0">
                <a:solidFill>
                  <a:srgbClr val="111111"/>
                </a:solidFill>
                <a:latin typeface="Calibri"/>
                <a:ea typeface="Calibri"/>
                <a:cs typeface="Calibri"/>
              </a:defRPr>
            </a:lvl2pPr>
            <a:lvl3pPr algn="l">
              <a:defRPr sz="2025" b="0">
                <a:solidFill>
                  <a:srgbClr val="111111"/>
                </a:solidFill>
                <a:latin typeface="Calibri"/>
                <a:ea typeface="Calibri"/>
                <a:cs typeface="Calibri"/>
              </a:defRPr>
            </a:lvl3pPr>
            <a:lvl4pPr algn="l">
              <a:defRPr sz="2025" b="0">
                <a:solidFill>
                  <a:srgbClr val="111111"/>
                </a:solidFill>
                <a:latin typeface="Calibri"/>
                <a:ea typeface="Calibri"/>
                <a:cs typeface="Calibri"/>
              </a:defRPr>
            </a:lvl4pPr>
            <a:lvl5pPr algn="l">
              <a:defRPr sz="2025" b="0">
                <a:solidFill>
                  <a:srgbClr val="111111"/>
                </a:solidFill>
                <a:latin typeface="Calibri"/>
                <a:ea typeface="Calibri"/>
                <a:cs typeface="Calibri"/>
              </a:defRPr>
            </a:lvl5pPr>
            <a:lvl6pPr algn="l">
              <a:defRPr sz="2025" b="0">
                <a:solidFill>
                  <a:srgbClr val="111111"/>
                </a:solidFill>
                <a:latin typeface="Calibri"/>
                <a:ea typeface="Calibri"/>
                <a:cs typeface="Calibri"/>
              </a:defRPr>
            </a:lvl6pPr>
            <a:lvl7pPr algn="l">
              <a:defRPr sz="2025" b="0">
                <a:solidFill>
                  <a:srgbClr val="111111"/>
                </a:solidFill>
                <a:latin typeface="Calibri"/>
                <a:ea typeface="Calibri"/>
                <a:cs typeface="Calibri"/>
              </a:defRPr>
            </a:lvl7pPr>
            <a:lvl8pPr algn="l">
              <a:defRPr sz="2025" b="0">
                <a:solidFill>
                  <a:srgbClr val="111111"/>
                </a:solidFill>
                <a:latin typeface="Calibri"/>
                <a:ea typeface="Calibri"/>
                <a:cs typeface="Calibri"/>
              </a:defRPr>
            </a:lvl8pPr>
            <a:lvl9pPr algn="l">
              <a:defRPr sz="2025" b="0">
                <a:solidFill>
                  <a:srgbClr val="111111"/>
                </a:solidFill>
                <a:latin typeface="Calibri"/>
                <a:ea typeface="Calibri"/>
                <a:cs typeface="Calibri"/>
              </a:defRPr>
            </a:lvl9pPr>
          </a:lstStyle>
          <a:p>
            <a:pPr algn="l">
              <a:defRPr sz="2025" b="0">
                <a:solidFill>
                  <a:srgbClr val="111111"/>
                </a:solidFill>
                <a:latin typeface="Calibri"/>
                <a:ea typeface="Calibri"/>
                <a:cs typeface="Calibri"/>
              </a:defRPr>
            </a:pPr>
            <a:r>
              <a:rPr sz="2025" b="0">
                <a:solidFill>
                  <a:srgbClr val="111111"/>
                </a:solidFill>
                <a:latin typeface="Calibri"/>
                <a:ea typeface="Calibri"/>
                <a:cs typeface="Calibri"/>
              </a:rPr>
              <a:t>Dataset references and column definitions</a:t>
            </a:r>
          </a:p>
          <a:p>
            <a:pPr algn="l">
              <a:defRPr sz="2025" b="0">
                <a:solidFill>
                  <a:srgbClr val="111111"/>
                </a:solidFill>
                <a:latin typeface="Calibri"/>
                <a:ea typeface="Calibri"/>
                <a:cs typeface="Calibri"/>
              </a:defRPr>
            </a:pPr>
            <a:r>
              <a:rPr sz="2025" b="0">
                <a:solidFill>
                  <a:srgbClr val="111111"/>
                </a:solidFill>
                <a:latin typeface="Calibri"/>
                <a:ea typeface="Calibri"/>
                <a:cs typeface="Calibri"/>
              </a:rPr>
              <a:t>See DATASETS.md in the course repository.</a:t>
            </a:r>
          </a:p>
        </p:txBody>
      </p:sp>
    </p:spTree>
    <p:extLst>
      <p:ext uri="{BB962C8B-B14F-4D97-AF65-F5344CB8AC3E}">
        <p14:creationId xmlns:p14="http://schemas.microsoft.com/office/powerpoint/2010/main" val="35432564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1139</TotalTime>
  <Words>3242</Words>
  <Application>Microsoft Macintosh PowerPoint</Application>
  <DocSecurity>0</DocSecurity>
  <PresentationFormat>On-screen Show (4:3)</PresentationFormat>
  <Paragraphs>328</Paragraphs>
  <Slides>39</Slides>
  <Notes>39</Notes>
  <HiddenSlides>8</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Irina Chelysheva</cp:lastModifiedBy>
  <cp:revision>2</cp:revision>
  <dcterms:created xsi:type="dcterms:W3CDTF">2026-10-19T12:24:45Z</dcterms:created>
  <dcterms:modified xsi:type="dcterms:W3CDTF">2026-10-20T07:43:12Z</dcterms:modified>
</cp:coreProperties>
</file>